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90" r:id="rId2"/>
  </p:sldMasterIdLst>
  <p:notesMasterIdLst>
    <p:notesMasterId r:id="rId57"/>
  </p:notesMasterIdLst>
  <p:sldIdLst>
    <p:sldId id="302" r:id="rId3"/>
    <p:sldId id="266" r:id="rId4"/>
    <p:sldId id="271" r:id="rId5"/>
    <p:sldId id="270" r:id="rId6"/>
    <p:sldId id="272" r:id="rId7"/>
    <p:sldId id="273" r:id="rId8"/>
    <p:sldId id="279" r:id="rId9"/>
    <p:sldId id="278" r:id="rId10"/>
    <p:sldId id="280" r:id="rId11"/>
    <p:sldId id="281" r:id="rId12"/>
    <p:sldId id="286" r:id="rId13"/>
    <p:sldId id="287" r:id="rId14"/>
    <p:sldId id="282" r:id="rId15"/>
    <p:sldId id="292" r:id="rId16"/>
    <p:sldId id="267" r:id="rId17"/>
    <p:sldId id="268" r:id="rId18"/>
    <p:sldId id="269" r:id="rId19"/>
    <p:sldId id="293" r:id="rId20"/>
    <p:sldId id="294" r:id="rId21"/>
    <p:sldId id="295" r:id="rId22"/>
    <p:sldId id="296" r:id="rId23"/>
    <p:sldId id="274" r:id="rId24"/>
    <p:sldId id="275" r:id="rId25"/>
    <p:sldId id="276" r:id="rId26"/>
    <p:sldId id="277" r:id="rId27"/>
    <p:sldId id="297" r:id="rId28"/>
    <p:sldId id="298" r:id="rId29"/>
    <p:sldId id="299" r:id="rId30"/>
    <p:sldId id="300" r:id="rId31"/>
    <p:sldId id="301" r:id="rId32"/>
    <p:sldId id="303" r:id="rId33"/>
    <p:sldId id="307" r:id="rId34"/>
    <p:sldId id="308" r:id="rId35"/>
    <p:sldId id="305" r:id="rId36"/>
    <p:sldId id="306" r:id="rId37"/>
    <p:sldId id="316" r:id="rId38"/>
    <p:sldId id="312" r:id="rId39"/>
    <p:sldId id="317" r:id="rId40"/>
    <p:sldId id="309" r:id="rId41"/>
    <p:sldId id="310" r:id="rId42"/>
    <p:sldId id="311" r:id="rId43"/>
    <p:sldId id="321" r:id="rId44"/>
    <p:sldId id="322" r:id="rId45"/>
    <p:sldId id="323" r:id="rId46"/>
    <p:sldId id="324" r:id="rId47"/>
    <p:sldId id="325" r:id="rId48"/>
    <p:sldId id="326" r:id="rId49"/>
    <p:sldId id="328" r:id="rId50"/>
    <p:sldId id="329" r:id="rId51"/>
    <p:sldId id="330" r:id="rId52"/>
    <p:sldId id="288" r:id="rId53"/>
    <p:sldId id="289" r:id="rId54"/>
    <p:sldId id="290" r:id="rId55"/>
    <p:sldId id="291" r:id="rId56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0 Start" id="{1A74F84C-0899-4896-AB77-D61F7B6F59AC}">
          <p14:sldIdLst>
            <p14:sldId id="302"/>
            <p14:sldId id="266"/>
            <p14:sldId id="271"/>
            <p14:sldId id="270"/>
            <p14:sldId id="272"/>
            <p14:sldId id="273"/>
            <p14:sldId id="279"/>
            <p14:sldId id="278"/>
            <p14:sldId id="280"/>
            <p14:sldId id="281"/>
            <p14:sldId id="286"/>
            <p14:sldId id="287"/>
            <p14:sldId id="282"/>
            <p14:sldId id="292"/>
            <p14:sldId id="267"/>
            <p14:sldId id="268"/>
            <p14:sldId id="269"/>
            <p14:sldId id="293"/>
            <p14:sldId id="294"/>
            <p14:sldId id="295"/>
            <p14:sldId id="296"/>
            <p14:sldId id="274"/>
            <p14:sldId id="275"/>
            <p14:sldId id="276"/>
            <p14:sldId id="277"/>
            <p14:sldId id="297"/>
            <p14:sldId id="298"/>
            <p14:sldId id="299"/>
            <p14:sldId id="300"/>
            <p14:sldId id="301"/>
            <p14:sldId id="303"/>
            <p14:sldId id="307"/>
            <p14:sldId id="308"/>
            <p14:sldId id="305"/>
            <p14:sldId id="306"/>
            <p14:sldId id="316"/>
            <p14:sldId id="312"/>
            <p14:sldId id="317"/>
            <p14:sldId id="309"/>
            <p14:sldId id="310"/>
            <p14:sldId id="311"/>
            <p14:sldId id="321"/>
            <p14:sldId id="322"/>
            <p14:sldId id="323"/>
            <p14:sldId id="324"/>
            <p14:sldId id="325"/>
            <p14:sldId id="326"/>
            <p14:sldId id="328"/>
            <p14:sldId id="329"/>
            <p14:sldId id="330"/>
            <p14:sldId id="288"/>
            <p14:sldId id="289"/>
            <p14:sldId id="290"/>
            <p14:sldId id="29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FC204"/>
    <a:srgbClr val="898989"/>
    <a:srgbClr val="969696"/>
    <a:srgbClr val="7D7D7D"/>
    <a:srgbClr val="B9B9B9"/>
    <a:srgbClr val="85858A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9BD9711-F83C-E2B4-B79A-462955080B4B}" v="799" dt="2025-08-03T17:19:47.631"/>
    <p1510:client id="{8ED7A26C-02E7-6F65-D54C-6B37DD6835EF}" v="608" dt="2025-08-03T23:14:02.745"/>
    <p1510:client id="{953AA0DA-1FF4-8E09-BC16-D2762A7D6370}" v="631" dt="2025-08-02T23:29:34.37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C2FFA5D-87B4-456A-9821-1D502468CF0F}" styleName="Themed Style 1 –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presProps" Target="presProps.xml"/><Relationship Id="rId5" Type="http://schemas.openxmlformats.org/officeDocument/2006/relationships/slide" Target="slides/slide3.xml"/><Relationship Id="rId61" Type="http://schemas.openxmlformats.org/officeDocument/2006/relationships/tableStyles" Target="tableStyles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viewProps" Target="view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informatikhsfuldade-my.sharepoint.com/personal/pritpal_singh_informatik_hs-fulda_de/Documents/Book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D:\Book%20(1)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informatikhsfuldade-my.sharepoint.com/personal/pritpal_singh_informatik_hs-fulda_de/Documents/Book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Total Runtime (s)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Sheet1!$B$11</c:f>
              <c:strCache>
                <c:ptCount val="1"/>
                <c:pt idx="0">
                  <c:v>Cannon's Algo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dLbl>
              <c:idx val="0"/>
              <c:layout>
                <c:manualLayout>
                  <c:x val="-4.6128676386604554E-2"/>
                  <c:y val="-2.9828918972831221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7870-4356-B600-DB72D0D5EA2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Sheet1!A12:A20</c:f>
              <c:strCache>
                <c:ptCount val="9"/>
                <c:pt idx="0">
                  <c:v>800 / 25</c:v>
                </c:pt>
                <c:pt idx="1">
                  <c:v>800 / 64</c:v>
                </c:pt>
                <c:pt idx="2">
                  <c:v>800 / 100</c:v>
                </c:pt>
                <c:pt idx="3">
                  <c:v>2000 / 100</c:v>
                </c:pt>
                <c:pt idx="4">
                  <c:v>4000 / 64</c:v>
                </c:pt>
                <c:pt idx="5">
                  <c:v>4000 / 100</c:v>
                </c:pt>
                <c:pt idx="6">
                  <c:v>6000 / 100</c:v>
                </c:pt>
                <c:pt idx="7">
                  <c:v>7995 / 225</c:v>
                </c:pt>
                <c:pt idx="8">
                  <c:v>8000 / 100</c:v>
                </c:pt>
              </c:strCache>
            </c:strRef>
          </c:cat>
          <c:val>
            <c:numRef>
              <c:f>Sheet1!B12:B20</c:f>
              <c:numCache>
                <c:formatCode>General</c:formatCode>
                <c:ptCount val="9"/>
                <c:pt idx="0">
                  <c:v>253.69</c:v>
                </c:pt>
                <c:pt idx="1">
                  <c:v>132.91999999999999</c:v>
                </c:pt>
                <c:pt idx="2">
                  <c:v>41.06</c:v>
                </c:pt>
                <c:pt idx="3">
                  <c:v>341.78</c:v>
                </c:pt>
                <c:pt idx="4">
                  <c:v>671.1</c:v>
                </c:pt>
                <c:pt idx="5">
                  <c:v>866.45</c:v>
                </c:pt>
                <c:pt idx="6">
                  <c:v>2164.4299999999998</c:v>
                </c:pt>
                <c:pt idx="7">
                  <c:v>6418</c:v>
                </c:pt>
                <c:pt idx="8">
                  <c:v>9266.86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870-4356-B600-DB72D0D5EA21}"/>
            </c:ext>
          </c:extLst>
        </c:ser>
        <c:ser>
          <c:idx val="1"/>
          <c:order val="1"/>
          <c:tx>
            <c:strRef>
              <c:f>Sheet1!$C$11</c:f>
              <c:strCache>
                <c:ptCount val="1"/>
                <c:pt idx="0">
                  <c:v>Rowwise Matrix Multiplication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dLbls>
            <c:dLbl>
              <c:idx val="0"/>
              <c:layout>
                <c:manualLayout>
                  <c:x val="-3.7988239846034354E-2"/>
                  <c:y val="4.6678780537048256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7870-4356-B600-DB72D0D5EA2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Sheet1!A12:A20</c:f>
              <c:strCache>
                <c:ptCount val="9"/>
                <c:pt idx="0">
                  <c:v>800 / 25</c:v>
                </c:pt>
                <c:pt idx="1">
                  <c:v>800 / 64</c:v>
                </c:pt>
                <c:pt idx="2">
                  <c:v>800 / 100</c:v>
                </c:pt>
                <c:pt idx="3">
                  <c:v>2000 / 100</c:v>
                </c:pt>
                <c:pt idx="4">
                  <c:v>4000 / 64</c:v>
                </c:pt>
                <c:pt idx="5">
                  <c:v>4000 / 100</c:v>
                </c:pt>
                <c:pt idx="6">
                  <c:v>6000 / 100</c:v>
                </c:pt>
                <c:pt idx="7">
                  <c:v>7995 / 225</c:v>
                </c:pt>
                <c:pt idx="8">
                  <c:v>8000 / 100</c:v>
                </c:pt>
              </c:strCache>
            </c:strRef>
          </c:cat>
          <c:val>
            <c:numRef>
              <c:f>Sheet1!C12:C20</c:f>
              <c:numCache>
                <c:formatCode>General</c:formatCode>
                <c:ptCount val="9"/>
                <c:pt idx="0">
                  <c:v>49.55</c:v>
                </c:pt>
                <c:pt idx="1">
                  <c:v>142.93</c:v>
                </c:pt>
                <c:pt idx="2">
                  <c:v>285.79000000000002</c:v>
                </c:pt>
                <c:pt idx="3">
                  <c:v>574.75</c:v>
                </c:pt>
                <c:pt idx="4">
                  <c:v>1876.46</c:v>
                </c:pt>
                <c:pt idx="5">
                  <c:v>2251.9699999999998</c:v>
                </c:pt>
                <c:pt idx="6">
                  <c:v>7632.27</c:v>
                </c:pt>
                <c:pt idx="7">
                  <c:v>30800</c:v>
                </c:pt>
                <c:pt idx="8">
                  <c:v>22700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7870-4356-B600-DB72D0D5EA2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72300295"/>
        <c:axId val="372303367"/>
      </c:lineChart>
      <c:catAx>
        <c:axId val="372300295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Matrix Size (N) / Processes (P)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72303367"/>
        <c:crosses val="autoZero"/>
        <c:auto val="1"/>
        <c:lblAlgn val="ctr"/>
        <c:lblOffset val="100"/>
        <c:noMultiLvlLbl val="0"/>
      </c:catAx>
      <c:valAx>
        <c:axId val="372303367"/>
        <c:scaling>
          <c:logBase val="10"/>
          <c:orientation val="minMax"/>
          <c:max val="40000"/>
          <c:min val="1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7230029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Total Runtime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Sheet2!$B$15</c:f>
              <c:strCache>
                <c:ptCount val="1"/>
                <c:pt idx="0">
                  <c:v>Fox Algo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Sheet2!$A$16:$A$24</c:f>
              <c:strCache>
                <c:ptCount val="9"/>
                <c:pt idx="0">
                  <c:v>800 / 25</c:v>
                </c:pt>
                <c:pt idx="1">
                  <c:v>800 / 64</c:v>
                </c:pt>
                <c:pt idx="2">
                  <c:v>800 / 100</c:v>
                </c:pt>
                <c:pt idx="3">
                  <c:v>2000 / 100</c:v>
                </c:pt>
                <c:pt idx="4">
                  <c:v>4000 / 64</c:v>
                </c:pt>
                <c:pt idx="5">
                  <c:v>4000 / 100</c:v>
                </c:pt>
                <c:pt idx="6">
                  <c:v>6000 / 100</c:v>
                </c:pt>
                <c:pt idx="7">
                  <c:v>7995 / 225</c:v>
                </c:pt>
                <c:pt idx="8">
                  <c:v>8000 / 100</c:v>
                </c:pt>
              </c:strCache>
            </c:strRef>
          </c:cat>
          <c:val>
            <c:numRef>
              <c:f>Sheet2!$B$16:$B$24</c:f>
              <c:numCache>
                <c:formatCode>General</c:formatCode>
                <c:ptCount val="9"/>
                <c:pt idx="0">
                  <c:v>81.010000000000005</c:v>
                </c:pt>
                <c:pt idx="1">
                  <c:v>244</c:v>
                </c:pt>
                <c:pt idx="2">
                  <c:v>466.1</c:v>
                </c:pt>
                <c:pt idx="3">
                  <c:v>1715.6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D3C-49EE-A243-692C76A40A5F}"/>
            </c:ext>
          </c:extLst>
        </c:ser>
        <c:ser>
          <c:idx val="1"/>
          <c:order val="1"/>
          <c:tx>
            <c:strRef>
              <c:f>Sheet2!$C$15</c:f>
              <c:strCache>
                <c:ptCount val="1"/>
                <c:pt idx="0">
                  <c:v>Row Wise Multiplication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Sheet2!$A$16:$A$24</c:f>
              <c:strCache>
                <c:ptCount val="9"/>
                <c:pt idx="0">
                  <c:v>800 / 25</c:v>
                </c:pt>
                <c:pt idx="1">
                  <c:v>800 / 64</c:v>
                </c:pt>
                <c:pt idx="2">
                  <c:v>800 / 100</c:v>
                </c:pt>
                <c:pt idx="3">
                  <c:v>2000 / 100</c:v>
                </c:pt>
                <c:pt idx="4">
                  <c:v>4000 / 64</c:v>
                </c:pt>
                <c:pt idx="5">
                  <c:v>4000 / 100</c:v>
                </c:pt>
                <c:pt idx="6">
                  <c:v>6000 / 100</c:v>
                </c:pt>
                <c:pt idx="7">
                  <c:v>7995 / 225</c:v>
                </c:pt>
                <c:pt idx="8">
                  <c:v>8000 / 100</c:v>
                </c:pt>
              </c:strCache>
            </c:strRef>
          </c:cat>
          <c:val>
            <c:numRef>
              <c:f>Sheet2!$C$16:$C$24</c:f>
              <c:numCache>
                <c:formatCode>General</c:formatCode>
                <c:ptCount val="9"/>
                <c:pt idx="0">
                  <c:v>49.55</c:v>
                </c:pt>
                <c:pt idx="1">
                  <c:v>142.93</c:v>
                </c:pt>
                <c:pt idx="2">
                  <c:v>285.79000000000002</c:v>
                </c:pt>
                <c:pt idx="3">
                  <c:v>574.75</c:v>
                </c:pt>
                <c:pt idx="4">
                  <c:v>1876.46</c:v>
                </c:pt>
                <c:pt idx="5">
                  <c:v>2251.9699999999998</c:v>
                </c:pt>
                <c:pt idx="6">
                  <c:v>6412.9</c:v>
                </c:pt>
                <c:pt idx="7">
                  <c:v>20100</c:v>
                </c:pt>
                <c:pt idx="8">
                  <c:v>20600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D3C-49EE-A243-692C76A40A5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21017607"/>
        <c:axId val="821020167"/>
      </c:lineChart>
      <c:catAx>
        <c:axId val="82101760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21020167"/>
        <c:crosses val="autoZero"/>
        <c:auto val="1"/>
        <c:lblAlgn val="ctr"/>
        <c:lblOffset val="100"/>
        <c:noMultiLvlLbl val="0"/>
      </c:catAx>
      <c:valAx>
        <c:axId val="821020167"/>
        <c:scaling>
          <c:logBase val="10"/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2101760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Total Runtime (s)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Sheet3!$B$1</c:f>
              <c:strCache>
                <c:ptCount val="1"/>
                <c:pt idx="0">
                  <c:v>Row Wise Multiplication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strRef>
              <c:f>Sheet3!$A$2:$A$10</c:f>
              <c:strCache>
                <c:ptCount val="9"/>
                <c:pt idx="0">
                  <c:v>800 / 25 - 27</c:v>
                </c:pt>
                <c:pt idx="1">
                  <c:v>800 / 64</c:v>
                </c:pt>
                <c:pt idx="2">
                  <c:v>800 / 100 - 125</c:v>
                </c:pt>
                <c:pt idx="3">
                  <c:v>2000 / 100 - 125</c:v>
                </c:pt>
                <c:pt idx="4">
                  <c:v>4000 / 64</c:v>
                </c:pt>
                <c:pt idx="5">
                  <c:v>4000 / 100 - 125</c:v>
                </c:pt>
                <c:pt idx="6">
                  <c:v>6000 / 100 - 125</c:v>
                </c:pt>
                <c:pt idx="7">
                  <c:v>7995 / 225 - 216</c:v>
                </c:pt>
                <c:pt idx="8">
                  <c:v>8000 / 100 - 125</c:v>
                </c:pt>
              </c:strCache>
            </c:strRef>
          </c:cat>
          <c:val>
            <c:numRef>
              <c:f>Sheet3!$B$2:$B$10</c:f>
              <c:numCache>
                <c:formatCode>General</c:formatCode>
                <c:ptCount val="9"/>
                <c:pt idx="0">
                  <c:v>49.55</c:v>
                </c:pt>
                <c:pt idx="1">
                  <c:v>142.93</c:v>
                </c:pt>
                <c:pt idx="2">
                  <c:v>285.79000000000002</c:v>
                </c:pt>
                <c:pt idx="3">
                  <c:v>574.75</c:v>
                </c:pt>
                <c:pt idx="4">
                  <c:v>1876.46</c:v>
                </c:pt>
                <c:pt idx="5">
                  <c:v>2251.9699999999998</c:v>
                </c:pt>
                <c:pt idx="6">
                  <c:v>7632.27</c:v>
                </c:pt>
                <c:pt idx="7">
                  <c:v>30800</c:v>
                </c:pt>
                <c:pt idx="8">
                  <c:v>22700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72F-4709-96C1-DD9F7AD13734}"/>
            </c:ext>
          </c:extLst>
        </c:ser>
        <c:ser>
          <c:idx val="1"/>
          <c:order val="1"/>
          <c:tx>
            <c:strRef>
              <c:f>Sheet3!$C$1</c:f>
              <c:strCache>
                <c:ptCount val="1"/>
                <c:pt idx="0">
                  <c:v>Fox Algo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strRef>
              <c:f>Sheet3!$A$2:$A$10</c:f>
              <c:strCache>
                <c:ptCount val="9"/>
                <c:pt idx="0">
                  <c:v>800 / 25 - 27</c:v>
                </c:pt>
                <c:pt idx="1">
                  <c:v>800 / 64</c:v>
                </c:pt>
                <c:pt idx="2">
                  <c:v>800 / 100 - 125</c:v>
                </c:pt>
                <c:pt idx="3">
                  <c:v>2000 / 100 - 125</c:v>
                </c:pt>
                <c:pt idx="4">
                  <c:v>4000 / 64</c:v>
                </c:pt>
                <c:pt idx="5">
                  <c:v>4000 / 100 - 125</c:v>
                </c:pt>
                <c:pt idx="6">
                  <c:v>6000 / 100 - 125</c:v>
                </c:pt>
                <c:pt idx="7">
                  <c:v>7995 / 225 - 216</c:v>
                </c:pt>
                <c:pt idx="8">
                  <c:v>8000 / 100 - 125</c:v>
                </c:pt>
              </c:strCache>
            </c:strRef>
          </c:cat>
          <c:val>
            <c:numRef>
              <c:f>Sheet3!$C$2:$C$10</c:f>
              <c:numCache>
                <c:formatCode>General</c:formatCode>
                <c:ptCount val="9"/>
                <c:pt idx="0">
                  <c:v>81.010000000000005</c:v>
                </c:pt>
                <c:pt idx="1">
                  <c:v>244</c:v>
                </c:pt>
                <c:pt idx="2">
                  <c:v>466.1</c:v>
                </c:pt>
                <c:pt idx="3">
                  <c:v>1715.6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72F-4709-96C1-DD9F7AD13734}"/>
            </c:ext>
          </c:extLst>
        </c:ser>
        <c:ser>
          <c:idx val="2"/>
          <c:order val="2"/>
          <c:tx>
            <c:strRef>
              <c:f>Sheet3!$D$1</c:f>
              <c:strCache>
                <c:ptCount val="1"/>
                <c:pt idx="0">
                  <c:v>Cannon's Algo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cat>
            <c:strRef>
              <c:f>Sheet3!$A$2:$A$10</c:f>
              <c:strCache>
                <c:ptCount val="9"/>
                <c:pt idx="0">
                  <c:v>800 / 25 - 27</c:v>
                </c:pt>
                <c:pt idx="1">
                  <c:v>800 / 64</c:v>
                </c:pt>
                <c:pt idx="2">
                  <c:v>800 / 100 - 125</c:v>
                </c:pt>
                <c:pt idx="3">
                  <c:v>2000 / 100 - 125</c:v>
                </c:pt>
                <c:pt idx="4">
                  <c:v>4000 / 64</c:v>
                </c:pt>
                <c:pt idx="5">
                  <c:v>4000 / 100 - 125</c:v>
                </c:pt>
                <c:pt idx="6">
                  <c:v>6000 / 100 - 125</c:v>
                </c:pt>
                <c:pt idx="7">
                  <c:v>7995 / 225 - 216</c:v>
                </c:pt>
                <c:pt idx="8">
                  <c:v>8000 / 100 - 125</c:v>
                </c:pt>
              </c:strCache>
            </c:strRef>
          </c:cat>
          <c:val>
            <c:numRef>
              <c:f>Sheet3!$D$2:$D$10</c:f>
              <c:numCache>
                <c:formatCode>General</c:formatCode>
                <c:ptCount val="9"/>
                <c:pt idx="0">
                  <c:v>253.69</c:v>
                </c:pt>
                <c:pt idx="1">
                  <c:v>132.91999999999999</c:v>
                </c:pt>
                <c:pt idx="2">
                  <c:v>41.06</c:v>
                </c:pt>
                <c:pt idx="3">
                  <c:v>341.78</c:v>
                </c:pt>
                <c:pt idx="4">
                  <c:v>671.1</c:v>
                </c:pt>
                <c:pt idx="5">
                  <c:v>866.45</c:v>
                </c:pt>
                <c:pt idx="6">
                  <c:v>2164.4299999999998</c:v>
                </c:pt>
                <c:pt idx="7">
                  <c:v>6418</c:v>
                </c:pt>
                <c:pt idx="8">
                  <c:v>9266.86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72F-4709-96C1-DD9F7AD13734}"/>
            </c:ext>
          </c:extLst>
        </c:ser>
        <c:ser>
          <c:idx val="3"/>
          <c:order val="3"/>
          <c:tx>
            <c:strRef>
              <c:f>Sheet3!$E$1</c:f>
              <c:strCache>
                <c:ptCount val="1"/>
                <c:pt idx="0">
                  <c:v>DNS Algo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cat>
            <c:strRef>
              <c:f>Sheet3!$A$2:$A$10</c:f>
              <c:strCache>
                <c:ptCount val="9"/>
                <c:pt idx="0">
                  <c:v>800 / 25 - 27</c:v>
                </c:pt>
                <c:pt idx="1">
                  <c:v>800 / 64</c:v>
                </c:pt>
                <c:pt idx="2">
                  <c:v>800 / 100 - 125</c:v>
                </c:pt>
                <c:pt idx="3">
                  <c:v>2000 / 100 - 125</c:v>
                </c:pt>
                <c:pt idx="4">
                  <c:v>4000 / 64</c:v>
                </c:pt>
                <c:pt idx="5">
                  <c:v>4000 / 100 - 125</c:v>
                </c:pt>
                <c:pt idx="6">
                  <c:v>6000 / 100 - 125</c:v>
                </c:pt>
                <c:pt idx="7">
                  <c:v>7995 / 225 - 216</c:v>
                </c:pt>
                <c:pt idx="8">
                  <c:v>8000 / 100 - 125</c:v>
                </c:pt>
              </c:strCache>
            </c:strRef>
          </c:cat>
          <c:val>
            <c:numRef>
              <c:f>Sheet3!$E$2:$E$10</c:f>
              <c:numCache>
                <c:formatCode>General</c:formatCode>
                <c:ptCount val="9"/>
                <c:pt idx="0">
                  <c:v>46.24</c:v>
                </c:pt>
                <c:pt idx="1">
                  <c:v>131.51</c:v>
                </c:pt>
                <c:pt idx="2">
                  <c:v>383.21</c:v>
                </c:pt>
                <c:pt idx="3">
                  <c:v>543.83000000000004</c:v>
                </c:pt>
                <c:pt idx="4">
                  <c:v>1849.87</c:v>
                </c:pt>
                <c:pt idx="5">
                  <c:v>1869.62</c:v>
                </c:pt>
                <c:pt idx="6">
                  <c:v>6699.29</c:v>
                </c:pt>
                <c:pt idx="7">
                  <c:v>16700</c:v>
                </c:pt>
                <c:pt idx="8">
                  <c:v>14800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672F-4709-96C1-DD9F7AD1373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71002888"/>
        <c:axId val="1171014152"/>
      </c:lineChart>
      <c:catAx>
        <c:axId val="1171002888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Matrix Size (N) / Processes (P) - DNS Processes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71014152"/>
        <c:crosses val="autoZero"/>
        <c:auto val="1"/>
        <c:lblAlgn val="ctr"/>
        <c:lblOffset val="100"/>
        <c:noMultiLvlLbl val="0"/>
      </c:catAx>
      <c:valAx>
        <c:axId val="1171014152"/>
        <c:scaling>
          <c:orientation val="minMax"/>
          <c:max val="500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71002888"/>
        <c:crosses val="autoZero"/>
        <c:crossBetween val="between"/>
      </c:valAx>
      <c:dTable>
        <c:showHorzBorder val="1"/>
        <c:showVertBorder val="1"/>
        <c:showOutline val="0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B1B46F-073C-4C92-84E9-93C1C99DF914}" type="datetimeFigureOut">
              <a:rPr lang="en-DE" smtClean="0"/>
              <a:t>08/04/2025</a:t>
            </a:fld>
            <a:endParaRPr lang="en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9E2D6A-998F-4B51-87C6-C18CC38C2C8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5881583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Start of presentation</a:t>
            </a:r>
          </a:p>
          <a:p>
            <a:r>
              <a:rPr lang="en-US">
                <a:latin typeface="Calibri"/>
                <a:ea typeface="Calibri"/>
                <a:cs typeface="Calibri"/>
              </a:rPr>
              <a:t>Team </a:t>
            </a:r>
            <a:r>
              <a:rPr lang="en-US" err="1">
                <a:latin typeface="Calibri"/>
                <a:ea typeface="Calibri"/>
                <a:cs typeface="Calibri"/>
              </a:rPr>
              <a:t>Memebers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9E2D6A-998F-4B51-87C6-C18CC38C2C81}" type="slidenum">
              <a:rPr lang="en-DE" smtClean="0"/>
              <a:t>2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3309593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Start of presentation</a:t>
            </a:r>
          </a:p>
          <a:p>
            <a:r>
              <a:rPr lang="en-US">
                <a:latin typeface="Calibri"/>
                <a:ea typeface="Calibri"/>
                <a:cs typeface="Calibri"/>
              </a:rPr>
              <a:t>Team </a:t>
            </a:r>
            <a:r>
              <a:rPr lang="en-US" err="1">
                <a:latin typeface="Calibri"/>
                <a:ea typeface="Calibri"/>
                <a:cs typeface="Calibri"/>
              </a:rPr>
              <a:t>Memebers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9E2D6A-998F-4B51-87C6-C18CC38C2C81}" type="slidenum">
              <a:rPr lang="en-DE" smtClean="0"/>
              <a:t>14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3309593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DDE7E2D4-771A-4A73-92FE-B3969E58BFCD}" type="slidenum">
              <a:rPr lang="en-IN" smtClean="0"/>
              <a:t>37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69218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DDE7E2D4-771A-4A73-92FE-B3969E58BFCD}" type="slidenum">
              <a:rPr lang="en-IN" smtClean="0"/>
              <a:t>42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42268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 algn="ctr">
              <a:defRPr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05.02.2025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479A4A-F219-4338-85B5-EFC61BD16FCB}" type="slidenum">
              <a:rPr lang="de-DE" smtClean="0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621643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05.02.2025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7EE757-03CB-49A1-BD43-AE902812A82B}" type="slidenum">
              <a:rPr lang="de-DE" smtClean="0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14137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609600" y="1200150"/>
            <a:ext cx="5384800" cy="5013159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97600" y="1200151"/>
            <a:ext cx="5384800" cy="5013157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05.02.2025</a:t>
            </a:r>
          </a:p>
        </p:txBody>
      </p:sp>
      <p:sp>
        <p:nvSpPr>
          <p:cNvPr id="7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E81D6D-80D2-4AD6-94C9-14EF3392FCED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01369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05.02.2025</a:t>
            </a:r>
          </a:p>
        </p:txBody>
      </p:sp>
      <p:sp>
        <p:nvSpPr>
          <p:cNvPr id="9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720E63-A198-4E26-9924-F0EAF2184803}" type="slidenum">
              <a:rPr lang="de-DE"/>
              <a:pPr>
                <a:defRPr/>
              </a:pPr>
              <a:t>‹#›</a:t>
            </a:fld>
            <a:endParaRPr lang="de-DE"/>
          </a:p>
        </p:txBody>
      </p:sp>
      <p:sp>
        <p:nvSpPr>
          <p:cNvPr id="10" name="Titel 1"/>
          <p:cNvSpPr>
            <a:spLocks noGrp="1"/>
          </p:cNvSpPr>
          <p:nvPr>
            <p:ph type="title"/>
          </p:nvPr>
        </p:nvSpPr>
        <p:spPr>
          <a:xfrm>
            <a:off x="609601" y="275167"/>
            <a:ext cx="6542617" cy="753533"/>
          </a:xfrm>
        </p:spPr>
        <p:txBody>
          <a:bodyPr/>
          <a:lstStyle/>
          <a:p>
            <a:r>
              <a:rPr lang="de-DE"/>
              <a:t>Titelmasterformat</a:t>
            </a:r>
          </a:p>
        </p:txBody>
      </p:sp>
    </p:spTree>
    <p:extLst>
      <p:ext uri="{BB962C8B-B14F-4D97-AF65-F5344CB8AC3E}">
        <p14:creationId xmlns:p14="http://schemas.microsoft.com/office/powerpoint/2010/main" val="19940622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</a:t>
            </a:r>
          </a:p>
        </p:txBody>
      </p:sp>
      <p:sp>
        <p:nvSpPr>
          <p:cNvPr id="3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05.02.2025</a:t>
            </a:r>
          </a:p>
        </p:txBody>
      </p:sp>
      <p:sp>
        <p:nvSpPr>
          <p:cNvPr id="5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9C166B-5E38-4CD5-9E59-7E2FFEC9FB68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7270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05.02.2025</a:t>
            </a:r>
          </a:p>
        </p:txBody>
      </p:sp>
      <p:sp>
        <p:nvSpPr>
          <p:cNvPr id="4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D83097-0661-465D-9601-D6724DCFDCBB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032215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05.02.2025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479A4A-F219-4338-85B5-EFC61BD16FCB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316857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05.02.2025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13E20E-F862-498F-8556-405B42490549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559006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609600" y="1200150"/>
            <a:ext cx="5384800" cy="5013159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97600" y="1200151"/>
            <a:ext cx="5384800" cy="5013157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05.02.2025</a:t>
            </a:r>
          </a:p>
        </p:txBody>
      </p:sp>
      <p:sp>
        <p:nvSpPr>
          <p:cNvPr id="7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E81D6D-80D2-4AD6-94C9-14EF3392FCED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098462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05.02.2025</a:t>
            </a:r>
          </a:p>
        </p:txBody>
      </p:sp>
      <p:sp>
        <p:nvSpPr>
          <p:cNvPr id="9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720E63-A198-4E26-9924-F0EAF2184803}" type="slidenum">
              <a:rPr lang="de-DE"/>
              <a:pPr>
                <a:defRPr/>
              </a:pPr>
              <a:t>‹#›</a:t>
            </a:fld>
            <a:endParaRPr lang="de-DE"/>
          </a:p>
        </p:txBody>
      </p:sp>
      <p:sp>
        <p:nvSpPr>
          <p:cNvPr id="10" name="Titel 1"/>
          <p:cNvSpPr>
            <a:spLocks noGrp="1"/>
          </p:cNvSpPr>
          <p:nvPr>
            <p:ph type="title"/>
          </p:nvPr>
        </p:nvSpPr>
        <p:spPr>
          <a:xfrm>
            <a:off x="609601" y="275167"/>
            <a:ext cx="6542617" cy="753533"/>
          </a:xfrm>
        </p:spPr>
        <p:txBody>
          <a:bodyPr/>
          <a:lstStyle/>
          <a:p>
            <a:r>
              <a:rPr lang="de-DE"/>
              <a:t>Titelmasterformat</a:t>
            </a:r>
          </a:p>
        </p:txBody>
      </p:sp>
    </p:spTree>
    <p:extLst>
      <p:ext uri="{BB962C8B-B14F-4D97-AF65-F5344CB8AC3E}">
        <p14:creationId xmlns:p14="http://schemas.microsoft.com/office/powerpoint/2010/main" val="13339706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</a:t>
            </a:r>
          </a:p>
        </p:txBody>
      </p:sp>
      <p:sp>
        <p:nvSpPr>
          <p:cNvPr id="3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05.02.2025</a:t>
            </a:r>
          </a:p>
        </p:txBody>
      </p:sp>
      <p:sp>
        <p:nvSpPr>
          <p:cNvPr id="5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9C166B-5E38-4CD5-9E59-7E2FFEC9FB68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180275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05.02.2025</a:t>
            </a:r>
          </a:p>
        </p:txBody>
      </p:sp>
      <p:sp>
        <p:nvSpPr>
          <p:cNvPr id="4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D83097-0661-465D-9601-D6724DCFDCBB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749792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slideLayout" Target="../slideLayouts/slideLayout9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8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elplatzhalter 1"/>
          <p:cNvSpPr>
            <a:spLocks noGrp="1"/>
          </p:cNvSpPr>
          <p:nvPr>
            <p:ph type="title"/>
          </p:nvPr>
        </p:nvSpPr>
        <p:spPr bwMode="auto">
          <a:xfrm>
            <a:off x="609601" y="275167"/>
            <a:ext cx="6542617" cy="7535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/>
              <a:t>Titelmasterformat</a:t>
            </a:r>
          </a:p>
        </p:txBody>
      </p:sp>
      <p:sp>
        <p:nvSpPr>
          <p:cNvPr id="2051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4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/>
              <a:t>Textmasterformat bearbeiten</a:t>
            </a:r>
          </a:p>
          <a:p>
            <a:pPr lvl="1"/>
            <a:r>
              <a:rPr lang="de-DE" altLang="de-DE"/>
              <a:t>Zweite Ebene</a:t>
            </a:r>
          </a:p>
          <a:p>
            <a:pPr lvl="2"/>
            <a:r>
              <a:rPr lang="de-DE" altLang="de-DE"/>
              <a:t>Dritte Ebene</a:t>
            </a:r>
          </a:p>
          <a:p>
            <a:pPr lvl="3"/>
            <a:r>
              <a:rPr lang="de-DE" altLang="de-DE"/>
              <a:t>Vierte Ebene</a:t>
            </a:r>
          </a:p>
          <a:p>
            <a:pPr lvl="4"/>
            <a:r>
              <a:rPr lang="de-DE" alt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6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r>
              <a:rPr lang="de-DE"/>
              <a:t>05.02.2025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6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9EBBB9BE-E0B6-47D3-99ED-ED8A18FFB022}" type="slidenum">
              <a:rPr lang="de-DE" smtClean="0"/>
              <a:pPr>
                <a:defRPr/>
              </a:pPr>
              <a:t>‹#›</a:t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6" r:id="rId3"/>
    <p:sldLayoutId id="2147483687" r:id="rId4"/>
    <p:sldLayoutId id="2147483688" r:id="rId5"/>
    <p:sldLayoutId id="2147483689" r:id="rId6"/>
  </p:sldLayoutIdLst>
  <p:hf hdr="0" ftr="0"/>
  <p:txStyles>
    <p:titleStyle>
      <a:lvl1pPr algn="l" rtl="0" fontAlgn="base">
        <a:spcBef>
          <a:spcPct val="0"/>
        </a:spcBef>
        <a:spcAft>
          <a:spcPct val="0"/>
        </a:spcAft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elplatzhalter 1"/>
          <p:cNvSpPr>
            <a:spLocks noGrp="1"/>
          </p:cNvSpPr>
          <p:nvPr>
            <p:ph type="title"/>
          </p:nvPr>
        </p:nvSpPr>
        <p:spPr bwMode="auto">
          <a:xfrm>
            <a:off x="609601" y="275167"/>
            <a:ext cx="6542617" cy="7535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/>
              <a:t>Titelmasterformat</a:t>
            </a:r>
          </a:p>
        </p:txBody>
      </p:sp>
      <p:sp>
        <p:nvSpPr>
          <p:cNvPr id="2051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4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/>
              <a:t>Textmasterformat bearbeiten</a:t>
            </a:r>
          </a:p>
          <a:p>
            <a:pPr lvl="1"/>
            <a:r>
              <a:rPr lang="de-DE" altLang="de-DE"/>
              <a:t>Zweite Ebene</a:t>
            </a:r>
          </a:p>
          <a:p>
            <a:pPr lvl="2"/>
            <a:r>
              <a:rPr lang="de-DE" altLang="de-DE"/>
              <a:t>Dritte Ebene</a:t>
            </a:r>
          </a:p>
          <a:p>
            <a:pPr lvl="3"/>
            <a:r>
              <a:rPr lang="de-DE" altLang="de-DE"/>
              <a:t>Vierte Ebene</a:t>
            </a:r>
          </a:p>
          <a:p>
            <a:pPr lvl="4"/>
            <a:r>
              <a:rPr lang="de-DE" alt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6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r>
              <a:rPr lang="de-DE"/>
              <a:t>05.02.2025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6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F48B0D63-317B-4B26-B189-70720F49FA91}" type="slidenum">
              <a:rPr lang="de-DE"/>
              <a:pPr>
                <a:defRPr/>
              </a:pPr>
              <a:t>‹#›</a:t>
            </a:fld>
            <a:endParaRPr lang="de-DE"/>
          </a:p>
        </p:txBody>
      </p:sp>
      <p:pic>
        <p:nvPicPr>
          <p:cNvPr id="7" name="Grafik 6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04512" y="275167"/>
            <a:ext cx="877888" cy="877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13127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</p:sldLayoutIdLst>
  <p:hf hdr="0" ftr="0"/>
  <p:txStyles>
    <p:titleStyle>
      <a:lvl1pPr algn="l" rtl="0" fontAlgn="base">
        <a:spcBef>
          <a:spcPct val="0"/>
        </a:spcBef>
        <a:spcAft>
          <a:spcPct val="0"/>
        </a:spcAft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DFB1D-76AF-E371-7229-006A34086B0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GB" dirty="0">
                <a:ea typeface="Calibri"/>
                <a:cs typeface="Calibri"/>
              </a:rPr>
              <a:t>Presentation of Matrix Multiplication Algorithms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208B07-19E0-0DB1-BA7E-880BC6E0CF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03923" y="4105405"/>
            <a:ext cx="3680565" cy="1752600"/>
          </a:xfrm>
        </p:spPr>
        <p:txBody>
          <a:bodyPr/>
          <a:lstStyle/>
          <a:p>
            <a:pPr algn="l"/>
            <a:r>
              <a:rPr lang="en-US" sz="2000" dirty="0">
                <a:solidFill>
                  <a:srgbClr val="000000"/>
                </a:solidFill>
                <a:latin typeface="Aptos Narrow"/>
                <a:ea typeface="Calibri"/>
                <a:cs typeface="Calibri"/>
              </a:rPr>
              <a:t>By Group – I</a:t>
            </a:r>
            <a:endParaRPr lang="en-US" sz="2000" dirty="0">
              <a:latin typeface="Aptos Narrow"/>
              <a:ea typeface="Calibri"/>
              <a:cs typeface="Calibri"/>
            </a:endParaRPr>
          </a:p>
          <a:p>
            <a:pPr algn="l"/>
            <a:r>
              <a:rPr lang="en-US" sz="2000" dirty="0">
                <a:solidFill>
                  <a:srgbClr val="000000"/>
                </a:solidFill>
                <a:latin typeface="Aptos Narrow"/>
                <a:ea typeface="+mn-lt"/>
                <a:cs typeface="+mn-lt"/>
              </a:rPr>
              <a:t>Muhammad Azeem Taufiq</a:t>
            </a:r>
            <a:endParaRPr lang="en-US" sz="2000">
              <a:latin typeface="Aptos Narrow"/>
              <a:ea typeface="+mn-lt"/>
              <a:cs typeface="+mn-lt"/>
            </a:endParaRPr>
          </a:p>
          <a:p>
            <a:pPr algn="l"/>
            <a:r>
              <a:rPr lang="en-US" sz="2000" dirty="0">
                <a:solidFill>
                  <a:srgbClr val="000000"/>
                </a:solidFill>
                <a:latin typeface="Aptos Narrow"/>
                <a:ea typeface="Calibri"/>
                <a:cs typeface="Calibri"/>
              </a:rPr>
              <a:t>Pritpal Singh</a:t>
            </a:r>
          </a:p>
          <a:p>
            <a:pPr algn="l"/>
            <a:r>
              <a:rPr lang="en-US" sz="2000" dirty="0">
                <a:solidFill>
                  <a:srgbClr val="000000"/>
                </a:solidFill>
                <a:latin typeface="Aptos Narrow"/>
                <a:ea typeface="+mn-lt"/>
                <a:cs typeface="+mn-lt"/>
              </a:rPr>
              <a:t>Subham Gaurav</a:t>
            </a:r>
            <a:endParaRPr lang="en-US" sz="2000">
              <a:latin typeface="Aptos Narrow"/>
            </a:endParaRPr>
          </a:p>
          <a:p>
            <a:pPr algn="l"/>
            <a:endParaRPr lang="en-US" sz="1800" dirty="0">
              <a:solidFill>
                <a:srgbClr val="000000"/>
              </a:solidFill>
              <a:latin typeface="Aptos Narrow"/>
              <a:ea typeface="Calibri"/>
              <a:cs typeface="Calibri"/>
            </a:endParaRPr>
          </a:p>
          <a:p>
            <a:endParaRPr lang="en-GB" dirty="0">
              <a:latin typeface="Aptos Narrow"/>
              <a:ea typeface="Calibri"/>
              <a:cs typeface="Calibri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EB4A9B-190C-202E-312C-1F25F5381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05.02.2025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E0C485-2724-BDE0-E40E-9E5886049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8479A4A-F219-4338-85B5-EFC61BD16FCB}" type="slidenum">
              <a:rPr lang="de-DE"/>
              <a:pPr>
                <a:defRPr/>
              </a:pPr>
              <a:t>1</a:t>
            </a:fld>
            <a:endParaRPr lang="de-DE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113722-D7AF-169B-89E8-7480D36956A2}"/>
              </a:ext>
            </a:extLst>
          </p:cNvPr>
          <p:cNvSpPr txBox="1"/>
          <p:nvPr/>
        </p:nvSpPr>
        <p:spPr>
          <a:xfrm>
            <a:off x="2298969" y="1807858"/>
            <a:ext cx="759269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b="1" dirty="0">
                <a:latin typeface="Century Gothic"/>
                <a:ea typeface="Calibri"/>
                <a:cs typeface="Calibri"/>
              </a:rPr>
              <a:t>Parallel Programming - </a:t>
            </a:r>
            <a:r>
              <a:rPr lang="en-GB" b="1" dirty="0">
                <a:solidFill>
                  <a:srgbClr val="1D2125"/>
                </a:solidFill>
                <a:latin typeface="Century Gothic"/>
              </a:rPr>
              <a:t>AI5085 (SoSe2025)</a:t>
            </a:r>
            <a:endParaRPr lang="en-GB" b="1" dirty="0">
              <a:latin typeface="Century Gothic"/>
              <a:ea typeface="Calibri"/>
              <a:cs typeface="Calibri"/>
            </a:endParaRPr>
          </a:p>
          <a:p>
            <a:pPr algn="ctr"/>
            <a:endParaRPr lang="en-GB" b="1" dirty="0">
              <a:latin typeface="Century Gothic"/>
              <a:ea typeface="Calibri"/>
              <a:cs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26E934-166F-51AA-3F6A-EA6CFE7AA98C}"/>
              </a:ext>
            </a:extLst>
          </p:cNvPr>
          <p:cNvSpPr txBox="1"/>
          <p:nvPr/>
        </p:nvSpPr>
        <p:spPr>
          <a:xfrm>
            <a:off x="914400" y="4432126"/>
            <a:ext cx="324424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latin typeface="Century Gothic"/>
              </a:rPr>
              <a:t>Lecturer</a:t>
            </a:r>
            <a:r>
              <a:rPr lang="en-US" dirty="0">
                <a:latin typeface="Century Gothic"/>
              </a:rPr>
              <a:t>: </a:t>
            </a:r>
            <a:endParaRPr lang="en-GB" dirty="0">
              <a:latin typeface="Calibri"/>
              <a:ea typeface="Calibri"/>
              <a:cs typeface="Calibri"/>
            </a:endParaRPr>
          </a:p>
          <a:p>
            <a:r>
              <a:rPr lang="en-US" sz="2400" dirty="0">
                <a:latin typeface="Century Gothic"/>
              </a:rPr>
              <a:t>Anna – Lena Roth</a:t>
            </a:r>
            <a:endParaRPr lang="en-GB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944593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219201" y="3598049"/>
            <a:ext cx="10363199" cy="2232851"/>
          </a:xfrm>
        </p:spPr>
        <p:txBody>
          <a:bodyPr/>
          <a:lstStyle>
            <a:defPPr>
              <a:defRPr lang="de-DE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5pPr>
            <a:lvl6pPr marL="3047924" algn="l" defTabSz="121917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6pPr>
            <a:lvl7pPr marL="3657509" algn="l" defTabSz="121917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7pPr>
            <a:lvl8pPr marL="4267093" algn="l" defTabSz="121917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8pPr>
            <a:lvl9pPr marL="4876678" algn="l" defTabSz="121917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9pPr>
          </a:lstStyle>
          <a:p>
            <a:br>
              <a:rPr lang="de-DE" sz="3200" dirty="0">
                <a:latin typeface="Calibri"/>
                <a:ea typeface="Calibri"/>
                <a:cs typeface="Arial"/>
              </a:rPr>
            </a:br>
            <a:endParaRPr lang="de-DE" sz="3733" dirty="0"/>
          </a:p>
          <a:p>
            <a:endParaRPr lang="de-DE" sz="3200" dirty="0">
              <a:ea typeface="Calibri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647795-DE88-5A31-3B92-0CDEB6E10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8479A4A-F219-4338-85B5-EFC61BD16FCB}" type="slidenum">
              <a:rPr lang="de-DE" dirty="0" smtClean="0">
                <a:solidFill>
                  <a:srgbClr val="85858A"/>
                </a:solidFill>
              </a:rPr>
              <a:pPr>
                <a:defRPr/>
              </a:pPr>
              <a:t>2</a:t>
            </a:fld>
            <a:endParaRPr lang="de-DE">
              <a:solidFill>
                <a:srgbClr val="85858A"/>
              </a:solidFill>
            </a:endParaRPr>
          </a:p>
        </p:txBody>
      </p:sp>
      <p:sp>
        <p:nvSpPr>
          <p:cNvPr id="8" name="Título 7">
            <a:extLst>
              <a:ext uri="{FF2B5EF4-FFF2-40B4-BE49-F238E27FC236}">
                <a16:creationId xmlns:a16="http://schemas.microsoft.com/office/drawing/2014/main" id="{244B0D19-E6DC-4A0E-91F6-7BF6BB3A45C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err="1">
                <a:ea typeface="Calibri"/>
                <a:cs typeface="Calibri"/>
              </a:rPr>
              <a:t>Implementation</a:t>
            </a:r>
            <a:r>
              <a:rPr lang="es-MX" dirty="0">
                <a:ea typeface="Calibri"/>
                <a:cs typeface="Calibri"/>
              </a:rPr>
              <a:t> </a:t>
            </a:r>
            <a:r>
              <a:rPr lang="es-MX" err="1">
                <a:ea typeface="Calibri"/>
                <a:cs typeface="Calibri"/>
              </a:rPr>
              <a:t>of</a:t>
            </a:r>
            <a:r>
              <a:rPr lang="es-MX" dirty="0">
                <a:ea typeface="Calibri"/>
                <a:cs typeface="Calibri"/>
              </a:rPr>
              <a:t> </a:t>
            </a:r>
            <a:r>
              <a:rPr lang="es-MX" err="1">
                <a:ea typeface="Calibri"/>
                <a:cs typeface="Calibri"/>
              </a:rPr>
              <a:t>Cannon´s</a:t>
            </a:r>
            <a:r>
              <a:rPr lang="es-MX" dirty="0">
                <a:ea typeface="Calibri"/>
                <a:cs typeface="Calibri"/>
              </a:rPr>
              <a:t> </a:t>
            </a:r>
            <a:r>
              <a:rPr lang="es-MX" err="1">
                <a:ea typeface="Calibri"/>
                <a:cs typeface="Calibri"/>
              </a:rPr>
              <a:t>Algorithm</a:t>
            </a:r>
            <a:endParaRPr lang="es-MX">
              <a:ea typeface="Calibri"/>
              <a:cs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5CD2384-517A-7DAA-74A3-92DA5ABDE987}"/>
              </a:ext>
            </a:extLst>
          </p:cNvPr>
          <p:cNvSpPr txBox="1"/>
          <p:nvPr/>
        </p:nvSpPr>
        <p:spPr>
          <a:xfrm>
            <a:off x="8848578" y="4639361"/>
            <a:ext cx="3136205" cy="221599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en-GB" sz="2400" dirty="0">
                <a:ea typeface="Calibri"/>
                <a:cs typeface="Calibri"/>
              </a:rPr>
              <a:t>Presented by </a:t>
            </a:r>
            <a:endParaRPr lang="en-US">
              <a:ea typeface="Calibri"/>
              <a:cs typeface="Calibri"/>
            </a:endParaRPr>
          </a:p>
          <a:p>
            <a:pPr algn="r"/>
            <a:r>
              <a:rPr lang="en-GB" sz="2400" b="1" dirty="0">
                <a:ea typeface="Calibri"/>
                <a:cs typeface="Calibri"/>
              </a:rPr>
              <a:t>Pritpal Singh</a:t>
            </a:r>
            <a:endParaRPr lang="en-GB" b="1">
              <a:ea typeface="Calibri"/>
              <a:cs typeface="Calibri"/>
            </a:endParaRPr>
          </a:p>
          <a:p>
            <a:pPr algn="r"/>
            <a:r>
              <a:rPr lang="en-GB" sz="2400" b="1" dirty="0">
                <a:ea typeface="Calibri"/>
                <a:cs typeface="Calibri"/>
              </a:rPr>
              <a:t>1563366</a:t>
            </a:r>
          </a:p>
          <a:p>
            <a:pPr algn="r"/>
            <a:endParaRPr lang="en-GB" sz="2400" b="1" dirty="0">
              <a:ea typeface="Calibri"/>
              <a:cs typeface="Calibri"/>
            </a:endParaRPr>
          </a:p>
          <a:p>
            <a:pPr algn="r"/>
            <a:endParaRPr lang="en-GB" sz="2400" dirty="0">
              <a:ea typeface="Calibri"/>
              <a:cs typeface="Calibri"/>
            </a:endParaRPr>
          </a:p>
          <a:p>
            <a:pPr algn="r"/>
            <a:endParaRPr lang="en-GB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941722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DFCADD2-EA5C-64A8-229E-1A9117B9C8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4401" y="3180893"/>
            <a:ext cx="5467089" cy="235424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95DC10F-76B4-E191-B369-32F91A66B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dirty="0">
                <a:ea typeface="Calibri"/>
                <a:cs typeface="Calibri"/>
              </a:rPr>
              <a:t>Cannon’s Algorithm – Task A</a:t>
            </a:r>
            <a:endParaRPr lang="en-US" sz="3200">
              <a:ea typeface="Calibri"/>
              <a:cs typeface="Calibr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7C26A3-CFBD-6D95-0F87-9121531044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340" y="1328803"/>
            <a:ext cx="10972800" cy="4525433"/>
          </a:xfrm>
        </p:spPr>
        <p:txBody>
          <a:bodyPr/>
          <a:lstStyle/>
          <a:p>
            <a:r>
              <a:rPr lang="en-GB" sz="2000" b="1" dirty="0">
                <a:ea typeface="+mn-lt"/>
                <a:cs typeface="+mn-lt"/>
              </a:rPr>
              <a:t>Goal:</a:t>
            </a:r>
            <a:r>
              <a:rPr lang="en-GB" sz="2000" dirty="0">
                <a:ea typeface="+mn-lt"/>
                <a:cs typeface="+mn-lt"/>
              </a:rPr>
              <a:t> Multiply two square matrices (n × n) using n² processes.</a:t>
            </a:r>
            <a:endParaRPr lang="en-GB" dirty="0">
              <a:ea typeface="+mn-lt"/>
              <a:cs typeface="+mn-lt"/>
            </a:endParaRPr>
          </a:p>
          <a:p>
            <a:r>
              <a:rPr lang="en-GB" sz="2000" b="1" dirty="0">
                <a:ea typeface="+mn-lt"/>
                <a:cs typeface="+mn-lt"/>
              </a:rPr>
              <a:t>Process Mapping &amp; Data Distribution:</a:t>
            </a:r>
            <a:endParaRPr lang="en-GB" b="1" dirty="0">
              <a:ea typeface="+mn-lt"/>
              <a:cs typeface="+mn-lt"/>
            </a:endParaRPr>
          </a:p>
          <a:p>
            <a:pPr lvl="2">
              <a:buFont typeface="Wingdings" charset="0"/>
              <a:buChar char="§"/>
            </a:pPr>
            <a:r>
              <a:rPr lang="en-GB" sz="1600" dirty="0">
                <a:ea typeface="+mn-lt"/>
                <a:cs typeface="+mn-lt"/>
              </a:rPr>
              <a:t>Rank → 2D grid: </a:t>
            </a:r>
            <a:r>
              <a:rPr lang="en-GB" sz="1600" dirty="0">
                <a:latin typeface="Consolas"/>
                <a:ea typeface="+mn-lt"/>
                <a:cs typeface="+mn-lt"/>
              </a:rPr>
              <a:t>row = rank/n</a:t>
            </a:r>
            <a:r>
              <a:rPr lang="en-GB" sz="1600" dirty="0">
                <a:ea typeface="+mn-lt"/>
                <a:cs typeface="+mn-lt"/>
              </a:rPr>
              <a:t>, </a:t>
            </a:r>
            <a:r>
              <a:rPr lang="en-GB" sz="1600" dirty="0">
                <a:latin typeface="Consolas"/>
                <a:ea typeface="+mn-lt"/>
                <a:cs typeface="+mn-lt"/>
              </a:rPr>
              <a:t>col = rank % n</a:t>
            </a:r>
            <a:r>
              <a:rPr lang="en-GB" sz="1600" dirty="0">
                <a:ea typeface="+mn-lt"/>
                <a:cs typeface="+mn-lt"/>
              </a:rPr>
              <a:t>.</a:t>
            </a:r>
            <a:endParaRPr lang="en-GB">
              <a:ea typeface="+mn-lt"/>
              <a:cs typeface="+mn-lt"/>
            </a:endParaRPr>
          </a:p>
          <a:p>
            <a:pPr lvl="2">
              <a:buFont typeface="Wingdings" charset="0"/>
              <a:buChar char="§"/>
            </a:pPr>
            <a:r>
              <a:rPr lang="en-GB" sz="1600" dirty="0">
                <a:ea typeface="+mn-lt"/>
                <a:cs typeface="+mn-lt"/>
              </a:rPr>
              <a:t>Root (rank 0) initializes matrices and sends one element to each process via </a:t>
            </a:r>
            <a:r>
              <a:rPr lang="en-GB" sz="1600" b="1" err="1">
                <a:ea typeface="+mn-lt"/>
                <a:cs typeface="+mn-lt"/>
              </a:rPr>
              <a:t>MPI_Send</a:t>
            </a:r>
            <a:r>
              <a:rPr lang="en-GB" sz="1600" b="1" dirty="0">
                <a:ea typeface="+mn-lt"/>
                <a:cs typeface="+mn-lt"/>
              </a:rPr>
              <a:t> / </a:t>
            </a:r>
            <a:r>
              <a:rPr lang="en-GB" sz="1600" b="1" err="1">
                <a:ea typeface="+mn-lt"/>
                <a:cs typeface="+mn-lt"/>
              </a:rPr>
              <a:t>MPI_Recv</a:t>
            </a:r>
            <a:r>
              <a:rPr lang="en-GB" sz="1600" dirty="0">
                <a:ea typeface="+mn-lt"/>
                <a:cs typeface="+mn-lt"/>
              </a:rPr>
              <a:t> (blocking p2p).</a:t>
            </a:r>
            <a:endParaRPr lang="en-GB">
              <a:ea typeface="+mn-lt"/>
              <a:cs typeface="+mn-lt"/>
            </a:endParaRPr>
          </a:p>
          <a:p>
            <a:r>
              <a:rPr lang="en-GB" sz="2000" b="1" dirty="0">
                <a:ea typeface="+mn-lt"/>
                <a:cs typeface="+mn-lt"/>
              </a:rPr>
              <a:t>Initial Skewing:</a:t>
            </a:r>
            <a:endParaRPr lang="en-GB" dirty="0"/>
          </a:p>
          <a:p>
            <a:pPr lvl="2">
              <a:buFont typeface="Wingdings" charset="0"/>
              <a:buChar char="§"/>
            </a:pPr>
            <a:r>
              <a:rPr lang="en-GB" dirty="0">
                <a:ea typeface="+mn-lt"/>
                <a:cs typeface="+mn-lt"/>
              </a:rPr>
              <a:t>A row </a:t>
            </a:r>
            <a:r>
              <a:rPr lang="en-GB" err="1">
                <a:latin typeface="Consolas"/>
                <a:ea typeface="+mn-lt"/>
                <a:cs typeface="+mn-lt"/>
              </a:rPr>
              <a:t>i</a:t>
            </a:r>
            <a:r>
              <a:rPr lang="en-GB" dirty="0">
                <a:ea typeface="+mn-lt"/>
                <a:cs typeface="+mn-lt"/>
              </a:rPr>
              <a:t> → shift left by </a:t>
            </a:r>
            <a:r>
              <a:rPr lang="en-GB" err="1">
                <a:latin typeface="Consolas"/>
                <a:ea typeface="+mn-lt"/>
                <a:cs typeface="+mn-lt"/>
              </a:rPr>
              <a:t>i</a:t>
            </a:r>
            <a:r>
              <a:rPr lang="en-GB" dirty="0">
                <a:ea typeface="+mn-lt"/>
                <a:cs typeface="+mn-lt"/>
              </a:rPr>
              <a:t>.</a:t>
            </a:r>
          </a:p>
          <a:p>
            <a:pPr lvl="2">
              <a:buFont typeface="Wingdings" charset="0"/>
              <a:buChar char="§"/>
            </a:pPr>
            <a:r>
              <a:rPr lang="en-GB" dirty="0">
                <a:ea typeface="+mn-lt"/>
                <a:cs typeface="+mn-lt"/>
              </a:rPr>
              <a:t>B column </a:t>
            </a:r>
            <a:r>
              <a:rPr lang="en-GB" dirty="0">
                <a:latin typeface="Consolas"/>
                <a:ea typeface="+mn-lt"/>
                <a:cs typeface="+mn-lt"/>
              </a:rPr>
              <a:t>j</a:t>
            </a:r>
            <a:r>
              <a:rPr lang="en-GB" dirty="0">
                <a:ea typeface="+mn-lt"/>
                <a:cs typeface="+mn-lt"/>
              </a:rPr>
              <a:t> → shift up by </a:t>
            </a:r>
            <a:r>
              <a:rPr lang="en-GB" dirty="0">
                <a:latin typeface="Consolas"/>
                <a:ea typeface="+mn-lt"/>
                <a:cs typeface="+mn-lt"/>
              </a:rPr>
              <a:t>j</a:t>
            </a:r>
            <a:r>
              <a:rPr lang="en-GB" dirty="0">
                <a:ea typeface="+mn-lt"/>
                <a:cs typeface="+mn-lt"/>
              </a:rPr>
              <a:t>.</a:t>
            </a:r>
            <a:endParaRPr lang="en-GB">
              <a:ea typeface="Calibri"/>
              <a:cs typeface="Calibri"/>
            </a:endParaRPr>
          </a:p>
          <a:p>
            <a:pPr lvl="2">
              <a:buFont typeface="Wingdings" charset="0"/>
              <a:buChar char="§"/>
            </a:pPr>
            <a:r>
              <a:rPr lang="en-GB" b="1" err="1">
                <a:ea typeface="+mn-lt"/>
                <a:cs typeface="+mn-lt"/>
              </a:rPr>
              <a:t>MPI_Sendrecv_replace</a:t>
            </a:r>
            <a:r>
              <a:rPr lang="en-GB" dirty="0">
                <a:ea typeface="+mn-lt"/>
                <a:cs typeface="+mn-lt"/>
              </a:rPr>
              <a:t> used for circular shifts.</a:t>
            </a:r>
          </a:p>
          <a:p>
            <a:r>
              <a:rPr lang="en-GB" sz="2000" b="1" dirty="0">
                <a:ea typeface="+mn-lt"/>
                <a:cs typeface="+mn-lt"/>
              </a:rPr>
              <a:t>Computation (n steps):</a:t>
            </a:r>
            <a:endParaRPr lang="en-GB" dirty="0"/>
          </a:p>
          <a:p>
            <a:pPr lvl="2">
              <a:buFont typeface="Wingdings" charset="0"/>
              <a:buChar char="§"/>
            </a:pPr>
            <a:r>
              <a:rPr lang="en-GB" dirty="0">
                <a:ea typeface="+mn-lt"/>
                <a:cs typeface="+mn-lt"/>
              </a:rPr>
              <a:t>Each step: </a:t>
            </a:r>
            <a:r>
              <a:rPr lang="en-GB" dirty="0">
                <a:latin typeface="Consolas"/>
                <a:ea typeface="+mn-lt"/>
                <a:cs typeface="+mn-lt"/>
              </a:rPr>
              <a:t>c += a * b</a:t>
            </a:r>
            <a:r>
              <a:rPr lang="en-GB" dirty="0">
                <a:ea typeface="+mn-lt"/>
                <a:cs typeface="+mn-lt"/>
              </a:rPr>
              <a:t>.</a:t>
            </a:r>
          </a:p>
          <a:p>
            <a:pPr lvl="2">
              <a:buFont typeface="Wingdings" charset="0"/>
              <a:buChar char="§"/>
            </a:pPr>
            <a:r>
              <a:rPr lang="en-GB" dirty="0">
                <a:ea typeface="+mn-lt"/>
                <a:cs typeface="+mn-lt"/>
              </a:rPr>
              <a:t>Shift </a:t>
            </a:r>
            <a:r>
              <a:rPr lang="en-GB" sz="1600" dirty="0">
                <a:ea typeface="+mn-lt"/>
                <a:cs typeface="+mn-lt"/>
              </a:rPr>
              <a:t>A</a:t>
            </a:r>
            <a:r>
              <a:rPr lang="en-GB" dirty="0">
                <a:ea typeface="+mn-lt"/>
                <a:cs typeface="+mn-lt"/>
              </a:rPr>
              <a:t> left </a:t>
            </a:r>
            <a:r>
              <a:rPr lang="en-GB" sz="1600" dirty="0">
                <a:ea typeface="+mn-lt"/>
                <a:cs typeface="+mn-lt"/>
              </a:rPr>
              <a:t>by 1, </a:t>
            </a:r>
            <a:r>
              <a:rPr lang="en-GB" dirty="0">
                <a:ea typeface="+mn-lt"/>
                <a:cs typeface="+mn-lt"/>
              </a:rPr>
              <a:t>B up by 1 (wrap-around).</a:t>
            </a:r>
          </a:p>
          <a:p>
            <a:pPr lvl="2">
              <a:buFont typeface="Wingdings" charset="0"/>
              <a:buChar char="§"/>
            </a:pPr>
            <a:r>
              <a:rPr lang="en-GB" sz="1600" b="1" err="1">
                <a:ea typeface="+mn-lt"/>
                <a:cs typeface="+mn-lt"/>
              </a:rPr>
              <a:t>MPI_Sendrecv_replace</a:t>
            </a:r>
            <a:r>
              <a:rPr lang="en-GB" sz="1600" dirty="0">
                <a:ea typeface="+mn-lt"/>
                <a:cs typeface="+mn-lt"/>
              </a:rPr>
              <a:t> used for simultaneous send/receive.</a:t>
            </a:r>
            <a:endParaRPr lang="en-GB" sz="1600">
              <a:ea typeface="Calibri"/>
              <a:cs typeface="Calibri"/>
            </a:endParaRPr>
          </a:p>
          <a:p>
            <a:r>
              <a:rPr lang="en-GB" sz="2000" b="1" dirty="0">
                <a:ea typeface="+mn-lt"/>
                <a:cs typeface="+mn-lt"/>
              </a:rPr>
              <a:t>Result Collection:</a:t>
            </a:r>
            <a:endParaRPr lang="en-GB" b="1" dirty="0">
              <a:ea typeface="+mn-lt"/>
              <a:cs typeface="+mn-lt"/>
            </a:endParaRPr>
          </a:p>
          <a:p>
            <a:pPr lvl="2">
              <a:buFont typeface="Wingdings" charset="0"/>
              <a:buChar char="§"/>
            </a:pPr>
            <a:r>
              <a:rPr lang="en-GB" sz="1600" dirty="0">
                <a:ea typeface="+mn-lt"/>
                <a:cs typeface="+mn-lt"/>
              </a:rPr>
              <a:t>Each process sends result back to root using </a:t>
            </a:r>
            <a:r>
              <a:rPr lang="en-GB" sz="1600" b="1" err="1">
                <a:ea typeface="+mn-lt"/>
                <a:cs typeface="+mn-lt"/>
              </a:rPr>
              <a:t>MPI_Send</a:t>
            </a:r>
            <a:r>
              <a:rPr lang="en-GB" sz="1600" b="1" dirty="0">
                <a:ea typeface="+mn-lt"/>
                <a:cs typeface="+mn-lt"/>
              </a:rPr>
              <a:t> / </a:t>
            </a:r>
            <a:r>
              <a:rPr lang="en-GB" sz="1600" b="1" err="1">
                <a:ea typeface="+mn-lt"/>
                <a:cs typeface="+mn-lt"/>
              </a:rPr>
              <a:t>MPI_Recv</a:t>
            </a:r>
            <a:r>
              <a:rPr lang="en-GB" sz="1600" dirty="0">
                <a:ea typeface="+mn-lt"/>
                <a:cs typeface="+mn-lt"/>
              </a:rPr>
              <a:t>.</a:t>
            </a:r>
            <a:endParaRPr lang="en-US">
              <a:ea typeface="+mn-lt"/>
              <a:cs typeface="+mn-lt"/>
            </a:endParaRPr>
          </a:p>
          <a:p>
            <a:pPr lvl="2">
              <a:buFont typeface="Wingdings" charset="0"/>
              <a:buChar char="§"/>
            </a:pPr>
            <a:r>
              <a:rPr lang="en-GB" sz="1600" dirty="0">
                <a:ea typeface="+mn-lt"/>
                <a:cs typeface="+mn-lt"/>
              </a:rPr>
              <a:t>Root reconstructs final matrix C.</a:t>
            </a:r>
            <a:endParaRPr lang="en-GB">
              <a:ea typeface="Calibri"/>
              <a:cs typeface="Calibri"/>
            </a:endParaRPr>
          </a:p>
          <a:p>
            <a:endParaRPr lang="en-GB" sz="2000" dirty="0">
              <a:ea typeface="Calibri"/>
              <a:cs typeface="Calibri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7A5D77-6C04-D8C8-D826-5ADCED122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05.02.2025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57EC1-BED9-0277-C98E-0EE8624AF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7EE757-03CB-49A1-BD43-AE902812A82B}" type="slidenum">
              <a:rPr lang="de-DE" smtClean="0"/>
              <a:pPr>
                <a:defRPr/>
              </a:pPr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733325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D7F46-3646-B5DB-874B-B0DFE51569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275167"/>
            <a:ext cx="7826534" cy="753533"/>
          </a:xfrm>
        </p:spPr>
        <p:txBody>
          <a:bodyPr/>
          <a:lstStyle/>
          <a:p>
            <a:r>
              <a:rPr lang="en-GB" sz="3200" dirty="0">
                <a:ea typeface="Calibri"/>
                <a:cs typeface="Calibri"/>
              </a:rPr>
              <a:t>Task B - Process Topology &amp; Data Distribution</a:t>
            </a:r>
            <a:endParaRPr lang="en-US" sz="3200" b="0" dirty="0">
              <a:ea typeface="Calibri"/>
              <a:cs typeface="Calibr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44521C-1888-A416-786D-7ABB8C6853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715022"/>
            <a:ext cx="10972800" cy="4525433"/>
          </a:xfrm>
        </p:spPr>
        <p:txBody>
          <a:bodyPr/>
          <a:lstStyle/>
          <a:p>
            <a:pPr>
              <a:buFont typeface="Arial"/>
              <a:buChar char="•"/>
            </a:pPr>
            <a:r>
              <a:rPr lang="en-GB" sz="2000" b="1" dirty="0">
                <a:ea typeface="+mn-lt"/>
                <a:cs typeface="+mn-lt"/>
              </a:rPr>
              <a:t>Scalable Approach:</a:t>
            </a:r>
            <a:r>
              <a:rPr lang="en-GB" sz="2000" dirty="0">
                <a:ea typeface="+mn-lt"/>
                <a:cs typeface="+mn-lt"/>
              </a:rPr>
              <a:t> Uses matrix blocks instead of individual elements.</a:t>
            </a:r>
            <a:endParaRPr lang="en-US" dirty="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GB" sz="2000" b="1" dirty="0">
                <a:ea typeface="+mn-lt"/>
                <a:cs typeface="+mn-lt"/>
              </a:rPr>
              <a:t>Cartesian Topology:</a:t>
            </a:r>
            <a:endParaRPr lang="en-GB"/>
          </a:p>
          <a:p>
            <a:pPr marL="1028700" lvl="1">
              <a:buFont typeface="Arial"/>
              <a:buChar char="–"/>
            </a:pPr>
            <a:r>
              <a:rPr lang="en-GB" sz="2000" dirty="0">
                <a:ea typeface="+mn-lt"/>
                <a:cs typeface="+mn-lt"/>
              </a:rPr>
              <a:t>Created with </a:t>
            </a:r>
            <a:r>
              <a:rPr lang="en-GB" sz="2000" dirty="0" err="1">
                <a:latin typeface="Consolas"/>
                <a:ea typeface="+mn-lt"/>
                <a:cs typeface="+mn-lt"/>
              </a:rPr>
              <a:t>MPI_Cart_create</a:t>
            </a:r>
            <a:r>
              <a:rPr lang="en-GB" sz="2000" dirty="0">
                <a:ea typeface="+mn-lt"/>
                <a:cs typeface="+mn-lt"/>
              </a:rPr>
              <a:t>, wrap-around topology </a:t>
            </a:r>
            <a:r>
              <a:rPr lang="en-GB" sz="2000" dirty="0">
                <a:latin typeface="Consolas"/>
                <a:ea typeface="+mn-lt"/>
                <a:cs typeface="+mn-lt"/>
              </a:rPr>
              <a:t>(periods={1,1})</a:t>
            </a:r>
            <a:r>
              <a:rPr lang="en-GB" sz="2000" dirty="0">
                <a:ea typeface="+mn-lt"/>
                <a:cs typeface="+mn-lt"/>
              </a:rPr>
              <a:t>.</a:t>
            </a:r>
            <a:endParaRPr lang="en-GB">
              <a:ea typeface="+mn-lt"/>
              <a:cs typeface="+mn-lt"/>
            </a:endParaRPr>
          </a:p>
          <a:p>
            <a:pPr marL="1028700" lvl="1">
              <a:buFont typeface="Arial"/>
              <a:buChar char="–"/>
            </a:pPr>
            <a:r>
              <a:rPr lang="en-GB" sz="2000" dirty="0">
                <a:ea typeface="+mn-lt"/>
                <a:cs typeface="+mn-lt"/>
              </a:rPr>
              <a:t>Processes addressed by </a:t>
            </a:r>
            <a:r>
              <a:rPr lang="en-GB" sz="2000" dirty="0">
                <a:latin typeface="Consolas"/>
                <a:ea typeface="Calibri"/>
                <a:cs typeface="Calibri"/>
              </a:rPr>
              <a:t>(row, col)</a:t>
            </a:r>
            <a:r>
              <a:rPr lang="en-GB" sz="2000" dirty="0">
                <a:ea typeface="+mn-lt"/>
                <a:cs typeface="+mn-lt"/>
              </a:rPr>
              <a:t> coordinates → simplifies communication.</a:t>
            </a:r>
            <a:endParaRPr lang="en-GB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GB" sz="2000" b="1" dirty="0">
                <a:ea typeface="+mn-lt"/>
                <a:cs typeface="+mn-lt"/>
              </a:rPr>
              <a:t>Data Distribution:</a:t>
            </a:r>
            <a:endParaRPr lang="en-GB"/>
          </a:p>
          <a:p>
            <a:pPr marL="1028700" lvl="1">
              <a:buFont typeface="Arial"/>
              <a:buChar char="–"/>
            </a:pPr>
            <a:r>
              <a:rPr lang="en-GB" sz="2000" dirty="0">
                <a:ea typeface="+mn-lt"/>
                <a:cs typeface="+mn-lt"/>
              </a:rPr>
              <a:t>Root process (rank 0) divides and sends matrix blocks using </a:t>
            </a:r>
            <a:r>
              <a:rPr lang="en-GB" sz="2000" dirty="0" err="1">
                <a:latin typeface="Consolas"/>
                <a:ea typeface="+mn-lt"/>
                <a:cs typeface="+mn-lt"/>
              </a:rPr>
              <a:t>MPI_Send</a:t>
            </a:r>
            <a:r>
              <a:rPr lang="en-GB" sz="2000" dirty="0">
                <a:ea typeface="+mn-lt"/>
                <a:cs typeface="+mn-lt"/>
              </a:rPr>
              <a:t>/</a:t>
            </a:r>
            <a:r>
              <a:rPr lang="en-GB" sz="2000" dirty="0" err="1">
                <a:latin typeface="Consolas"/>
                <a:ea typeface="+mn-lt"/>
                <a:cs typeface="+mn-lt"/>
              </a:rPr>
              <a:t>MPI_Recv</a:t>
            </a:r>
            <a:r>
              <a:rPr lang="en-GB" sz="2000" dirty="0">
                <a:ea typeface="+mn-lt"/>
                <a:cs typeface="+mn-lt"/>
              </a:rPr>
              <a:t>.</a:t>
            </a:r>
            <a:endParaRPr lang="en-GB">
              <a:ea typeface="+mn-lt"/>
              <a:cs typeface="+mn-lt"/>
            </a:endParaRPr>
          </a:p>
          <a:p>
            <a:pPr marL="1028700" lvl="1">
              <a:buFont typeface="Arial"/>
              <a:buChar char="–"/>
            </a:pPr>
            <a:r>
              <a:rPr lang="en-GB" sz="2000" dirty="0">
                <a:ea typeface="+mn-lt"/>
                <a:cs typeface="+mn-lt"/>
              </a:rPr>
              <a:t>Each process stores a local block (</a:t>
            </a:r>
            <a:r>
              <a:rPr lang="en-GB" sz="2000" dirty="0" err="1">
                <a:ea typeface="+mn-lt"/>
                <a:cs typeface="+mn-lt"/>
              </a:rPr>
              <a:t>Ablock</a:t>
            </a:r>
            <a:r>
              <a:rPr lang="en-GB" sz="2000" dirty="0">
                <a:ea typeface="+mn-lt"/>
                <a:cs typeface="+mn-lt"/>
              </a:rPr>
              <a:t>, </a:t>
            </a:r>
            <a:r>
              <a:rPr lang="en-GB" sz="2000" dirty="0" err="1">
                <a:ea typeface="+mn-lt"/>
                <a:cs typeface="+mn-lt"/>
              </a:rPr>
              <a:t>Bblock</a:t>
            </a:r>
            <a:r>
              <a:rPr lang="en-GB" sz="2000" dirty="0">
                <a:ea typeface="+mn-lt"/>
                <a:cs typeface="+mn-lt"/>
              </a:rPr>
              <a:t>).</a:t>
            </a:r>
            <a:endParaRPr lang="en-GB"/>
          </a:p>
          <a:p>
            <a:pPr>
              <a:buFont typeface="Arial"/>
              <a:buChar char="•"/>
            </a:pPr>
            <a:r>
              <a:rPr lang="en-GB" sz="2000" b="1" dirty="0">
                <a:ea typeface="+mn-lt"/>
                <a:cs typeface="+mn-lt"/>
              </a:rPr>
              <a:t>Initial Skewing:</a:t>
            </a:r>
            <a:endParaRPr lang="en-GB"/>
          </a:p>
          <a:p>
            <a:pPr marL="1028700" lvl="1">
              <a:buFont typeface="Arial"/>
              <a:buChar char="–"/>
            </a:pPr>
            <a:r>
              <a:rPr lang="en-GB" sz="2000" dirty="0">
                <a:ea typeface="+mn-lt"/>
                <a:cs typeface="+mn-lt"/>
              </a:rPr>
              <a:t>A shifted left by row index; B shifted up by column index.</a:t>
            </a:r>
            <a:endParaRPr lang="en-GB"/>
          </a:p>
          <a:p>
            <a:pPr marL="1028700" lvl="1">
              <a:buFont typeface="Arial"/>
              <a:buChar char="–"/>
            </a:pPr>
            <a:r>
              <a:rPr lang="en-GB" sz="2000" dirty="0" err="1">
                <a:latin typeface="Consolas"/>
                <a:ea typeface="+mn-lt"/>
                <a:cs typeface="+mn-lt"/>
              </a:rPr>
              <a:t>MPI_Cart_shift</a:t>
            </a:r>
            <a:r>
              <a:rPr lang="en-GB" sz="2000" dirty="0">
                <a:ea typeface="+mn-lt"/>
                <a:cs typeface="+mn-lt"/>
              </a:rPr>
              <a:t> determines </a:t>
            </a:r>
            <a:r>
              <a:rPr lang="en-GB" sz="2000" dirty="0" err="1">
                <a:ea typeface="+mn-lt"/>
                <a:cs typeface="+mn-lt"/>
              </a:rPr>
              <a:t>neighbors</a:t>
            </a:r>
            <a:r>
              <a:rPr lang="en-GB" sz="2000" dirty="0">
                <a:ea typeface="+mn-lt"/>
                <a:cs typeface="+mn-lt"/>
              </a:rPr>
              <a:t>.</a:t>
            </a:r>
            <a:endParaRPr lang="en-GB"/>
          </a:p>
          <a:p>
            <a:pPr marL="1028700" lvl="1">
              <a:buFont typeface="Arial"/>
              <a:buChar char="–"/>
            </a:pPr>
            <a:r>
              <a:rPr lang="en-GB" sz="2000" dirty="0" err="1">
                <a:latin typeface="Consolas"/>
                <a:ea typeface="+mn-lt"/>
                <a:cs typeface="+mn-lt"/>
              </a:rPr>
              <a:t>MPI_Sendrecv_replace</a:t>
            </a:r>
            <a:r>
              <a:rPr lang="en-GB" sz="2000" dirty="0">
                <a:ea typeface="+mn-lt"/>
                <a:cs typeface="+mn-lt"/>
              </a:rPr>
              <a:t> ensures circular shifting without deadlock.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E6F61-A90E-3A68-A432-D7253B5AE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05.02.2025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A16ECE-A0D5-8117-37B1-F2A06A030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7EE757-03CB-49A1-BD43-AE902812A82B}" type="slidenum">
              <a:rPr lang="de-DE" smtClean="0"/>
              <a:pPr>
                <a:defRPr/>
              </a:pPr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460177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04EEFB-7290-159C-DF13-046A95ADE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275167"/>
            <a:ext cx="8129246" cy="753533"/>
          </a:xfrm>
        </p:spPr>
        <p:txBody>
          <a:bodyPr/>
          <a:lstStyle/>
          <a:p>
            <a:r>
              <a:rPr lang="en-GB" sz="2800" dirty="0">
                <a:ea typeface="Calibri"/>
                <a:cs typeface="Calibri"/>
              </a:rPr>
              <a:t>Computation, Result Collection &amp; Communication</a:t>
            </a:r>
            <a:endParaRPr lang="en-US" sz="2800">
              <a:ea typeface="Calibri"/>
              <a:cs typeface="Calibr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771BDB-891F-CFE6-BAAB-7183340D27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4778" y="1391434"/>
            <a:ext cx="10972800" cy="4525433"/>
          </a:xfrm>
        </p:spPr>
        <p:txBody>
          <a:bodyPr/>
          <a:lstStyle/>
          <a:p>
            <a:pPr>
              <a:buFont typeface="Arial,Sans-Serif" charset="0"/>
              <a:buChar char="•"/>
            </a:pPr>
            <a:r>
              <a:rPr lang="en-GB" sz="2000" b="1" dirty="0">
                <a:ea typeface="+mn-lt"/>
                <a:cs typeface="+mn-lt"/>
              </a:rPr>
              <a:t>Computation Loop (q steps, q = √P):</a:t>
            </a:r>
            <a:endParaRPr lang="en-GB" sz="2000" dirty="0">
              <a:ea typeface="Calibri"/>
              <a:cs typeface="Calibri"/>
            </a:endParaRPr>
          </a:p>
          <a:p>
            <a:pPr marL="1028700" lvl="1">
              <a:buFont typeface="Arial,Sans-Serif" charset="0"/>
              <a:buChar char="–"/>
            </a:pPr>
            <a:r>
              <a:rPr lang="en-GB" sz="2000" dirty="0">
                <a:ea typeface="+mn-lt"/>
                <a:cs typeface="+mn-lt"/>
              </a:rPr>
              <a:t>Local block multiplication: </a:t>
            </a:r>
            <a:r>
              <a:rPr lang="en-GB" sz="2000" dirty="0" err="1">
                <a:latin typeface="Consolas"/>
                <a:ea typeface="+mn-lt"/>
                <a:cs typeface="+mn-lt"/>
              </a:rPr>
              <a:t>localMultiply</a:t>
            </a:r>
            <a:r>
              <a:rPr lang="en-GB" sz="2000" dirty="0">
                <a:latin typeface="Consolas"/>
                <a:ea typeface="+mn-lt"/>
                <a:cs typeface="+mn-lt"/>
              </a:rPr>
              <a:t>(</a:t>
            </a:r>
            <a:r>
              <a:rPr lang="en-GB" sz="2000" dirty="0" err="1">
                <a:latin typeface="Consolas"/>
                <a:ea typeface="+mn-lt"/>
                <a:cs typeface="+mn-lt"/>
              </a:rPr>
              <a:t>Ablock</a:t>
            </a:r>
            <a:r>
              <a:rPr lang="en-GB" sz="2000" dirty="0">
                <a:latin typeface="Consolas"/>
                <a:ea typeface="+mn-lt"/>
                <a:cs typeface="+mn-lt"/>
              </a:rPr>
              <a:t>, </a:t>
            </a:r>
            <a:r>
              <a:rPr lang="en-GB" sz="2000" dirty="0" err="1">
                <a:latin typeface="Consolas"/>
                <a:ea typeface="+mn-lt"/>
                <a:cs typeface="+mn-lt"/>
              </a:rPr>
              <a:t>Bblock</a:t>
            </a:r>
            <a:r>
              <a:rPr lang="en-GB" sz="2000" dirty="0">
                <a:latin typeface="Consolas"/>
                <a:ea typeface="+mn-lt"/>
                <a:cs typeface="+mn-lt"/>
              </a:rPr>
              <a:t>, </a:t>
            </a:r>
            <a:r>
              <a:rPr lang="en-GB" sz="2000" dirty="0" err="1">
                <a:latin typeface="Consolas"/>
                <a:ea typeface="+mn-lt"/>
                <a:cs typeface="+mn-lt"/>
              </a:rPr>
              <a:t>Cblock</a:t>
            </a:r>
            <a:r>
              <a:rPr lang="en-GB" sz="2000" dirty="0">
                <a:latin typeface="Consolas"/>
                <a:ea typeface="+mn-lt"/>
                <a:cs typeface="+mn-lt"/>
              </a:rPr>
              <a:t>)</a:t>
            </a:r>
            <a:r>
              <a:rPr lang="en-GB" sz="2000" dirty="0">
                <a:ea typeface="+mn-lt"/>
                <a:cs typeface="+mn-lt"/>
              </a:rPr>
              <a:t>.</a:t>
            </a:r>
            <a:endParaRPr lang="en-GB" sz="2000" dirty="0">
              <a:ea typeface="Calibri"/>
              <a:cs typeface="Calibri"/>
            </a:endParaRPr>
          </a:p>
          <a:p>
            <a:pPr marL="1028700" lvl="1">
              <a:buFont typeface="Arial,Sans-Serif" charset="0"/>
              <a:buChar char="–"/>
            </a:pPr>
            <a:r>
              <a:rPr lang="en-GB" sz="2000" dirty="0">
                <a:solidFill>
                  <a:srgbClr val="000000"/>
                </a:solidFill>
                <a:ea typeface="+mn-lt"/>
                <a:cs typeface="+mn-lt"/>
              </a:rPr>
              <a:t>Circular shifting each step:</a:t>
            </a:r>
          </a:p>
          <a:p>
            <a:pPr marL="1428750" lvl="2" indent="-285750">
              <a:buFont typeface="Arial,Sans-Serif" charset="0"/>
              <a:buChar char="•"/>
            </a:pPr>
            <a:r>
              <a:rPr lang="en-GB" sz="2000" dirty="0">
                <a:solidFill>
                  <a:srgbClr val="000000"/>
                </a:solidFill>
                <a:ea typeface="+mn-lt"/>
                <a:cs typeface="+mn-lt"/>
              </a:rPr>
              <a:t>A</a:t>
            </a:r>
            <a:r>
              <a:rPr lang="en-GB" dirty="0">
                <a:solidFill>
                  <a:srgbClr val="000000"/>
                </a:solidFill>
                <a:ea typeface="+mn-lt"/>
                <a:cs typeface="+mn-lt"/>
              </a:rPr>
              <a:t> one step left</a:t>
            </a:r>
            <a:r>
              <a:rPr lang="en-GB" sz="2000" dirty="0">
                <a:solidFill>
                  <a:srgbClr val="000000"/>
                </a:solidFill>
                <a:ea typeface="+mn-lt"/>
                <a:cs typeface="+mn-lt"/>
              </a:rPr>
              <a:t>; </a:t>
            </a:r>
            <a:r>
              <a:rPr lang="en-GB" dirty="0">
                <a:solidFill>
                  <a:srgbClr val="000000"/>
                </a:solidFill>
                <a:ea typeface="+mn-lt"/>
                <a:cs typeface="+mn-lt"/>
              </a:rPr>
              <a:t>B one step up.</a:t>
            </a:r>
            <a:endParaRPr lang="en-GB" sz="2000" dirty="0">
              <a:solidFill>
                <a:srgbClr val="000000"/>
              </a:solidFill>
              <a:ea typeface="+mn-lt"/>
              <a:cs typeface="+mn-lt"/>
            </a:endParaRPr>
          </a:p>
          <a:p>
            <a:pPr marL="1428750" lvl="2" indent="-285750">
              <a:buFont typeface="Arial,Sans-Serif" charset="0"/>
              <a:buChar char="•"/>
            </a:pPr>
            <a:r>
              <a:rPr lang="en-GB" sz="2000" dirty="0" err="1">
                <a:solidFill>
                  <a:srgbClr val="000000"/>
                </a:solidFill>
                <a:latin typeface="Consolas"/>
                <a:ea typeface="+mn-lt"/>
                <a:cs typeface="+mn-lt"/>
              </a:rPr>
              <a:t>MPI_Sendrecv_replace</a:t>
            </a:r>
            <a:r>
              <a:rPr lang="en-GB" dirty="0">
                <a:solidFill>
                  <a:srgbClr val="000000"/>
                </a:solidFill>
                <a:ea typeface="+mn-lt"/>
                <a:cs typeface="+mn-lt"/>
              </a:rPr>
              <a:t> used for safe simultaneous send/receive.</a:t>
            </a:r>
          </a:p>
          <a:p>
            <a:pPr>
              <a:buFont typeface="Arial,Sans-Serif" charset="0"/>
              <a:buChar char="•"/>
            </a:pPr>
            <a:r>
              <a:rPr lang="en-GB" sz="2000" b="1" dirty="0">
                <a:solidFill>
                  <a:srgbClr val="000000"/>
                </a:solidFill>
                <a:ea typeface="+mn-lt"/>
                <a:cs typeface="+mn-lt"/>
              </a:rPr>
              <a:t>Result Collection:</a:t>
            </a:r>
            <a:endParaRPr lang="en-GB" sz="2000" dirty="0">
              <a:solidFill>
                <a:srgbClr val="000000"/>
              </a:solidFill>
              <a:ea typeface="+mn-lt"/>
              <a:cs typeface="+mn-lt"/>
            </a:endParaRPr>
          </a:p>
          <a:p>
            <a:pPr marL="1028700" lvl="1">
              <a:buFont typeface="Arial,Sans-Serif" charset="0"/>
              <a:buChar char="–"/>
            </a:pPr>
            <a:r>
              <a:rPr lang="en-GB" sz="2000" dirty="0">
                <a:solidFill>
                  <a:srgbClr val="000000"/>
                </a:solidFill>
                <a:ea typeface="+mn-lt"/>
                <a:cs typeface="+mn-lt"/>
              </a:rPr>
              <a:t>Each process sends its </a:t>
            </a:r>
            <a:r>
              <a:rPr lang="en-GB" sz="2000" dirty="0" err="1">
                <a:solidFill>
                  <a:srgbClr val="000000"/>
                </a:solidFill>
                <a:ea typeface="+mn-lt"/>
                <a:cs typeface="+mn-lt"/>
              </a:rPr>
              <a:t>Cblock</a:t>
            </a:r>
            <a:r>
              <a:rPr lang="en-GB" sz="2000" dirty="0">
                <a:solidFill>
                  <a:srgbClr val="000000"/>
                </a:solidFill>
                <a:ea typeface="+mn-lt"/>
                <a:cs typeface="+mn-lt"/>
              </a:rPr>
              <a:t> to root (rank 0) using </a:t>
            </a:r>
            <a:r>
              <a:rPr lang="en-GB" sz="2000" dirty="0" err="1">
                <a:solidFill>
                  <a:srgbClr val="000000"/>
                </a:solidFill>
                <a:latin typeface="Consolas"/>
                <a:ea typeface="+mn-lt"/>
                <a:cs typeface="+mn-lt"/>
              </a:rPr>
              <a:t>MPI_Send</a:t>
            </a:r>
            <a:r>
              <a:rPr lang="en-GB" sz="2000" dirty="0">
                <a:solidFill>
                  <a:srgbClr val="000000"/>
                </a:solidFill>
                <a:ea typeface="+mn-lt"/>
                <a:cs typeface="+mn-lt"/>
              </a:rPr>
              <a:t>/</a:t>
            </a:r>
            <a:r>
              <a:rPr lang="en-GB" sz="2000" dirty="0" err="1">
                <a:solidFill>
                  <a:srgbClr val="000000"/>
                </a:solidFill>
                <a:latin typeface="Consolas"/>
                <a:ea typeface="+mn-lt"/>
                <a:cs typeface="+mn-lt"/>
              </a:rPr>
              <a:t>MPI_Recv</a:t>
            </a:r>
            <a:r>
              <a:rPr lang="en-GB" sz="2000" dirty="0">
                <a:solidFill>
                  <a:srgbClr val="000000"/>
                </a:solidFill>
                <a:ea typeface="+mn-lt"/>
                <a:cs typeface="+mn-lt"/>
              </a:rPr>
              <a:t>.</a:t>
            </a:r>
          </a:p>
          <a:p>
            <a:pPr marL="1028700" lvl="1">
              <a:buFont typeface="Arial,Sans-Serif" charset="0"/>
              <a:buChar char="–"/>
            </a:pPr>
            <a:r>
              <a:rPr lang="en-GB" sz="2000" dirty="0">
                <a:solidFill>
                  <a:srgbClr val="000000"/>
                </a:solidFill>
                <a:ea typeface="+mn-lt"/>
                <a:cs typeface="+mn-lt"/>
              </a:rPr>
              <a:t>Root reconstructs full matrix C.</a:t>
            </a:r>
          </a:p>
          <a:p>
            <a:pPr>
              <a:buFont typeface="Arial,Sans-Serif" charset="0"/>
              <a:buChar char="•"/>
            </a:pPr>
            <a:r>
              <a:rPr lang="en-GB" sz="2000" b="1" dirty="0">
                <a:solidFill>
                  <a:srgbClr val="000000"/>
                </a:solidFill>
                <a:ea typeface="+mn-lt"/>
                <a:cs typeface="+mn-lt"/>
              </a:rPr>
              <a:t>MPI Communication Summary:</a:t>
            </a:r>
            <a:endParaRPr lang="en-GB" sz="2000" dirty="0">
              <a:solidFill>
                <a:srgbClr val="000000"/>
              </a:solidFill>
              <a:ea typeface="+mn-lt"/>
              <a:cs typeface="+mn-lt"/>
            </a:endParaRPr>
          </a:p>
          <a:p>
            <a:pPr marL="1028700" lvl="1">
              <a:buFont typeface="Arial,Sans-Serif" charset="0"/>
              <a:buChar char="–"/>
            </a:pPr>
            <a:r>
              <a:rPr lang="en-GB" sz="2000" b="1" dirty="0" err="1">
                <a:solidFill>
                  <a:srgbClr val="000000"/>
                </a:solidFill>
                <a:ea typeface="+mn-lt"/>
                <a:cs typeface="+mn-lt"/>
              </a:rPr>
              <a:t>MPI_Cart_create</a:t>
            </a:r>
            <a:r>
              <a:rPr lang="en-GB" sz="2000" dirty="0">
                <a:solidFill>
                  <a:srgbClr val="000000"/>
                </a:solidFill>
                <a:ea typeface="+mn-lt"/>
                <a:cs typeface="+mn-lt"/>
              </a:rPr>
              <a:t> – collective, blocking (grid creation).</a:t>
            </a:r>
          </a:p>
          <a:p>
            <a:pPr marL="1028700" lvl="1">
              <a:buFont typeface="Arial,Sans-Serif" charset="0"/>
              <a:buChar char="–"/>
            </a:pPr>
            <a:r>
              <a:rPr lang="en-GB" sz="2000" b="1" dirty="0" err="1">
                <a:solidFill>
                  <a:srgbClr val="000000"/>
                </a:solidFill>
                <a:ea typeface="+mn-lt"/>
                <a:cs typeface="+mn-lt"/>
              </a:rPr>
              <a:t>MPI_Send</a:t>
            </a:r>
            <a:r>
              <a:rPr lang="en-GB" sz="2000" b="1" dirty="0">
                <a:solidFill>
                  <a:srgbClr val="000000"/>
                </a:solidFill>
                <a:ea typeface="+mn-lt"/>
                <a:cs typeface="+mn-lt"/>
              </a:rPr>
              <a:t>/</a:t>
            </a:r>
            <a:r>
              <a:rPr lang="en-GB" sz="2000" b="1" dirty="0" err="1">
                <a:solidFill>
                  <a:srgbClr val="000000"/>
                </a:solidFill>
                <a:ea typeface="+mn-lt"/>
                <a:cs typeface="+mn-lt"/>
              </a:rPr>
              <a:t>Recv</a:t>
            </a:r>
            <a:r>
              <a:rPr lang="en-GB" sz="2000" dirty="0">
                <a:solidFill>
                  <a:srgbClr val="000000"/>
                </a:solidFill>
                <a:ea typeface="+mn-lt"/>
                <a:cs typeface="+mn-lt"/>
              </a:rPr>
              <a:t> – blocking, p2p (data distribution).</a:t>
            </a:r>
          </a:p>
          <a:p>
            <a:pPr marL="1028700" lvl="1">
              <a:buFont typeface="Arial,Sans-Serif" charset="0"/>
              <a:buChar char="–"/>
            </a:pPr>
            <a:r>
              <a:rPr lang="en-GB" sz="2000" b="1" dirty="0" err="1">
                <a:solidFill>
                  <a:srgbClr val="000000"/>
                </a:solidFill>
                <a:ea typeface="+mn-lt"/>
                <a:cs typeface="+mn-lt"/>
              </a:rPr>
              <a:t>MPI_Sendrecv_replace</a:t>
            </a:r>
            <a:r>
              <a:rPr lang="en-GB" sz="2000" dirty="0">
                <a:solidFill>
                  <a:srgbClr val="000000"/>
                </a:solidFill>
                <a:ea typeface="+mn-lt"/>
                <a:cs typeface="+mn-lt"/>
              </a:rPr>
              <a:t> – blocking, p2p (initial skewing &amp; shifting).</a:t>
            </a:r>
          </a:p>
          <a:p>
            <a:pPr marL="1028700" lvl="1">
              <a:buFont typeface="Arial,Sans-Serif" charset="0"/>
              <a:buChar char="–"/>
            </a:pPr>
            <a:r>
              <a:rPr lang="en-GB" sz="2000" b="1" dirty="0" err="1">
                <a:solidFill>
                  <a:srgbClr val="000000"/>
                </a:solidFill>
                <a:ea typeface="+mn-lt"/>
                <a:cs typeface="+mn-lt"/>
              </a:rPr>
              <a:t>MPI_Send</a:t>
            </a:r>
            <a:r>
              <a:rPr lang="en-GB" sz="2000" b="1" dirty="0">
                <a:solidFill>
                  <a:srgbClr val="000000"/>
                </a:solidFill>
                <a:ea typeface="+mn-lt"/>
                <a:cs typeface="+mn-lt"/>
              </a:rPr>
              <a:t>/</a:t>
            </a:r>
            <a:r>
              <a:rPr lang="en-GB" sz="2000" b="1" dirty="0" err="1">
                <a:solidFill>
                  <a:srgbClr val="000000"/>
                </a:solidFill>
                <a:ea typeface="+mn-lt"/>
                <a:cs typeface="+mn-lt"/>
              </a:rPr>
              <a:t>Recv</a:t>
            </a:r>
            <a:r>
              <a:rPr lang="en-GB" sz="2000" dirty="0">
                <a:solidFill>
                  <a:srgbClr val="000000"/>
                </a:solidFill>
                <a:ea typeface="+mn-lt"/>
                <a:cs typeface="+mn-lt"/>
              </a:rPr>
              <a:t> – blocking, p2p (result collection).</a:t>
            </a:r>
          </a:p>
          <a:p>
            <a:pPr>
              <a:buFont typeface="Arial,Sans-Serif" charset="0"/>
              <a:buChar char="•"/>
            </a:pPr>
            <a:endParaRPr lang="en-GB" sz="2000" b="1" dirty="0">
              <a:ea typeface="Calibri"/>
              <a:cs typeface="Calibri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F21941-0B52-CAD7-1BF1-08C488B2C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05.02.2025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C7C421-0C75-F1AA-4DDD-30CAC6874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7EE757-03CB-49A1-BD43-AE902812A82B}" type="slidenum">
              <a:rPr lang="de-DE" smtClean="0"/>
              <a:pPr>
                <a:defRPr/>
              </a:pPr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053069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EC37E-07C4-FCF0-8ADC-4B9479F71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>
              <a:ea typeface="Calibri"/>
              <a:cs typeface="Calibr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E8367F-FCC2-027B-9718-4B922C659C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318365"/>
            <a:ext cx="10972800" cy="4525433"/>
          </a:xfrm>
        </p:spPr>
        <p:txBody>
          <a:bodyPr/>
          <a:lstStyle/>
          <a:p>
            <a:pPr>
              <a:buFont typeface="Arial,Sans-Serif" charset="0"/>
            </a:pPr>
            <a:r>
              <a:rPr lang="en-GB" sz="2000" b="1" dirty="0"/>
              <a:t>Characteristics</a:t>
            </a:r>
            <a:r>
              <a:rPr lang="en-GB" sz="2000" b="1" dirty="0">
                <a:solidFill>
                  <a:srgbClr val="000000"/>
                </a:solidFill>
                <a:ea typeface="+mn-lt"/>
                <a:cs typeface="+mn-lt"/>
              </a:rPr>
              <a:t>:</a:t>
            </a:r>
            <a:endParaRPr lang="en-GB" sz="2000" dirty="0">
              <a:ea typeface="Calibri"/>
              <a:cs typeface="Calibri"/>
            </a:endParaRPr>
          </a:p>
          <a:p>
            <a:pPr marL="1028700" lvl="1">
              <a:buFont typeface="Arial,Sans-Serif" charset="0"/>
              <a:buChar char="–"/>
            </a:pPr>
            <a:r>
              <a:rPr lang="en-GB" sz="2000" dirty="0">
                <a:ea typeface="+mn-lt"/>
                <a:cs typeface="+mn-lt"/>
              </a:rPr>
              <a:t>Blocking → simple synchronization.</a:t>
            </a:r>
            <a:endParaRPr lang="en-US" sz="2000" dirty="0">
              <a:ea typeface="Calibri"/>
              <a:cs typeface="Calibri"/>
            </a:endParaRPr>
          </a:p>
          <a:p>
            <a:pPr marL="1028700" lvl="1">
              <a:buFont typeface="Arial,Sans-Serif" charset="0"/>
              <a:buChar char="–"/>
            </a:pPr>
            <a:r>
              <a:rPr lang="en-GB" sz="2000" dirty="0">
                <a:solidFill>
                  <a:srgbClr val="000000"/>
                </a:solidFill>
                <a:ea typeface="+mn-lt"/>
                <a:cs typeface="+mn-lt"/>
              </a:rPr>
              <a:t>P2P over collectives → control over block layout.</a:t>
            </a:r>
            <a:endParaRPr lang="en-US" sz="2000" dirty="0">
              <a:solidFill>
                <a:srgbClr val="000000"/>
              </a:solidFill>
              <a:ea typeface="+mn-lt"/>
              <a:cs typeface="+mn-lt"/>
            </a:endParaRPr>
          </a:p>
          <a:p>
            <a:pPr marL="1028700" lvl="1">
              <a:buFont typeface="Arial,Sans-Serif" charset="0"/>
              <a:buChar char="–"/>
            </a:pPr>
            <a:r>
              <a:rPr lang="en-GB" sz="2000" dirty="0">
                <a:solidFill>
                  <a:srgbClr val="000000"/>
                </a:solidFill>
                <a:ea typeface="+mn-lt"/>
                <a:cs typeface="+mn-lt"/>
              </a:rPr>
              <a:t>No one-sided or non-blocking → less complex, easier to debug.</a:t>
            </a:r>
            <a:endParaRPr lang="en-GB" sz="2000" dirty="0">
              <a:ea typeface="+mn-lt"/>
              <a:cs typeface="+mn-lt"/>
            </a:endParaRPr>
          </a:p>
          <a:p>
            <a:endParaRPr lang="en-GB" sz="2000" b="1" dirty="0">
              <a:ea typeface="Calibri"/>
              <a:cs typeface="Calibri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1537C1-5177-0AB8-6512-3A760616A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05.02.2025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553D3F-23E1-1E07-026C-594B88146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7EE757-03CB-49A1-BD43-AE902812A82B}" type="slidenum">
              <a:rPr lang="de-DE" smtClean="0"/>
              <a:pPr>
                <a:defRPr/>
              </a:pPr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20110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08B93-D144-1B4D-18A7-C956A3DDD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3200" dirty="0">
                <a:latin typeface="Century Gothic"/>
              </a:rPr>
              <a:t>Communications displayed in EDU-MPI</a:t>
            </a:r>
            <a:endParaRPr lang="en-GB" sz="3200" b="0" dirty="0">
              <a:latin typeface="Century Gothic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75774C-D8F1-1B2A-791F-C024D07C58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05.02.2025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C18F71-851D-62D4-098C-64F07591A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7EE757-03CB-49A1-BD43-AE902812A82B}" type="slidenum">
              <a:rPr lang="de-DE" smtClean="0"/>
              <a:pPr>
                <a:defRPr/>
              </a:pPr>
              <a:t>7</a:t>
            </a:fld>
            <a:endParaRPr lang="de-DE"/>
          </a:p>
        </p:txBody>
      </p:sp>
      <p:pic>
        <p:nvPicPr>
          <p:cNvPr id="6" name="Picture 5" descr="A red and white lines&#10;&#10;AI-generated content may be incorrect.">
            <a:extLst>
              <a:ext uri="{FF2B5EF4-FFF2-40B4-BE49-F238E27FC236}">
                <a16:creationId xmlns:a16="http://schemas.microsoft.com/office/drawing/2014/main" id="{CF9B7BDA-8487-7EC9-348B-CBF6C13612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6576" y="3428282"/>
            <a:ext cx="5855396" cy="2485763"/>
          </a:xfrm>
          <a:prstGeom prst="rect">
            <a:avLst/>
          </a:prstGeom>
        </p:spPr>
      </p:pic>
      <p:pic>
        <p:nvPicPr>
          <p:cNvPr id="7" name="Picture 6" descr="A green lines on a white background&#10;&#10;AI-generated content may be incorrect.">
            <a:extLst>
              <a:ext uri="{FF2B5EF4-FFF2-40B4-BE49-F238E27FC236}">
                <a16:creationId xmlns:a16="http://schemas.microsoft.com/office/drawing/2014/main" id="{3C7F0489-8CB6-81F1-53A7-202397BA91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305" y="3582117"/>
            <a:ext cx="5534157" cy="248080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E5FC4E7-4F7B-3FD6-F04A-66CE52006CD8}"/>
              </a:ext>
            </a:extLst>
          </p:cNvPr>
          <p:cNvSpPr txBox="1"/>
          <p:nvPr/>
        </p:nvSpPr>
        <p:spPr>
          <a:xfrm>
            <a:off x="452229" y="1606605"/>
            <a:ext cx="5236342" cy="212365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GB" sz="2000" dirty="0">
                <a:ea typeface="+mn-lt"/>
                <a:cs typeface="+mn-lt"/>
              </a:rPr>
              <a:t>Each rank sends its matrix block to a </a:t>
            </a:r>
            <a:r>
              <a:rPr lang="en-GB" sz="2000" err="1">
                <a:ea typeface="+mn-lt"/>
                <a:cs typeface="+mn-lt"/>
              </a:rPr>
              <a:t>neighbor</a:t>
            </a:r>
            <a:r>
              <a:rPr lang="en-GB" sz="2000" dirty="0">
                <a:ea typeface="+mn-lt"/>
                <a:cs typeface="+mn-lt"/>
              </a:rPr>
              <a:t> (left or up) in a structured pattern.</a:t>
            </a:r>
            <a:endParaRPr lang="en-US" sz="20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GB" sz="2000" dirty="0">
                <a:ea typeface="+mn-lt"/>
                <a:cs typeface="+mn-lt"/>
              </a:rPr>
              <a:t>These green lines visualize that </a:t>
            </a:r>
            <a:r>
              <a:rPr lang="en-GB" sz="2000" b="1" dirty="0">
                <a:ea typeface="+mn-lt"/>
                <a:cs typeface="+mn-lt"/>
              </a:rPr>
              <a:t>peer-to-peer communication</a:t>
            </a:r>
            <a:r>
              <a:rPr lang="en-GB" sz="2000" dirty="0">
                <a:ea typeface="+mn-lt"/>
                <a:cs typeface="+mn-lt"/>
              </a:rPr>
              <a:t>, which is essential for the </a:t>
            </a:r>
            <a:r>
              <a:rPr lang="en-GB" sz="2000" b="1" dirty="0">
                <a:ea typeface="+mn-lt"/>
                <a:cs typeface="+mn-lt"/>
              </a:rPr>
              <a:t>block shifting</a:t>
            </a:r>
            <a:r>
              <a:rPr lang="en-GB" sz="2000" dirty="0">
                <a:ea typeface="+mn-lt"/>
                <a:cs typeface="+mn-lt"/>
              </a:rPr>
              <a:t> step in each iteration.</a:t>
            </a:r>
            <a:endParaRPr lang="en-GB" sz="2000" dirty="0">
              <a:ea typeface="Calibri"/>
              <a:cs typeface="Calibri"/>
            </a:endParaRPr>
          </a:p>
          <a:p>
            <a:pPr algn="l"/>
            <a:endParaRPr lang="en-GB" sz="3200" dirty="0">
              <a:ea typeface="Calibri"/>
              <a:cs typeface="Calibr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2714AB1-A8FC-88A0-C4CB-B9D593F80730}"/>
              </a:ext>
            </a:extLst>
          </p:cNvPr>
          <p:cNvSpPr txBox="1"/>
          <p:nvPr/>
        </p:nvSpPr>
        <p:spPr>
          <a:xfrm>
            <a:off x="5924811" y="1718153"/>
            <a:ext cx="5665939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2000" b="1" dirty="0">
                <a:latin typeface="Segoe Sans"/>
              </a:rPr>
              <a:t>Which ranks receive matrix blocks</a:t>
            </a:r>
            <a:r>
              <a:rPr lang="en-US" sz="2000" dirty="0">
                <a:latin typeface="Segoe Sans"/>
              </a:rPr>
              <a:t> during the shifting phase.</a:t>
            </a:r>
            <a:endParaRPr lang="en-US" dirty="0">
              <a:latin typeface="Calibri"/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r>
              <a:rPr lang="en-US" sz="2000" dirty="0">
                <a:latin typeface="Segoe Sans"/>
              </a:rPr>
              <a:t>Ensures that </a:t>
            </a:r>
            <a:r>
              <a:rPr lang="en-US" sz="2000" b="1" dirty="0">
                <a:latin typeface="Segoe Sans"/>
              </a:rPr>
              <a:t>data dependencies</a:t>
            </a:r>
            <a:r>
              <a:rPr lang="en-US" sz="2000" dirty="0">
                <a:latin typeface="Segoe Sans"/>
              </a:rPr>
              <a:t> are correctly maintained across iterations.</a:t>
            </a:r>
            <a:endParaRPr lang="en-US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379449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132AA-3869-67F5-4AF5-7BCDCAA71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Calibri"/>
                <a:cs typeface="Calibri"/>
              </a:rPr>
              <a:t>2D Visualization in </a:t>
            </a:r>
            <a:r>
              <a:rPr lang="en-GB" dirty="0" err="1">
                <a:ea typeface="Calibri"/>
                <a:cs typeface="Calibri"/>
              </a:rPr>
              <a:t>EduMPI</a:t>
            </a:r>
            <a:endParaRPr lang="en-GB" b="0" dirty="0" err="1">
              <a:ea typeface="Calibri"/>
              <a:cs typeface="Calibri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AA1C43-44B9-A4AD-C03C-AB0D159FF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05.02.2025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EDD38C-D046-95ED-2405-1E9BEB9B6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7EE757-03CB-49A1-BD43-AE902812A82B}" type="slidenum">
              <a:rPr lang="de-DE" smtClean="0"/>
              <a:pPr>
                <a:defRPr/>
              </a:pPr>
              <a:t>8</a:t>
            </a:fld>
            <a:endParaRPr lang="de-DE"/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64732DB-E320-C100-61EA-B2624CCA2E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8685" y="1878812"/>
            <a:ext cx="8006220" cy="409202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9C12EF7-0913-9480-A70F-2E360E6145FC}"/>
              </a:ext>
            </a:extLst>
          </p:cNvPr>
          <p:cNvSpPr txBox="1"/>
          <p:nvPr/>
        </p:nvSpPr>
        <p:spPr>
          <a:xfrm>
            <a:off x="190412" y="1786981"/>
            <a:ext cx="3367920" cy="427809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000">
                <a:ea typeface="+mn-lt"/>
                <a:cs typeface="+mn-lt"/>
              </a:rPr>
              <a:t>The consistent send/receive sizes across most processes (except Proc 0) indicate:</a:t>
            </a:r>
            <a:endParaRPr lang="en-US" sz="20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GB" sz="2000">
                <a:ea typeface="+mn-lt"/>
                <a:cs typeface="+mn-lt"/>
              </a:rPr>
              <a:t>A </a:t>
            </a:r>
            <a:r>
              <a:rPr lang="en-GB" sz="2000" b="1">
                <a:ea typeface="+mn-lt"/>
                <a:cs typeface="+mn-lt"/>
              </a:rPr>
              <a:t>balanced communication pattern</a:t>
            </a:r>
            <a:r>
              <a:rPr lang="en-GB" sz="2000">
                <a:ea typeface="+mn-lt"/>
                <a:cs typeface="+mn-lt"/>
              </a:rPr>
              <a:t>, which is a hallmark of Cannon’s algorithm.</a:t>
            </a:r>
            <a:endParaRPr lang="en-GB" sz="2000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GB" sz="2000" b="1" dirty="0">
                <a:ea typeface="+mn-lt"/>
                <a:cs typeface="+mn-lt"/>
              </a:rPr>
              <a:t>Proc 0’s higher data volume</a:t>
            </a:r>
            <a:r>
              <a:rPr lang="en-GB" sz="2000" dirty="0">
                <a:ea typeface="+mn-lt"/>
                <a:cs typeface="+mn-lt"/>
              </a:rPr>
              <a:t> may be due to:</a:t>
            </a:r>
            <a:endParaRPr lang="en-GB" sz="2000" dirty="0">
              <a:ea typeface="Calibri"/>
              <a:cs typeface="Calibri"/>
            </a:endParaRPr>
          </a:p>
          <a:p>
            <a:pPr marL="742950" lvl="1" indent="-285750">
              <a:buFont typeface="Arial"/>
              <a:buChar char="•"/>
            </a:pPr>
            <a:r>
              <a:rPr lang="en-GB" sz="2000" dirty="0">
                <a:ea typeface="+mn-lt"/>
                <a:cs typeface="+mn-lt"/>
              </a:rPr>
              <a:t>Collecting final results.</a:t>
            </a:r>
            <a:endParaRPr lang="en-GB" sz="2000" dirty="0">
              <a:ea typeface="Calibri"/>
              <a:cs typeface="Calibri"/>
            </a:endParaRPr>
          </a:p>
          <a:p>
            <a:pPr marL="742950" lvl="1" indent="-285750">
              <a:buFont typeface="Arial"/>
              <a:buChar char="•"/>
            </a:pPr>
            <a:r>
              <a:rPr lang="en-GB" sz="2000" dirty="0">
                <a:ea typeface="+mn-lt"/>
                <a:cs typeface="+mn-lt"/>
              </a:rPr>
              <a:t>Distributing initial data.</a:t>
            </a:r>
            <a:endParaRPr lang="en-GB" sz="2000" dirty="0">
              <a:ea typeface="Calibri"/>
              <a:cs typeface="Calibri"/>
            </a:endParaRPr>
          </a:p>
          <a:p>
            <a:pPr marL="742950" lvl="1" indent="-285750">
              <a:buFont typeface="Arial"/>
              <a:buChar char="•"/>
            </a:pPr>
            <a:r>
              <a:rPr lang="en-GB" sz="2000" dirty="0">
                <a:ea typeface="+mn-lt"/>
                <a:cs typeface="+mn-lt"/>
              </a:rPr>
              <a:t>Acting as a master or I/O process.</a:t>
            </a:r>
            <a:endParaRPr lang="en-GB" sz="2000" dirty="0">
              <a:ea typeface="Calibri"/>
              <a:cs typeface="Calibri"/>
            </a:endParaRPr>
          </a:p>
          <a:p>
            <a:pPr algn="l"/>
            <a:endParaRPr lang="en-GB" sz="32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706217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8BE2F-77AF-99E7-69A1-54B7F8F92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275167"/>
            <a:ext cx="7346370" cy="753533"/>
          </a:xfrm>
        </p:spPr>
        <p:txBody>
          <a:bodyPr/>
          <a:lstStyle/>
          <a:p>
            <a:r>
              <a:rPr lang="en-GB" dirty="0">
                <a:ea typeface="Calibri"/>
                <a:cs typeface="Calibri"/>
              </a:rPr>
              <a:t>Rank to Rank Communication Matrix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3A7594-F439-B767-9E45-001778FA9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05.02.2025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995E4F-E1E9-FD66-52D2-9D2ECDE14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7EE757-03CB-49A1-BD43-AE902812A82B}" type="slidenum">
              <a:rPr lang="de-DE" smtClean="0"/>
              <a:pPr>
                <a:defRPr/>
              </a:pPr>
              <a:t>9</a:t>
            </a:fld>
            <a:endParaRPr lang="de-DE"/>
          </a:p>
        </p:txBody>
      </p:sp>
      <p:pic>
        <p:nvPicPr>
          <p:cNvPr id="6" name="Picture 5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2483F2FA-1989-3191-7454-FA399CB87B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1231" y="1595239"/>
            <a:ext cx="8235864" cy="442952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BAE5580-8497-BFB7-731B-4A3106E5F9D9}"/>
              </a:ext>
            </a:extLst>
          </p:cNvPr>
          <p:cNvSpPr txBox="1"/>
          <p:nvPr/>
        </p:nvSpPr>
        <p:spPr>
          <a:xfrm>
            <a:off x="5446" y="1371970"/>
            <a:ext cx="3505886" cy="507831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GB" b="1">
                <a:ea typeface="+mn-lt"/>
                <a:cs typeface="+mn-lt"/>
              </a:rPr>
              <a:t>Dominant Neighbor Communication:</a:t>
            </a:r>
            <a:br>
              <a:rPr lang="en-GB" dirty="0">
                <a:ea typeface="+mn-lt"/>
                <a:cs typeface="+mn-lt"/>
              </a:rPr>
            </a:br>
            <a:r>
              <a:rPr lang="en-GB">
                <a:ea typeface="+mn-lt"/>
                <a:cs typeface="+mn-lt"/>
              </a:rPr>
              <a:t> The main bands indicate the algorithm mostly communicates with </a:t>
            </a:r>
            <a:r>
              <a:rPr lang="en-GB" err="1">
                <a:ea typeface="+mn-lt"/>
                <a:cs typeface="+mn-lt"/>
              </a:rPr>
              <a:t>neighboring</a:t>
            </a:r>
            <a:r>
              <a:rPr lang="en-GB">
                <a:ea typeface="+mn-lt"/>
                <a:cs typeface="+mn-lt"/>
              </a:rPr>
              <a:t> processes due to circular shifting (left/up) of blocks.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GB" b="1">
                <a:ea typeface="+mn-lt"/>
                <a:cs typeface="+mn-lt"/>
              </a:rPr>
              <a:t>Balanced Communication</a:t>
            </a:r>
            <a:r>
              <a:rPr lang="en-GB">
                <a:ea typeface="+mn-lt"/>
                <a:cs typeface="+mn-lt"/>
              </a:rPr>
              <a:t>:</a:t>
            </a:r>
            <a:br>
              <a:rPr lang="en-GB" dirty="0">
                <a:ea typeface="+mn-lt"/>
                <a:cs typeface="+mn-lt"/>
              </a:rPr>
            </a:br>
            <a:r>
              <a:rPr lang="en-GB">
                <a:ea typeface="+mn-lt"/>
                <a:cs typeface="+mn-lt"/>
              </a:rPr>
              <a:t> The relatively consistent </a:t>
            </a:r>
            <a:r>
              <a:rPr lang="en-GB" err="1">
                <a:ea typeface="+mn-lt"/>
                <a:cs typeface="+mn-lt"/>
              </a:rPr>
              <a:t>color</a:t>
            </a:r>
            <a:r>
              <a:rPr lang="en-GB">
                <a:ea typeface="+mn-lt"/>
                <a:cs typeface="+mn-lt"/>
              </a:rPr>
              <a:t> intensity means communication volume per process is well balanced.</a:t>
            </a:r>
            <a:endParaRPr lang="en-GB"/>
          </a:p>
          <a:p>
            <a:pPr marL="285750" indent="-285750">
              <a:buFont typeface="Arial"/>
              <a:buChar char="•"/>
            </a:pPr>
            <a:r>
              <a:rPr lang="en-GB" b="1">
                <a:ea typeface="+mn-lt"/>
                <a:cs typeface="+mn-lt"/>
              </a:rPr>
              <a:t>No Global Bottleneck:</a:t>
            </a:r>
            <a:br>
              <a:rPr lang="en-GB" b="1" dirty="0">
                <a:ea typeface="+mn-lt"/>
                <a:cs typeface="+mn-lt"/>
              </a:rPr>
            </a:br>
            <a:r>
              <a:rPr lang="en-GB">
                <a:ea typeface="+mn-lt"/>
                <a:cs typeface="+mn-lt"/>
              </a:rPr>
              <a:t> No single process is significantly overloaded (no large bright red hotspots away from the diagonal).</a:t>
            </a:r>
            <a:endParaRPr lang="en-GB"/>
          </a:p>
          <a:p>
            <a:pPr algn="l"/>
            <a:endParaRPr lang="en-GB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115849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5190F-2773-9993-EB1F-201A7D47C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Calibri"/>
                <a:cs typeface="Calibri"/>
              </a:rPr>
              <a:t>Performance Analysis 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BA5A9A-17D3-B07C-BE0A-801C83E45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05.02.2025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226087-1011-09CB-201E-67A8C5AAB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7EE757-03CB-49A1-BD43-AE902812A82B}" type="slidenum">
              <a:rPr lang="de-DE" smtClean="0"/>
              <a:pPr>
                <a:defRPr/>
              </a:pPr>
              <a:t>10</a:t>
            </a:fld>
            <a:endParaRPr lang="de-D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F3A55C9-C17B-436B-4FFD-8A4B4202FA3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73" t="4202" b="-420"/>
          <a:stretch>
            <a:fillRect/>
          </a:stretch>
        </p:blipFill>
        <p:spPr>
          <a:xfrm>
            <a:off x="960330" y="1453715"/>
            <a:ext cx="10260932" cy="4785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04391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3267E-380A-90A4-20CF-1D1239695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800" dirty="0">
                <a:ea typeface="Calibri"/>
                <a:cs typeface="Calibri"/>
              </a:rPr>
              <a:t>Performance Observations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D1DF41-07D5-82DE-D63D-2220A8D397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318365"/>
            <a:ext cx="10972800" cy="4525433"/>
          </a:xfrm>
        </p:spPr>
        <p:txBody>
          <a:bodyPr/>
          <a:lstStyle/>
          <a:p>
            <a:r>
              <a:rPr lang="en-GB" sz="2400" b="1" dirty="0">
                <a:ea typeface="+mn-lt"/>
                <a:cs typeface="+mn-lt"/>
              </a:rPr>
              <a:t>Overhead &amp; Underload:</a:t>
            </a:r>
            <a:endParaRPr lang="en-GB" sz="2400" dirty="0">
              <a:ea typeface="Calibri"/>
              <a:cs typeface="Calibri"/>
            </a:endParaRPr>
          </a:p>
          <a:p>
            <a:pPr lvl="2">
              <a:buFont typeface="Wingdings" charset="0"/>
              <a:buChar char="§"/>
            </a:pPr>
            <a:r>
              <a:rPr lang="en-GB" sz="1600" dirty="0">
                <a:ea typeface="+mn-lt"/>
                <a:cs typeface="+mn-lt"/>
              </a:rPr>
              <a:t>Generally small for smaller matrices (e.g., 800×800, P=25 → Overload = 0.02s).</a:t>
            </a:r>
            <a:endParaRPr lang="en-GB" sz="1600" dirty="0">
              <a:ea typeface="Calibri"/>
              <a:cs typeface="Calibri"/>
            </a:endParaRPr>
          </a:p>
          <a:p>
            <a:pPr lvl="2">
              <a:buFont typeface="Wingdings" charset="0"/>
              <a:buChar char="§"/>
            </a:pPr>
            <a:r>
              <a:rPr lang="en-GB" sz="1600" dirty="0">
                <a:ea typeface="+mn-lt"/>
                <a:cs typeface="+mn-lt"/>
              </a:rPr>
              <a:t>Increases drastically for very large matrix sizes and high process counts (e.g., 8000×8000 → Overload = 264s).</a:t>
            </a:r>
            <a:endParaRPr lang="en-GB" sz="1600" dirty="0">
              <a:ea typeface="Calibri"/>
              <a:cs typeface="Calibri"/>
            </a:endParaRPr>
          </a:p>
          <a:p>
            <a:r>
              <a:rPr lang="en-GB" sz="2400" b="1" dirty="0">
                <a:ea typeface="+mn-lt"/>
                <a:cs typeface="+mn-lt"/>
              </a:rPr>
              <a:t>Rank Time Spread:</a:t>
            </a:r>
            <a:endParaRPr lang="en-GB" sz="2400">
              <a:ea typeface="Calibri"/>
              <a:cs typeface="Calibri"/>
            </a:endParaRPr>
          </a:p>
          <a:p>
            <a:pPr lvl="2">
              <a:buFont typeface="Wingdings" charset="0"/>
              <a:buChar char="§"/>
            </a:pPr>
            <a:r>
              <a:rPr lang="en-GB" sz="1600" dirty="0">
                <a:ea typeface="+mn-lt"/>
                <a:cs typeface="+mn-lt"/>
              </a:rPr>
              <a:t>Small for small problems (max spread ~2.65s).</a:t>
            </a:r>
            <a:endParaRPr lang="en-GB" sz="1600" dirty="0">
              <a:ea typeface="Calibri"/>
              <a:cs typeface="Calibri"/>
            </a:endParaRPr>
          </a:p>
          <a:p>
            <a:pPr lvl="2">
              <a:buFont typeface="Wingdings" charset="0"/>
              <a:buChar char="§"/>
            </a:pPr>
            <a:r>
              <a:rPr lang="en-GB" sz="1600" dirty="0">
                <a:ea typeface="+mn-lt"/>
                <a:cs typeface="+mn-lt"/>
              </a:rPr>
              <a:t>Grows with problem size, showing imbalance (e.g., 85.2s for 7995×7995).</a:t>
            </a:r>
            <a:endParaRPr lang="en-GB" sz="1600" dirty="0">
              <a:ea typeface="Calibri"/>
              <a:cs typeface="Calibri"/>
            </a:endParaRPr>
          </a:p>
          <a:p>
            <a:r>
              <a:rPr lang="en-GB" sz="2400" b="1" dirty="0">
                <a:ea typeface="+mn-lt"/>
                <a:cs typeface="+mn-lt"/>
              </a:rPr>
              <a:t>Computation % of Runtime:</a:t>
            </a:r>
            <a:endParaRPr lang="en-GB" sz="2400">
              <a:ea typeface="Calibri"/>
              <a:cs typeface="Calibri"/>
            </a:endParaRPr>
          </a:p>
          <a:p>
            <a:pPr lvl="2">
              <a:buFont typeface="Wingdings" charset="0"/>
              <a:buChar char="§"/>
            </a:pPr>
            <a:r>
              <a:rPr lang="en-GB" sz="1600" dirty="0">
                <a:ea typeface="+mn-lt"/>
                <a:cs typeface="+mn-lt"/>
              </a:rPr>
              <a:t>Low for small tasks (0.7–6%) → dominated by MPI communication &amp; initialization.</a:t>
            </a:r>
            <a:endParaRPr lang="en-GB" sz="1600" dirty="0">
              <a:ea typeface="Calibri"/>
              <a:cs typeface="Calibri"/>
            </a:endParaRPr>
          </a:p>
          <a:p>
            <a:pPr lvl="2">
              <a:buFont typeface="Wingdings" charset="0"/>
              <a:buChar char="§"/>
            </a:pPr>
            <a:r>
              <a:rPr lang="en-GB" sz="1600" dirty="0">
                <a:ea typeface="+mn-lt"/>
                <a:cs typeface="+mn-lt"/>
              </a:rPr>
              <a:t>Increases with problem size (77.3% for 8000×8000), showing improved compute utilization.</a:t>
            </a:r>
            <a:endParaRPr lang="en-GB" sz="1600" dirty="0">
              <a:ea typeface="Calibri"/>
              <a:cs typeface="Calibri"/>
            </a:endParaRPr>
          </a:p>
          <a:p>
            <a:r>
              <a:rPr lang="en-GB" sz="2400" b="1" dirty="0">
                <a:ea typeface="+mn-lt"/>
                <a:cs typeface="+mn-lt"/>
              </a:rPr>
              <a:t>MPI Time:</a:t>
            </a:r>
            <a:endParaRPr lang="en-GB" sz="2400">
              <a:ea typeface="Calibri"/>
              <a:cs typeface="Calibri"/>
            </a:endParaRPr>
          </a:p>
          <a:p>
            <a:pPr lvl="2">
              <a:buFont typeface="Wingdings" charset="0"/>
              <a:buChar char="§"/>
            </a:pPr>
            <a:r>
              <a:rPr lang="en-GB" sz="1600" dirty="0">
                <a:ea typeface="+mn-lt"/>
                <a:cs typeface="+mn-lt"/>
              </a:rPr>
              <a:t>Significant portion of runtime for small problems (e.g., MPI Init/Finalize 214s vs. computation 1.73s).</a:t>
            </a:r>
            <a:endParaRPr lang="en-GB" sz="1600" dirty="0">
              <a:ea typeface="Calibri"/>
              <a:cs typeface="Calibri"/>
            </a:endParaRPr>
          </a:p>
          <a:p>
            <a:pPr lvl="2">
              <a:buFont typeface="Wingdings" charset="0"/>
              <a:buChar char="§"/>
            </a:pPr>
            <a:r>
              <a:rPr lang="en-GB" sz="1600" dirty="0">
                <a:ea typeface="+mn-lt"/>
                <a:cs typeface="+mn-lt"/>
              </a:rPr>
              <a:t>For large problems, MPI communication time increases but relative overhead decreases.</a:t>
            </a:r>
            <a:endParaRPr lang="en-GB" sz="1600" dirty="0">
              <a:ea typeface="Calibri"/>
              <a:cs typeface="Calibri"/>
            </a:endParaRPr>
          </a:p>
          <a:p>
            <a:r>
              <a:rPr lang="en-GB" sz="2400" b="1" dirty="0">
                <a:ea typeface="+mn-lt"/>
                <a:cs typeface="+mn-lt"/>
              </a:rPr>
              <a:t>Load Imbalance:</a:t>
            </a:r>
            <a:endParaRPr lang="en-GB" sz="2400">
              <a:ea typeface="Calibri"/>
              <a:cs typeface="Calibri"/>
            </a:endParaRPr>
          </a:p>
          <a:p>
            <a:pPr lvl="2">
              <a:buFont typeface="Wingdings" charset="0"/>
              <a:buChar char="§"/>
            </a:pPr>
            <a:r>
              <a:rPr lang="en-GB" sz="1600" dirty="0">
                <a:ea typeface="+mn-lt"/>
                <a:cs typeface="+mn-lt"/>
              </a:rPr>
              <a:t>Execution visits per rank uneven (Rank0 often visited more → e.g., 1677 vs. others 192).</a:t>
            </a:r>
            <a:endParaRPr lang="en-GB" sz="1600" dirty="0">
              <a:ea typeface="Calibri"/>
              <a:cs typeface="Calibri"/>
            </a:endParaRPr>
          </a:p>
          <a:p>
            <a:pPr lvl="2">
              <a:buFont typeface="Wingdings" charset="0"/>
              <a:buChar char="§"/>
            </a:pPr>
            <a:r>
              <a:rPr lang="en-GB" sz="1600" dirty="0">
                <a:ea typeface="+mn-lt"/>
                <a:cs typeface="+mn-lt"/>
              </a:rPr>
              <a:t>Causes waiting states (</a:t>
            </a:r>
            <a:r>
              <a:rPr lang="en-GB" sz="1600" err="1">
                <a:ea typeface="+mn-lt"/>
                <a:cs typeface="+mn-lt"/>
              </a:rPr>
              <a:t>LateSender</a:t>
            </a:r>
            <a:r>
              <a:rPr lang="en-GB" sz="1600" dirty="0">
                <a:ea typeface="+mn-lt"/>
                <a:cs typeface="+mn-lt"/>
              </a:rPr>
              <a:t> / </a:t>
            </a:r>
            <a:r>
              <a:rPr lang="en-GB" sz="1600" err="1">
                <a:ea typeface="+mn-lt"/>
                <a:cs typeface="+mn-lt"/>
              </a:rPr>
              <a:t>LateReceiver</a:t>
            </a:r>
            <a:r>
              <a:rPr lang="en-GB" sz="1600" dirty="0">
                <a:ea typeface="+mn-lt"/>
                <a:cs typeface="+mn-lt"/>
              </a:rPr>
              <a:t>).</a:t>
            </a:r>
            <a:endParaRPr lang="en-GB" sz="1600" dirty="0">
              <a:ea typeface="Calibri"/>
              <a:cs typeface="Calibri"/>
            </a:endParaRPr>
          </a:p>
          <a:p>
            <a:endParaRPr lang="en-GB" sz="2400" dirty="0">
              <a:ea typeface="Calibri"/>
              <a:cs typeface="Calibri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FC564A-E89E-7577-2103-0BF70F4A8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05.02.2025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037A42-388A-9B3A-2CD4-B5EEABBC5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7EE757-03CB-49A1-BD43-AE902812A82B}" type="slidenum">
              <a:rPr lang="de-DE" smtClean="0"/>
              <a:pPr>
                <a:defRPr/>
              </a:pPr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29377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CAF56-18CD-E7EF-671F-1604A10AC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Scalability &amp; Bottlenecks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D47FDC-3417-5458-B5D3-E44BC986A4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33188"/>
            <a:ext cx="10972800" cy="4525433"/>
          </a:xfrm>
        </p:spPr>
        <p:txBody>
          <a:bodyPr/>
          <a:lstStyle/>
          <a:p>
            <a:r>
              <a:rPr lang="en-GB" sz="2000" b="1" dirty="0">
                <a:ea typeface="+mn-lt"/>
                <a:cs typeface="+mn-lt"/>
              </a:rPr>
              <a:t>Strong Scaling:</a:t>
            </a:r>
            <a:endParaRPr lang="en-GB" sz="2000" dirty="0">
              <a:ea typeface="Calibri"/>
              <a:cs typeface="Calibri"/>
            </a:endParaRPr>
          </a:p>
          <a:p>
            <a:pPr lvl="1">
              <a:buFont typeface="Courier New" charset="0"/>
              <a:buChar char="o"/>
            </a:pPr>
            <a:r>
              <a:rPr lang="en-GB" sz="1600" dirty="0">
                <a:ea typeface="+mn-lt"/>
                <a:cs typeface="+mn-lt"/>
              </a:rPr>
              <a:t>Increasing processes (P) for fixed problem size (800×800) reduces runtime drastically (253.69s → 41.06s) but shows low compute utilization (0.7–6%).</a:t>
            </a:r>
            <a:endParaRPr lang="en-GB" sz="1600" dirty="0">
              <a:ea typeface="Calibri"/>
              <a:cs typeface="Calibri"/>
            </a:endParaRPr>
          </a:p>
          <a:p>
            <a:pPr lvl="1">
              <a:buFont typeface="Courier New" charset="0"/>
              <a:buChar char="o"/>
            </a:pPr>
            <a:r>
              <a:rPr lang="en-GB" sz="1600" dirty="0">
                <a:ea typeface="+mn-lt"/>
                <a:cs typeface="+mn-lt"/>
              </a:rPr>
              <a:t>Overhead from </a:t>
            </a:r>
            <a:r>
              <a:rPr lang="en-GB" sz="1600" err="1">
                <a:ea typeface="+mn-lt"/>
                <a:cs typeface="+mn-lt"/>
              </a:rPr>
              <a:t>MPI_Init</a:t>
            </a:r>
            <a:r>
              <a:rPr lang="en-GB" sz="1600" dirty="0">
                <a:ea typeface="+mn-lt"/>
                <a:cs typeface="+mn-lt"/>
              </a:rPr>
              <a:t>/Finalize dominates small tasks.</a:t>
            </a:r>
            <a:endParaRPr lang="en-GB" sz="1600" dirty="0">
              <a:ea typeface="Calibri"/>
              <a:cs typeface="Calibri"/>
            </a:endParaRPr>
          </a:p>
          <a:p>
            <a:r>
              <a:rPr lang="en-GB" sz="2000" b="1" dirty="0">
                <a:ea typeface="+mn-lt"/>
                <a:cs typeface="+mn-lt"/>
              </a:rPr>
              <a:t>Weak Scaling (Large Matrices):</a:t>
            </a:r>
            <a:endParaRPr lang="en-GB" sz="2000" dirty="0">
              <a:ea typeface="Calibri"/>
              <a:cs typeface="Calibri"/>
            </a:endParaRPr>
          </a:p>
          <a:p>
            <a:pPr lvl="1">
              <a:buFont typeface="Courier New" charset="0"/>
              <a:buChar char="o"/>
            </a:pPr>
            <a:r>
              <a:rPr lang="en-GB" sz="1600" dirty="0">
                <a:ea typeface="+mn-lt"/>
                <a:cs typeface="+mn-lt"/>
              </a:rPr>
              <a:t>As matrix size grows (4000–8000), compute utilization improves (&gt;40%), showing good scalability for computation.</a:t>
            </a:r>
            <a:endParaRPr lang="en-GB" sz="1600" dirty="0">
              <a:ea typeface="Calibri"/>
              <a:cs typeface="Calibri"/>
            </a:endParaRPr>
          </a:p>
          <a:p>
            <a:pPr lvl="1">
              <a:buFont typeface="Courier New" charset="0"/>
              <a:buChar char="o"/>
            </a:pPr>
            <a:r>
              <a:rPr lang="en-GB" sz="1600" dirty="0">
                <a:ea typeface="+mn-lt"/>
                <a:cs typeface="+mn-lt"/>
              </a:rPr>
              <a:t>Bottleneck shifts to </a:t>
            </a:r>
            <a:r>
              <a:rPr lang="en-GB" sz="1600" b="1" dirty="0">
                <a:ea typeface="+mn-lt"/>
                <a:cs typeface="+mn-lt"/>
              </a:rPr>
              <a:t>communication overhead</a:t>
            </a:r>
            <a:r>
              <a:rPr lang="en-GB" sz="1600" dirty="0">
                <a:ea typeface="+mn-lt"/>
                <a:cs typeface="+mn-lt"/>
              </a:rPr>
              <a:t> (e.g., MPI Time 1840.98s at 8000).</a:t>
            </a:r>
            <a:endParaRPr lang="en-GB" sz="1600" dirty="0">
              <a:ea typeface="Calibri"/>
              <a:cs typeface="Calibri"/>
            </a:endParaRPr>
          </a:p>
          <a:p>
            <a:r>
              <a:rPr lang="en-GB" sz="2000" b="1" dirty="0">
                <a:ea typeface="+mn-lt"/>
                <a:cs typeface="+mn-lt"/>
              </a:rPr>
              <a:t>Load Balance:</a:t>
            </a:r>
            <a:endParaRPr lang="en-GB" sz="2000" dirty="0">
              <a:ea typeface="Calibri"/>
              <a:cs typeface="Calibri"/>
            </a:endParaRPr>
          </a:p>
          <a:p>
            <a:pPr lvl="1">
              <a:buFont typeface="Courier New" charset="0"/>
              <a:buChar char="o"/>
            </a:pPr>
            <a:r>
              <a:rPr lang="en-GB" sz="1600" dirty="0">
                <a:ea typeface="+mn-lt"/>
                <a:cs typeface="+mn-lt"/>
              </a:rPr>
              <a:t>Some ranks (esp. Rank 0) experience heavier workload (more visits), causing </a:t>
            </a:r>
            <a:r>
              <a:rPr lang="en-GB" sz="1600" err="1">
                <a:ea typeface="+mn-lt"/>
                <a:cs typeface="+mn-lt"/>
              </a:rPr>
              <a:t>LateSender</a:t>
            </a:r>
            <a:r>
              <a:rPr lang="en-GB" sz="1600" dirty="0">
                <a:ea typeface="+mn-lt"/>
                <a:cs typeface="+mn-lt"/>
              </a:rPr>
              <a:t> effects and idle waiting on others.</a:t>
            </a:r>
            <a:endParaRPr lang="en-GB" sz="1600" dirty="0">
              <a:ea typeface="Calibri"/>
              <a:cs typeface="Calibri"/>
            </a:endParaRPr>
          </a:p>
          <a:p>
            <a:r>
              <a:rPr lang="en-GB" sz="2000" b="1" dirty="0">
                <a:ea typeface="+mn-lt"/>
                <a:cs typeface="+mn-lt"/>
              </a:rPr>
              <a:t>Memory Efficiency:</a:t>
            </a:r>
            <a:endParaRPr lang="en-GB" sz="2000" dirty="0">
              <a:ea typeface="Calibri"/>
              <a:cs typeface="Calibri"/>
            </a:endParaRPr>
          </a:p>
          <a:p>
            <a:pPr lvl="1">
              <a:buFont typeface="Courier New" charset="0"/>
              <a:buChar char="o"/>
            </a:pPr>
            <a:r>
              <a:rPr lang="en-GB" sz="1600" dirty="0">
                <a:ea typeface="+mn-lt"/>
                <a:cs typeface="+mn-lt"/>
              </a:rPr>
              <a:t>Block size per rank influences load balancing (larger blocks for fewer processes → better compute ratio).</a:t>
            </a:r>
            <a:endParaRPr lang="en-GB" sz="1600" dirty="0">
              <a:ea typeface="Calibri"/>
              <a:cs typeface="Calibri"/>
            </a:endParaRPr>
          </a:p>
          <a:p>
            <a:r>
              <a:rPr lang="en-GB" sz="2000" b="1" dirty="0">
                <a:ea typeface="+mn-lt"/>
                <a:cs typeface="+mn-lt"/>
              </a:rPr>
              <a:t>Main Bottlenecks Identified:</a:t>
            </a:r>
            <a:endParaRPr lang="en-GB" sz="2000" dirty="0">
              <a:ea typeface="Calibri"/>
              <a:cs typeface="Calibri"/>
            </a:endParaRPr>
          </a:p>
          <a:p>
            <a:pPr lvl="1">
              <a:buFont typeface="Courier New" charset="0"/>
              <a:buChar char="o"/>
            </a:pPr>
            <a:r>
              <a:rPr lang="en-GB" sz="1600" dirty="0">
                <a:ea typeface="+mn-lt"/>
                <a:cs typeface="+mn-lt"/>
              </a:rPr>
              <a:t>Initialization overhead for small problems.</a:t>
            </a:r>
            <a:endParaRPr lang="en-GB" sz="1600" dirty="0">
              <a:ea typeface="Calibri"/>
              <a:cs typeface="Calibri"/>
            </a:endParaRPr>
          </a:p>
          <a:p>
            <a:pPr lvl="1">
              <a:buFont typeface="Courier New" charset="0"/>
              <a:buChar char="o"/>
            </a:pPr>
            <a:r>
              <a:rPr lang="en-GB" sz="1600" dirty="0">
                <a:ea typeface="+mn-lt"/>
                <a:cs typeface="+mn-lt"/>
              </a:rPr>
              <a:t>Communication overhead &amp; rank imbalance for large problems.</a:t>
            </a:r>
            <a:endParaRPr lang="en-GB" sz="1600" dirty="0">
              <a:ea typeface="Calibri"/>
              <a:cs typeface="Calibri"/>
            </a:endParaRPr>
          </a:p>
          <a:p>
            <a:endParaRPr lang="en-GB" sz="2000" dirty="0">
              <a:ea typeface="Calibri"/>
              <a:cs typeface="Calibri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4D188B-22DE-F470-E644-DE275275A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05.02.2025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387707-135E-985B-709D-34B3A4342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7EE757-03CB-49A1-BD43-AE902812A82B}" type="slidenum">
              <a:rPr lang="de-DE" smtClean="0"/>
              <a:pPr>
                <a:defRPr/>
              </a:pPr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77857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AE666-A1F9-C140-7822-D404FFB936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Calibri"/>
                <a:cs typeface="Calibri"/>
              </a:rPr>
              <a:t>Total Runtime Comparison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E22576-60A6-4996-CB1F-6EC30049A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05.02.2025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7D13D1-1B56-AE3A-F138-F4ED61CCF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7EE757-03CB-49A1-BD43-AE902812A82B}" type="slidenum">
              <a:rPr lang="de-DE" smtClean="0"/>
              <a:pPr>
                <a:defRPr/>
              </a:pPr>
              <a:t>13</a:t>
            </a:fld>
            <a:endParaRPr lang="de-DE"/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EE66C979-8A04-E54C-D71F-01F5080AB49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52734608"/>
              </p:ext>
            </p:extLst>
          </p:nvPr>
        </p:nvGraphicFramePr>
        <p:xfrm>
          <a:off x="5205022" y="2549961"/>
          <a:ext cx="6543675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D902F90-5F1D-2BF2-357C-F871F70DF8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1343147"/>
              </p:ext>
            </p:extLst>
          </p:nvPr>
        </p:nvGraphicFramePr>
        <p:xfrm>
          <a:off x="146136" y="2578274"/>
          <a:ext cx="4589485" cy="38404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428750">
                  <a:extLst>
                    <a:ext uri="{9D8B030D-6E8A-4147-A177-3AD203B41FA5}">
                      <a16:colId xmlns:a16="http://schemas.microsoft.com/office/drawing/2014/main" val="338199479"/>
                    </a:ext>
                  </a:extLst>
                </a:gridCol>
                <a:gridCol w="1630906">
                  <a:extLst>
                    <a:ext uri="{9D8B030D-6E8A-4147-A177-3AD203B41FA5}">
                      <a16:colId xmlns:a16="http://schemas.microsoft.com/office/drawing/2014/main" val="489757835"/>
                    </a:ext>
                  </a:extLst>
                </a:gridCol>
                <a:gridCol w="1529829">
                  <a:extLst>
                    <a:ext uri="{9D8B030D-6E8A-4147-A177-3AD203B41FA5}">
                      <a16:colId xmlns:a16="http://schemas.microsoft.com/office/drawing/2014/main" val="4232964433"/>
                    </a:ext>
                  </a:extLst>
                </a:gridCol>
              </a:tblGrid>
              <a:tr h="7011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600" b="1" dirty="0">
                          <a:effectLst/>
                        </a:rPr>
                        <a:t>Matrix Size (N) / Processes (P)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600" b="1" dirty="0">
                          <a:effectLst/>
                        </a:rPr>
                        <a:t>Cannon's Algo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600" b="1" dirty="0">
                          <a:effectLst/>
                        </a:rPr>
                        <a:t>Row-wise Matrix Multiplication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291804"/>
                  </a:ext>
                </a:extLst>
              </a:tr>
              <a:tr h="284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>
                          <a:effectLst/>
                        </a:rPr>
                        <a:t>800 / 25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600" dirty="0">
                          <a:effectLst/>
                        </a:rPr>
                        <a:t>253,69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600" dirty="0">
                          <a:effectLst/>
                        </a:rPr>
                        <a:t>49,55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7628774"/>
                  </a:ext>
                </a:extLst>
              </a:tr>
              <a:tr h="284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>
                          <a:effectLst/>
                        </a:rPr>
                        <a:t>800 / 64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600" dirty="0">
                          <a:effectLst/>
                        </a:rPr>
                        <a:t>132,92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600" dirty="0">
                          <a:effectLst/>
                        </a:rPr>
                        <a:t>142,93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5069302"/>
                  </a:ext>
                </a:extLst>
              </a:tr>
              <a:tr h="284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>
                          <a:effectLst/>
                        </a:rPr>
                        <a:t>800 / 100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600" dirty="0">
                          <a:effectLst/>
                        </a:rPr>
                        <a:t>41,06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600" dirty="0">
                          <a:effectLst/>
                        </a:rPr>
                        <a:t>285,79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0498473"/>
                  </a:ext>
                </a:extLst>
              </a:tr>
              <a:tr h="284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>
                          <a:effectLst/>
                        </a:rPr>
                        <a:t>2000 / 100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600" dirty="0">
                          <a:effectLst/>
                        </a:rPr>
                        <a:t>341,78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600" dirty="0">
                          <a:effectLst/>
                        </a:rPr>
                        <a:t>574,75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3888231"/>
                  </a:ext>
                </a:extLst>
              </a:tr>
              <a:tr h="284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>
                          <a:effectLst/>
                        </a:rPr>
                        <a:t>4000 / 64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600" dirty="0">
                          <a:effectLst/>
                        </a:rPr>
                        <a:t>671,1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600" dirty="0">
                          <a:effectLst/>
                        </a:rPr>
                        <a:t>1876,46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6372264"/>
                  </a:ext>
                </a:extLst>
              </a:tr>
              <a:tr h="284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>
                          <a:effectLst/>
                        </a:rPr>
                        <a:t>4000 / 100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600" dirty="0">
                          <a:effectLst/>
                        </a:rPr>
                        <a:t>866,45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600" dirty="0">
                          <a:effectLst/>
                        </a:rPr>
                        <a:t>2251,97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2731556"/>
                  </a:ext>
                </a:extLst>
              </a:tr>
              <a:tr h="284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>
                          <a:effectLst/>
                        </a:rPr>
                        <a:t>6000 / 100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600" dirty="0">
                          <a:effectLst/>
                        </a:rPr>
                        <a:t>2164,43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600" dirty="0">
                          <a:effectLst/>
                        </a:rPr>
                        <a:t>7632,27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7384"/>
                  </a:ext>
                </a:extLst>
              </a:tr>
              <a:tr h="284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>
                          <a:effectLst/>
                        </a:rPr>
                        <a:t>7995 / 225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600" dirty="0">
                          <a:effectLst/>
                        </a:rPr>
                        <a:t>6418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600" dirty="0">
                          <a:effectLst/>
                        </a:rPr>
                        <a:t>30800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7056816"/>
                  </a:ext>
                </a:extLst>
              </a:tr>
              <a:tr h="284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>
                          <a:effectLst/>
                        </a:rPr>
                        <a:t>8000 / 100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600" dirty="0">
                          <a:effectLst/>
                        </a:rPr>
                        <a:t>9266,86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600" dirty="0">
                          <a:effectLst/>
                        </a:rPr>
                        <a:t>22700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4157973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FF92B41A-F9D8-94E7-BF99-1B93B4110828}"/>
              </a:ext>
            </a:extLst>
          </p:cNvPr>
          <p:cNvSpPr txBox="1"/>
          <p:nvPr/>
        </p:nvSpPr>
        <p:spPr>
          <a:xfrm>
            <a:off x="394389" y="1305959"/>
            <a:ext cx="11079624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GB" dirty="0">
                <a:ea typeface="+mn-lt"/>
                <a:cs typeface="+mn-lt"/>
              </a:rPr>
              <a:t>Cannon’s algorithm is better for medium-to-large matrices and for cases with a high number of processes due to balanced load and reduced communication overhead.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GB" dirty="0">
                <a:ea typeface="+mn-lt"/>
                <a:cs typeface="+mn-lt"/>
              </a:rPr>
              <a:t>For small matrix sizes with fewer processes, row-wise can still be effective because its simpler communication avoids Cannon’s skewing overhead.</a:t>
            </a:r>
            <a:endParaRPr lang="en-GB" dirty="0"/>
          </a:p>
          <a:p>
            <a:pPr algn="l"/>
            <a:endParaRPr lang="en-GB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536547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219201" y="3598049"/>
            <a:ext cx="10363199" cy="2232851"/>
          </a:xfrm>
        </p:spPr>
        <p:txBody>
          <a:bodyPr/>
          <a:lstStyle>
            <a:defPPr>
              <a:defRPr lang="de-DE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5pPr>
            <a:lvl6pPr marL="3047924" algn="l" defTabSz="121917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6pPr>
            <a:lvl7pPr marL="3657509" algn="l" defTabSz="121917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7pPr>
            <a:lvl8pPr marL="4267093" algn="l" defTabSz="121917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8pPr>
            <a:lvl9pPr marL="4876678" algn="l" defTabSz="121917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9pPr>
          </a:lstStyle>
          <a:p>
            <a:br>
              <a:rPr lang="de-DE" sz="3200" dirty="0">
                <a:latin typeface="Calibri"/>
                <a:ea typeface="Calibri"/>
                <a:cs typeface="Arial"/>
              </a:rPr>
            </a:br>
            <a:endParaRPr lang="de-DE" sz="3733" dirty="0"/>
          </a:p>
          <a:p>
            <a:endParaRPr lang="de-DE" sz="3200" dirty="0">
              <a:ea typeface="Calibri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647795-DE88-5A31-3B92-0CDEB6E10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8479A4A-F219-4338-85B5-EFC61BD16FCB}" type="slidenum">
              <a:rPr lang="de-DE" dirty="0" smtClean="0">
                <a:solidFill>
                  <a:srgbClr val="85858A"/>
                </a:solidFill>
              </a:rPr>
              <a:pPr>
                <a:defRPr/>
              </a:pPr>
              <a:t>14</a:t>
            </a:fld>
            <a:endParaRPr lang="de-DE">
              <a:solidFill>
                <a:srgbClr val="85858A"/>
              </a:solidFill>
            </a:endParaRPr>
          </a:p>
        </p:txBody>
      </p:sp>
      <p:sp>
        <p:nvSpPr>
          <p:cNvPr id="8" name="Título 7">
            <a:extLst>
              <a:ext uri="{FF2B5EF4-FFF2-40B4-BE49-F238E27FC236}">
                <a16:creationId xmlns:a16="http://schemas.microsoft.com/office/drawing/2014/main" id="{244B0D19-E6DC-4A0E-91F6-7BF6BB3A45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03962" y="2036481"/>
            <a:ext cx="10384076" cy="2357285"/>
          </a:xfrm>
        </p:spPr>
        <p:txBody>
          <a:bodyPr/>
          <a:lstStyle/>
          <a:p>
            <a:r>
              <a:rPr lang="en-US" sz="5400" b="0" dirty="0">
                <a:ea typeface="+mj-lt"/>
                <a:cs typeface="+mj-lt"/>
              </a:rPr>
              <a:t>Matrix-Multiplication with DNS</a:t>
            </a:r>
            <a:endParaRPr lang="en-US" dirty="0">
              <a:ea typeface="+mj-lt"/>
              <a:cs typeface="+mj-lt"/>
            </a:endParaRPr>
          </a:p>
          <a:p>
            <a:r>
              <a:rPr lang="en-US" sz="5400" b="0" dirty="0">
                <a:ea typeface="+mj-lt"/>
                <a:cs typeface="+mj-lt"/>
              </a:rPr>
              <a:t>(Deckel, Nassimi, Sahni) Algorithm </a:t>
            </a:r>
            <a:endParaRPr lang="es-MX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421003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3F19B-CC3D-1349-9EB4-697DEC82E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0" dirty="0">
                <a:ea typeface="+mj-lt"/>
                <a:cs typeface="+mj-lt"/>
              </a:rPr>
              <a:t>Step-by-Step Overview </a:t>
            </a:r>
            <a:endParaRPr lang="en-US" b="0" dirty="0">
              <a:ea typeface="Calibri"/>
              <a:cs typeface="Calibr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B11A91-3B6C-759A-F3C1-6FF446748E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1000"/>
              </a:spcBef>
              <a:spcAft>
                <a:spcPts val="0"/>
              </a:spcAft>
              <a:buAutoNum type="arabicPeriod"/>
            </a:pPr>
            <a:r>
              <a:rPr lang="en-US" sz="1500" b="1" dirty="0">
                <a:solidFill>
                  <a:srgbClr val="404040"/>
                </a:solidFill>
                <a:latin typeface="Century Gothic"/>
              </a:rPr>
              <a:t>Initialize MPI and determine process coordinates.</a:t>
            </a:r>
            <a:endParaRPr lang="en-US" sz="1500" dirty="0">
              <a:latin typeface="Century Gothic"/>
            </a:endParaRPr>
          </a:p>
          <a:p>
            <a:pPr>
              <a:spcBef>
                <a:spcPts val="1000"/>
              </a:spcBef>
              <a:spcAft>
                <a:spcPts val="0"/>
              </a:spcAft>
              <a:buAutoNum type="arabicPeriod"/>
            </a:pPr>
            <a:r>
              <a:rPr lang="en-US" sz="1500" b="1" dirty="0">
                <a:solidFill>
                  <a:srgbClr val="404040"/>
                </a:solidFill>
                <a:latin typeface="Century Gothic"/>
              </a:rPr>
              <a:t>Master creates and fills input matrices.</a:t>
            </a:r>
            <a:endParaRPr lang="en-US" sz="1500" dirty="0">
              <a:latin typeface="Century Gothic"/>
            </a:endParaRPr>
          </a:p>
          <a:p>
            <a:pPr>
              <a:spcBef>
                <a:spcPts val="1000"/>
              </a:spcBef>
              <a:spcAft>
                <a:spcPts val="0"/>
              </a:spcAft>
              <a:buAutoNum type="arabicPeriod"/>
            </a:pPr>
            <a:r>
              <a:rPr lang="en-US" sz="1500" b="1" dirty="0">
                <a:solidFill>
                  <a:srgbClr val="404040"/>
                </a:solidFill>
                <a:latin typeface="Century Gothic"/>
              </a:rPr>
              <a:t>Master divides matrices into sub-matrices.</a:t>
            </a:r>
            <a:endParaRPr lang="en-US" sz="1500" dirty="0">
              <a:latin typeface="Century Gothic"/>
            </a:endParaRPr>
          </a:p>
          <a:p>
            <a:pPr>
              <a:spcBef>
                <a:spcPts val="1000"/>
              </a:spcBef>
              <a:spcAft>
                <a:spcPts val="0"/>
              </a:spcAft>
              <a:buAutoNum type="arabicPeriod"/>
            </a:pPr>
            <a:r>
              <a:rPr lang="en-US" sz="1500" b="1" dirty="0">
                <a:solidFill>
                  <a:srgbClr val="404040"/>
                </a:solidFill>
                <a:latin typeface="Century Gothic"/>
              </a:rPr>
              <a:t>Master sends blocks to all processes.</a:t>
            </a:r>
            <a:endParaRPr lang="en-US" sz="1500" dirty="0">
              <a:latin typeface="Century Gothic"/>
            </a:endParaRPr>
          </a:p>
          <a:p>
            <a:pPr>
              <a:spcBef>
                <a:spcPts val="1000"/>
              </a:spcBef>
              <a:spcAft>
                <a:spcPts val="0"/>
              </a:spcAft>
              <a:buAutoNum type="arabicPeriod"/>
            </a:pPr>
            <a:r>
              <a:rPr lang="en-US" sz="1500" b="1" dirty="0">
                <a:solidFill>
                  <a:srgbClr val="404040"/>
                </a:solidFill>
                <a:latin typeface="Century Gothic"/>
              </a:rPr>
              <a:t>Create sub-communicators for DNS axes.</a:t>
            </a:r>
            <a:endParaRPr lang="en-US" sz="1500" dirty="0">
              <a:latin typeface="Century Gothic"/>
            </a:endParaRPr>
          </a:p>
          <a:p>
            <a:pPr>
              <a:spcBef>
                <a:spcPts val="1000"/>
              </a:spcBef>
              <a:spcAft>
                <a:spcPts val="0"/>
              </a:spcAft>
              <a:buAutoNum type="arabicPeriod"/>
            </a:pPr>
            <a:r>
              <a:rPr lang="en-US" sz="1500" b="1" dirty="0">
                <a:solidFill>
                  <a:srgbClr val="404040"/>
                </a:solidFill>
                <a:latin typeface="Century Gothic"/>
              </a:rPr>
              <a:t>Broadcast A and B blocks along k and </a:t>
            </a:r>
            <a:r>
              <a:rPr lang="en-US" sz="1500" b="1" dirty="0" err="1">
                <a:solidFill>
                  <a:srgbClr val="404040"/>
                </a:solidFill>
                <a:latin typeface="Century Gothic"/>
              </a:rPr>
              <a:t>i</a:t>
            </a:r>
            <a:r>
              <a:rPr lang="en-US" sz="1500" b="1" dirty="0">
                <a:solidFill>
                  <a:srgbClr val="404040"/>
                </a:solidFill>
                <a:latin typeface="Century Gothic"/>
              </a:rPr>
              <a:t> axis.</a:t>
            </a:r>
            <a:endParaRPr lang="en-US" sz="1500" dirty="0">
              <a:latin typeface="Century Gothic"/>
            </a:endParaRPr>
          </a:p>
          <a:p>
            <a:pPr>
              <a:spcBef>
                <a:spcPts val="1000"/>
              </a:spcBef>
              <a:spcAft>
                <a:spcPts val="0"/>
              </a:spcAft>
              <a:buAutoNum type="arabicPeriod"/>
            </a:pPr>
            <a:r>
              <a:rPr lang="en-US" sz="1500" b="1" dirty="0">
                <a:solidFill>
                  <a:srgbClr val="404040"/>
                </a:solidFill>
                <a:latin typeface="Century Gothic"/>
              </a:rPr>
              <a:t>Multiply local A and B blocks.</a:t>
            </a:r>
            <a:endParaRPr lang="en-US" sz="1500" dirty="0">
              <a:latin typeface="Century Gothic"/>
            </a:endParaRPr>
          </a:p>
          <a:p>
            <a:pPr>
              <a:spcBef>
                <a:spcPts val="1000"/>
              </a:spcBef>
              <a:spcAft>
                <a:spcPts val="0"/>
              </a:spcAft>
              <a:buAutoNum type="arabicPeriod"/>
            </a:pPr>
            <a:r>
              <a:rPr lang="en-US" sz="1500" b="1" dirty="0">
                <a:solidFill>
                  <a:srgbClr val="404040"/>
                </a:solidFill>
                <a:latin typeface="Century Gothic"/>
              </a:rPr>
              <a:t>Reduce C blocks along j-axis.</a:t>
            </a:r>
            <a:endParaRPr lang="en-US" sz="1500" dirty="0">
              <a:latin typeface="Century Gothic"/>
            </a:endParaRPr>
          </a:p>
          <a:p>
            <a:pPr>
              <a:spcBef>
                <a:spcPts val="1000"/>
              </a:spcBef>
              <a:spcAft>
                <a:spcPts val="0"/>
              </a:spcAft>
              <a:buAutoNum type="arabicPeriod"/>
            </a:pPr>
            <a:r>
              <a:rPr lang="en-US" sz="1500" b="1" dirty="0">
                <a:solidFill>
                  <a:srgbClr val="404040"/>
                </a:solidFill>
                <a:latin typeface="Century Gothic"/>
              </a:rPr>
              <a:t>Leaders send C blocks to root.</a:t>
            </a:r>
            <a:endParaRPr lang="en-US" sz="1500" dirty="0">
              <a:latin typeface="Century Gothic"/>
            </a:endParaRPr>
          </a:p>
          <a:p>
            <a:pPr>
              <a:spcBef>
                <a:spcPts val="1000"/>
              </a:spcBef>
              <a:spcAft>
                <a:spcPts val="0"/>
              </a:spcAft>
              <a:buAutoNum type="arabicPeriod"/>
            </a:pPr>
            <a:r>
              <a:rPr lang="en-US" sz="1500" b="1" dirty="0">
                <a:solidFill>
                  <a:srgbClr val="404040"/>
                </a:solidFill>
                <a:latin typeface="Century Gothic"/>
              </a:rPr>
              <a:t>Root assembles and prints result matrix.</a:t>
            </a:r>
            <a:endParaRPr lang="en-US" sz="1500" dirty="0">
              <a:latin typeface="Century Gothic"/>
            </a:endParaRPr>
          </a:p>
          <a:p>
            <a:pPr>
              <a:spcBef>
                <a:spcPts val="1000"/>
              </a:spcBef>
              <a:spcAft>
                <a:spcPts val="0"/>
              </a:spcAft>
              <a:buAutoNum type="arabicPeriod"/>
            </a:pPr>
            <a:r>
              <a:rPr lang="en-US" sz="1500" b="1" dirty="0">
                <a:solidFill>
                  <a:srgbClr val="404040"/>
                </a:solidFill>
                <a:latin typeface="Century Gothic"/>
              </a:rPr>
              <a:t>Free all memory and finalize MPI.</a:t>
            </a:r>
            <a:endParaRPr lang="en-US" sz="1500" dirty="0">
              <a:latin typeface="Century Gothic"/>
            </a:endParaRPr>
          </a:p>
          <a:p>
            <a:pPr>
              <a:spcBef>
                <a:spcPts val="1000"/>
              </a:spcBef>
              <a:spcAft>
                <a:spcPts val="0"/>
              </a:spcAft>
            </a:pPr>
            <a:endParaRPr lang="en-US" sz="1500" dirty="0">
              <a:latin typeface="Century Gothic"/>
            </a:endParaRPr>
          </a:p>
          <a:p>
            <a:endParaRPr lang="en-GB" dirty="0">
              <a:ea typeface="Calibri"/>
              <a:cs typeface="Calibri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D742F1-DD4F-5FF3-175E-B9BE94830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05.02.2025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EF57FF-5813-2B79-E577-B617FC8C7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7EE757-03CB-49A1-BD43-AE902812A82B}" type="slidenum">
              <a:rPr lang="de-DE" smtClean="0"/>
              <a:pPr>
                <a:defRPr/>
              </a:pPr>
              <a:t>15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668514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4F228-3D6A-E941-2203-6B88668AE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275167"/>
            <a:ext cx="7513384" cy="753533"/>
          </a:xfrm>
        </p:spPr>
        <p:txBody>
          <a:bodyPr/>
          <a:lstStyle/>
          <a:p>
            <a:pPr algn="ctr"/>
            <a:r>
              <a:rPr lang="en-US" sz="2800" b="0" dirty="0">
                <a:ea typeface="+mj-lt"/>
                <a:cs typeface="+mj-lt"/>
              </a:rPr>
              <a:t>Steps 1 &amp; 2: Initialization &amp; Matrix Creation</a:t>
            </a:r>
            <a:endParaRPr lang="en-US" b="0">
              <a:ea typeface="Calibri"/>
              <a:cs typeface="Calibri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73C00C-D0E6-230A-9A1D-6B43AC566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05.02.2025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EDD6EA-7E37-FBFA-663B-ED15CD19C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7EE757-03CB-49A1-BD43-AE902812A82B}" type="slidenum">
              <a:rPr lang="de-DE" smtClean="0"/>
              <a:pPr>
                <a:defRPr/>
              </a:pPr>
              <a:t>16</a:t>
            </a:fld>
            <a:endParaRPr lang="de-DE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F861FED-728F-B888-D0D3-041B7923CA42}"/>
              </a:ext>
            </a:extLst>
          </p:cNvPr>
          <p:cNvSpPr>
            <a:spLocks noGrp="1"/>
          </p:cNvSpPr>
          <p:nvPr/>
        </p:nvSpPr>
        <p:spPr>
          <a:xfrm>
            <a:off x="493472" y="1935445"/>
            <a:ext cx="5455326" cy="34163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Initialize MPI, get rank/size, and compute each process’s 3D grid position.</a:t>
            </a:r>
          </a:p>
        </p:txBody>
      </p:sp>
      <p:sp>
        <p:nvSpPr>
          <p:cNvPr id="7" name="Content Placeholder 14">
            <a:extLst>
              <a:ext uri="{FF2B5EF4-FFF2-40B4-BE49-F238E27FC236}">
                <a16:creationId xmlns:a16="http://schemas.microsoft.com/office/drawing/2014/main" id="{973AD009-18A0-B3D9-6549-D936E824EEDD}"/>
              </a:ext>
            </a:extLst>
          </p:cNvPr>
          <p:cNvSpPr>
            <a:spLocks noGrp="1"/>
          </p:cNvSpPr>
          <p:nvPr/>
        </p:nvSpPr>
        <p:spPr>
          <a:xfrm>
            <a:off x="6177397" y="1693482"/>
            <a:ext cx="5479705" cy="36582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The root process (rank 0) allocates memory for the full matrices A and B and fills them with random values for multiplication.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78E5870-1201-1669-FFF2-2DF00FBE26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777" y="2699239"/>
            <a:ext cx="4468906" cy="335851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97F6202-C1C7-CF7B-F45A-EDDB7D87EB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218" y="2992552"/>
            <a:ext cx="4413834" cy="71683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8CB30EC-41D3-DCED-ACB7-B310C326BD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219" y="3808502"/>
            <a:ext cx="4413834" cy="1009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65107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B01981-9231-CFFF-0AA1-3BB8B3F63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2D194-8FE9-CBA2-5271-79535A7C2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275167"/>
            <a:ext cx="7743028" cy="753533"/>
          </a:xfrm>
        </p:spPr>
        <p:txBody>
          <a:bodyPr/>
          <a:lstStyle/>
          <a:p>
            <a:pPr algn="ctr"/>
            <a:r>
              <a:rPr lang="en-US" sz="2800" b="0" dirty="0">
                <a:ea typeface="+mj-lt"/>
                <a:cs typeface="+mj-lt"/>
              </a:rPr>
              <a:t>Step 3 : Matrices into Sub-matrices/blocks </a:t>
            </a:r>
            <a:endParaRPr lang="en-US" dirty="0">
              <a:ea typeface="Calibri"/>
              <a:cs typeface="Calibri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737674-870D-7E43-E76D-60293E098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05.02.2025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D07BB0-294E-ECE5-52F8-C3FDC19C7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7EE757-03CB-49A1-BD43-AE902812A82B}" type="slidenum">
              <a:rPr lang="de-DE" smtClean="0"/>
              <a:pPr>
                <a:defRPr/>
              </a:pPr>
              <a:t>17</a:t>
            </a:fld>
            <a:endParaRPr lang="de-DE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841D32D-0BFB-D634-BE8A-A69B8E6DCDE2}"/>
              </a:ext>
            </a:extLst>
          </p:cNvPr>
          <p:cNvSpPr>
            <a:spLocks noGrp="1"/>
          </p:cNvSpPr>
          <p:nvPr/>
        </p:nvSpPr>
        <p:spPr>
          <a:xfrm>
            <a:off x="493472" y="1935445"/>
            <a:ext cx="5455326" cy="34163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Initialize MPI, get rank/size, and compute each process’s 3D grid position.</a:t>
            </a:r>
          </a:p>
        </p:txBody>
      </p:sp>
      <p:sp>
        <p:nvSpPr>
          <p:cNvPr id="7" name="Content Placeholder 14">
            <a:extLst>
              <a:ext uri="{FF2B5EF4-FFF2-40B4-BE49-F238E27FC236}">
                <a16:creationId xmlns:a16="http://schemas.microsoft.com/office/drawing/2014/main" id="{C6C10DFB-D2DE-C7B2-BF0C-DC9B98AD0DAB}"/>
              </a:ext>
            </a:extLst>
          </p:cNvPr>
          <p:cNvSpPr>
            <a:spLocks noGrp="1"/>
          </p:cNvSpPr>
          <p:nvPr/>
        </p:nvSpPr>
        <p:spPr>
          <a:xfrm>
            <a:off x="6177397" y="1693482"/>
            <a:ext cx="5479705" cy="36582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The root process (rank 0) allocates memory for the full matrices A and B and fills them with random values for multiplication.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62EEB32-A677-B966-D8D6-CA32E84283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777" y="2699239"/>
            <a:ext cx="4468906" cy="335851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6B30EC6-821F-286E-5F45-704BD9F6AB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218" y="2992552"/>
            <a:ext cx="4413834" cy="71683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7499E68-3E23-5B94-C7DA-745739C2E5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219" y="3808502"/>
            <a:ext cx="4413834" cy="1009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6763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CBD20-1540-3ED8-8C8A-F416A885B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275167"/>
            <a:ext cx="7429877" cy="753533"/>
          </a:xfrm>
        </p:spPr>
        <p:txBody>
          <a:bodyPr/>
          <a:lstStyle/>
          <a:p>
            <a:r>
              <a:rPr lang="en-GB" sz="3200" b="0" dirty="0">
                <a:ea typeface="+mj-lt"/>
                <a:cs typeface="+mj-lt"/>
              </a:rPr>
              <a:t>Difference between Task A and Task B </a:t>
            </a:r>
            <a:endParaRPr lang="en-US" sz="3200">
              <a:ea typeface="Calibri"/>
              <a:cs typeface="Calibri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6C5D98-12FD-57E5-FEE2-4DB767780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05.02.2025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8314D3-4919-7C5C-100D-61A26A14A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7EE757-03CB-49A1-BD43-AE902812A82B}" type="slidenum">
              <a:rPr lang="de-DE" smtClean="0"/>
              <a:pPr>
                <a:defRPr/>
              </a:pPr>
              <a:t>18</a:t>
            </a:fld>
            <a:endParaRPr lang="de-DE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243B25C-9EF9-60B1-2B27-58F5BC238C85}"/>
              </a:ext>
            </a:extLst>
          </p:cNvPr>
          <p:cNvSpPr>
            <a:spLocks noGrp="1"/>
          </p:cNvSpPr>
          <p:nvPr/>
        </p:nvSpPr>
        <p:spPr>
          <a:xfrm>
            <a:off x="285782" y="2125795"/>
            <a:ext cx="4999357" cy="34515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Task A distributes individuals elements to the processes.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Task B distributes sub-matrices/blocks to the processes.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BEBC43C-269C-46DD-D8FC-715BFD52D2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3795" y="2372978"/>
            <a:ext cx="6020794" cy="2487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8745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036A8-06E0-1823-622D-7E03897F35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275167"/>
            <a:ext cx="7189795" cy="753533"/>
          </a:xfrm>
        </p:spPr>
        <p:txBody>
          <a:bodyPr/>
          <a:lstStyle/>
          <a:p>
            <a:r>
              <a:rPr lang="en-GB" b="0" dirty="0">
                <a:ea typeface="+mj-lt"/>
                <a:cs typeface="+mj-lt"/>
              </a:rPr>
              <a:t>Step 4: Sending blocks to processes 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EAB2B0-F748-34FD-B65B-66E75BB20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05.02.2025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9BF22F-A2A8-BB3C-7E8D-3801073A6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7EE757-03CB-49A1-BD43-AE902812A82B}" type="slidenum">
              <a:rPr lang="de-DE" smtClean="0"/>
              <a:pPr>
                <a:defRPr/>
              </a:pPr>
              <a:t>19</a:t>
            </a:fld>
            <a:endParaRPr lang="de-DE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E9E0980-01A2-383E-5053-375792B92889}"/>
              </a:ext>
            </a:extLst>
          </p:cNvPr>
          <p:cNvSpPr>
            <a:spLocks noGrp="1"/>
          </p:cNvSpPr>
          <p:nvPr/>
        </p:nvSpPr>
        <p:spPr>
          <a:xfrm>
            <a:off x="701748" y="1717337"/>
            <a:ext cx="11171582" cy="36344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The root process (node 0) sends each process its corresponding A and B blocks using </a:t>
            </a:r>
            <a:r>
              <a:rPr lang="en-US" b="1" dirty="0" err="1"/>
              <a:t>MPI_Send</a:t>
            </a:r>
            <a:r>
              <a:rPr lang="en-US" dirty="0"/>
              <a:t>. All other processes receive their blocks with </a:t>
            </a:r>
            <a:r>
              <a:rPr lang="en-US" b="1" dirty="0" err="1"/>
              <a:t>MPI_Recv</a:t>
            </a:r>
            <a:r>
              <a:rPr lang="en-US" dirty="0"/>
              <a:t>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3077C2A-D019-65C2-B99F-0516130475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8782" y="2569368"/>
            <a:ext cx="8817513" cy="3258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6229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8E9F9-31E5-B074-5EE3-AD5B5C2DD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396" y="275167"/>
            <a:ext cx="7388123" cy="753533"/>
          </a:xfrm>
        </p:spPr>
        <p:txBody>
          <a:bodyPr/>
          <a:lstStyle/>
          <a:p>
            <a:r>
              <a:rPr lang="en-GB" b="0" dirty="0">
                <a:ea typeface="+mj-lt"/>
                <a:cs typeface="+mj-lt"/>
              </a:rPr>
              <a:t>Step 4: Sending blocks to processes 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E56FEE-79F8-9295-C140-51CB97813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05.02.2025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501333-9D14-2F78-0D4C-F9CE0D283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7EE757-03CB-49A1-BD43-AE902812A82B}" type="slidenum">
              <a:rPr lang="de-DE" smtClean="0"/>
              <a:pPr>
                <a:defRPr/>
              </a:pPr>
              <a:t>20</a:t>
            </a:fld>
            <a:endParaRPr lang="de-D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C52208C-FB46-D88D-D191-D30AD78E7C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558" y="1917391"/>
            <a:ext cx="5722538" cy="351394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F429F21-5AE1-7D5F-26B0-3D23BD8906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1920" y="1913683"/>
            <a:ext cx="5728576" cy="3517656"/>
          </a:xfrm>
          <a:prstGeom prst="rect">
            <a:avLst/>
          </a:prstGeom>
        </p:spPr>
      </p:pic>
      <p:sp>
        <p:nvSpPr>
          <p:cNvPr id="8" name="TextBox 5">
            <a:extLst>
              <a:ext uri="{FF2B5EF4-FFF2-40B4-BE49-F238E27FC236}">
                <a16:creationId xmlns:a16="http://schemas.microsoft.com/office/drawing/2014/main" id="{C32589C6-69AD-A70F-E54D-12F6E0CDAD48}"/>
              </a:ext>
            </a:extLst>
          </p:cNvPr>
          <p:cNvSpPr txBox="1"/>
          <p:nvPr/>
        </p:nvSpPr>
        <p:spPr>
          <a:xfrm>
            <a:off x="1505541" y="1536087"/>
            <a:ext cx="25988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3D Visualization</a:t>
            </a:r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2678A387-5569-1A4C-A2FD-3EF0AECFEF6B}"/>
              </a:ext>
            </a:extLst>
          </p:cNvPr>
          <p:cNvSpPr txBox="1"/>
          <p:nvPr/>
        </p:nvSpPr>
        <p:spPr>
          <a:xfrm>
            <a:off x="7673730" y="1536087"/>
            <a:ext cx="25988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2D Visualization</a:t>
            </a:r>
          </a:p>
        </p:txBody>
      </p:sp>
      <p:sp>
        <p:nvSpPr>
          <p:cNvPr id="10" name="TextBox 7">
            <a:extLst>
              <a:ext uri="{FF2B5EF4-FFF2-40B4-BE49-F238E27FC236}">
                <a16:creationId xmlns:a16="http://schemas.microsoft.com/office/drawing/2014/main" id="{4D9E7DFB-BE68-EDD7-95FE-56FBFDD0FFC0}"/>
              </a:ext>
            </a:extLst>
          </p:cNvPr>
          <p:cNvSpPr txBox="1"/>
          <p:nvPr/>
        </p:nvSpPr>
        <p:spPr>
          <a:xfrm>
            <a:off x="223558" y="5570676"/>
            <a:ext cx="117269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2 MPI methods are running at this point </a:t>
            </a:r>
            <a:r>
              <a:rPr lang="en-US" dirty="0" err="1"/>
              <a:t>MPI_Send</a:t>
            </a:r>
            <a:r>
              <a:rPr lang="en-US" dirty="0"/>
              <a:t> and </a:t>
            </a:r>
            <a:r>
              <a:rPr lang="en-US" dirty="0" err="1"/>
              <a:t>MPI_Receive</a:t>
            </a:r>
            <a:r>
              <a:rPr lang="en-US" dirty="0"/>
              <a:t>. Node 0 is on sending mode and All others are receiving mode.</a:t>
            </a:r>
          </a:p>
        </p:txBody>
      </p:sp>
    </p:spTree>
    <p:extLst>
      <p:ext uri="{BB962C8B-B14F-4D97-AF65-F5344CB8AC3E}">
        <p14:creationId xmlns:p14="http://schemas.microsoft.com/office/powerpoint/2010/main" val="32374437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BA6E6-A1F4-BDD3-73E4-1F71AAFF3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275167"/>
            <a:ext cx="7283740" cy="753533"/>
          </a:xfrm>
        </p:spPr>
        <p:txBody>
          <a:bodyPr/>
          <a:lstStyle/>
          <a:p>
            <a:r>
              <a:rPr lang="en-GB" b="0" dirty="0">
                <a:ea typeface="+mj-lt"/>
                <a:cs typeface="+mj-lt"/>
              </a:rPr>
              <a:t>Step 4: Sending blocks to processes 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505F1A-6DA8-729D-1823-0BA7A39B92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05.02.2025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634D96-9371-8424-458C-3D639EE43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7EE757-03CB-49A1-BD43-AE902812A82B}" type="slidenum">
              <a:rPr lang="de-DE" smtClean="0"/>
              <a:pPr>
                <a:defRPr/>
              </a:pPr>
              <a:t>21</a:t>
            </a:fld>
            <a:endParaRPr lang="de-DE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D31FA4-4735-5988-D22D-6C78C6B6E382}"/>
              </a:ext>
            </a:extLst>
          </p:cNvPr>
          <p:cNvSpPr txBox="1"/>
          <p:nvPr/>
        </p:nvSpPr>
        <p:spPr>
          <a:xfrm>
            <a:off x="639267" y="2608600"/>
            <a:ext cx="3242049" cy="24160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000"/>
              </a:spcBef>
              <a:buClr>
                <a:schemeClr val="accent1"/>
              </a:buClr>
              <a:buSzPct val="80000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There is a problem here: wait for late sender. </a:t>
            </a:r>
          </a:p>
          <a:p>
            <a:pPr marL="342900" indent="-342900"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42900" indent="-342900"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Why this problem?</a:t>
            </a:r>
          </a:p>
          <a:p>
            <a:pPr>
              <a:spcBef>
                <a:spcPts val="1000"/>
              </a:spcBef>
              <a:buClr>
                <a:schemeClr val="accent1"/>
              </a:buClr>
              <a:buSzPct val="80000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because every node is waiting for node 0 to distribute data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919145C-3D7F-9EE5-99B0-E1308F2967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8531" y="1686362"/>
            <a:ext cx="7172366" cy="4404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9001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86ED8-F8A9-038F-EC17-419BBCB73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410" y="275167"/>
            <a:ext cx="7544698" cy="753533"/>
          </a:xfrm>
        </p:spPr>
        <p:txBody>
          <a:bodyPr/>
          <a:lstStyle/>
          <a:p>
            <a:r>
              <a:rPr lang="en-GB" b="0" dirty="0">
                <a:ea typeface="+mj-lt"/>
                <a:cs typeface="+mj-lt"/>
              </a:rPr>
              <a:t>Step 5: Creating Sub-communicators 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E3CB99-CA54-238E-0AC1-8CA616689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05.02.2025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4FEE94-24BA-11EB-6A17-16E30396F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7EE757-03CB-49A1-BD43-AE902812A82B}" type="slidenum">
              <a:rPr lang="de-DE" smtClean="0"/>
              <a:pPr>
                <a:defRPr/>
              </a:pPr>
              <a:t>22</a:t>
            </a:fld>
            <a:endParaRPr lang="de-DE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CB1D026-E3E7-5153-88D7-2B6E232C9CA3}"/>
              </a:ext>
            </a:extLst>
          </p:cNvPr>
          <p:cNvSpPr>
            <a:spLocks noGrp="1"/>
          </p:cNvSpPr>
          <p:nvPr/>
        </p:nvSpPr>
        <p:spPr>
          <a:xfrm>
            <a:off x="545172" y="1851938"/>
            <a:ext cx="11290853" cy="409945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Processes are grouped into sub-communicators along each axis (k, </a:t>
            </a:r>
            <a:r>
              <a:rPr lang="en-US" dirty="0" err="1"/>
              <a:t>i</a:t>
            </a:r>
            <a:r>
              <a:rPr lang="en-US" dirty="0"/>
              <a:t>, and (</a:t>
            </a:r>
            <a:r>
              <a:rPr lang="en-US" dirty="0" err="1"/>
              <a:t>i,k</a:t>
            </a:r>
            <a:r>
              <a:rPr lang="en-US" dirty="0"/>
              <a:t>)) using </a:t>
            </a:r>
            <a:r>
              <a:rPr lang="en-US" b="1" dirty="0" err="1"/>
              <a:t>MPI_Comm_split</a:t>
            </a:r>
            <a:r>
              <a:rPr lang="en-US" dirty="0"/>
              <a:t>, enabling efficient collective communication for DNS.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Why:</a:t>
            </a:r>
          </a:p>
          <a:p>
            <a:pPr marL="0" indent="0">
              <a:buNone/>
            </a:pPr>
            <a:r>
              <a:rPr lang="en-US" dirty="0"/>
              <a:t>Sub-communicators allow for targeted broadcasts and reductions, matching the DNS algorithm’s communication pattern.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CC89CEE-CF39-3B39-A0C8-DD1777806A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1230" y="2787321"/>
            <a:ext cx="4992123" cy="1666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07183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91B4C-5DFA-0397-5BBA-058BDD3EF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0" dirty="0">
                <a:ea typeface="+mj-lt"/>
                <a:cs typeface="+mj-lt"/>
              </a:rPr>
              <a:t>Step 6: Broadcasting blocks 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C56956-4F57-3CBC-A345-5946A4DEA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05.02.2025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1DFF8D-6DE9-4750-66FC-590BADBEB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7EE757-03CB-49A1-BD43-AE902812A82B}" type="slidenum">
              <a:rPr lang="de-DE" smtClean="0"/>
              <a:pPr>
                <a:defRPr/>
              </a:pPr>
              <a:t>23</a:t>
            </a:fld>
            <a:endParaRPr lang="de-DE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313E26D-CC33-014D-62D8-2EFFCB25AE40}"/>
              </a:ext>
            </a:extLst>
          </p:cNvPr>
          <p:cNvSpPr>
            <a:spLocks noGrp="1"/>
          </p:cNvSpPr>
          <p:nvPr/>
        </p:nvSpPr>
        <p:spPr>
          <a:xfrm>
            <a:off x="1290653" y="2029390"/>
            <a:ext cx="9770138" cy="39086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Broadcast A blocks along k-axis.</a:t>
            </a:r>
          </a:p>
          <a:p>
            <a:pPr marL="0" indent="0">
              <a:buNone/>
            </a:pPr>
            <a:r>
              <a:rPr lang="en-US" dirty="0"/>
              <a:t>Each (</a:t>
            </a:r>
            <a:r>
              <a:rPr lang="en-US" dirty="0" err="1"/>
              <a:t>i</a:t>
            </a:r>
            <a:r>
              <a:rPr lang="en-US" dirty="0"/>
              <a:t>, j) Broadcasts its A block among all k processes using </a:t>
            </a:r>
            <a:r>
              <a:rPr lang="en-US" b="1" dirty="0" err="1"/>
              <a:t>MPI_Bcast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Broadcast B blocks along </a:t>
            </a:r>
            <a:r>
              <a:rPr lang="en-US" dirty="0" err="1"/>
              <a:t>i</a:t>
            </a:r>
            <a:r>
              <a:rPr lang="en-US" dirty="0"/>
              <a:t>-axis.</a:t>
            </a:r>
          </a:p>
          <a:p>
            <a:pPr marL="0" indent="0">
              <a:buNone/>
            </a:pPr>
            <a:r>
              <a:rPr lang="en-US" dirty="0"/>
              <a:t>Each (j, k) Broadcasts its B block among all </a:t>
            </a:r>
            <a:r>
              <a:rPr lang="en-US" dirty="0" err="1"/>
              <a:t>i</a:t>
            </a:r>
            <a:r>
              <a:rPr lang="en-US" dirty="0"/>
              <a:t> processes using </a:t>
            </a:r>
            <a:r>
              <a:rPr lang="en-US" b="1" dirty="0" err="1"/>
              <a:t>MPI_Bcast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DB26E86-A7C4-C1A3-30F8-793BDC484A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4856" y="3112065"/>
            <a:ext cx="4989095" cy="57686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C0F629D-E89C-F820-2C42-1A6FCF0D8E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9106" y="5163977"/>
            <a:ext cx="4924845" cy="54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31465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117C3-F328-C8FE-918E-31A93ECF7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0" dirty="0">
                <a:ea typeface="+mj-lt"/>
                <a:cs typeface="+mj-lt"/>
              </a:rPr>
              <a:t>Step 6: Broadcasting blocks 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DA9EBD-BF03-EC18-E568-CF052FDE1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05.02.2025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02A481-51F5-A2E2-1153-FA8EF0531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7EE757-03CB-49A1-BD43-AE902812A82B}" type="slidenum">
              <a:rPr lang="de-DE" smtClean="0"/>
              <a:pPr>
                <a:defRPr/>
              </a:pPr>
              <a:t>24</a:t>
            </a:fld>
            <a:endParaRPr lang="de-DE"/>
          </a:p>
        </p:txBody>
      </p:sp>
      <p:sp>
        <p:nvSpPr>
          <p:cNvPr id="6" name="TextBox 7">
            <a:extLst>
              <a:ext uri="{FF2B5EF4-FFF2-40B4-BE49-F238E27FC236}">
                <a16:creationId xmlns:a16="http://schemas.microsoft.com/office/drawing/2014/main" id="{F5796F5A-F9B1-086F-CEA9-5F6E358B2D43}"/>
              </a:ext>
            </a:extLst>
          </p:cNvPr>
          <p:cNvSpPr txBox="1"/>
          <p:nvPr/>
        </p:nvSpPr>
        <p:spPr>
          <a:xfrm>
            <a:off x="390393" y="2690239"/>
            <a:ext cx="387416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 err="1"/>
              <a:t>MPI_Bcast</a:t>
            </a:r>
            <a:r>
              <a:rPr lang="en-US" dirty="0"/>
              <a:t> method is running at this point. </a:t>
            </a:r>
          </a:p>
          <a:p>
            <a:endParaRPr lang="en-US" dirty="0"/>
          </a:p>
          <a:p>
            <a:r>
              <a:rPr lang="en-US" dirty="0"/>
              <a:t>This is a collective communication routine. Data is broadcasted collectively on all nodes.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D887DE3-EB70-597A-3364-6095A5A020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3784" y="1688214"/>
            <a:ext cx="6987423" cy="4290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6524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CEA77-F346-1301-5CE0-5EBBF67D0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0" dirty="0">
                <a:ea typeface="+mj-lt"/>
                <a:cs typeface="+mj-lt"/>
              </a:rPr>
              <a:t>Step 7: Multiplying local blocks 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EA3672-1DD7-F5C1-711F-6003A65DB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05.02.2025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B4E9D8-C3E8-D1A5-5141-E0C354639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7EE757-03CB-49A1-BD43-AE902812A82B}" type="slidenum">
              <a:rPr lang="de-DE" smtClean="0"/>
              <a:pPr>
                <a:defRPr/>
              </a:pPr>
              <a:t>25</a:t>
            </a:fld>
            <a:endParaRPr lang="de-DE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E815AF1-2895-D6E5-B23C-70EA98AC44AE}"/>
              </a:ext>
            </a:extLst>
          </p:cNvPr>
          <p:cNvSpPr>
            <a:spLocks noGrp="1"/>
          </p:cNvSpPr>
          <p:nvPr/>
        </p:nvSpPr>
        <p:spPr>
          <a:xfrm>
            <a:off x="451228" y="2071144"/>
            <a:ext cx="11219290" cy="34163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Each process multiplies its local A and B blocks to compute C block using standard block matrix multiplication.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58807C0-3A59-34B1-EBEC-E1772AD33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351" y="3327023"/>
            <a:ext cx="11227167" cy="1723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2334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BFCC4-7FD6-4BC7-E9CA-6244F9777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0" dirty="0">
                <a:ea typeface="+mj-lt"/>
                <a:cs typeface="+mj-lt"/>
              </a:rPr>
              <a:t>Step 8: Reducing blocks 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87C611-E48E-1CE5-3ED0-1591C683C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05.02.2025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F04149-E4F7-129E-F3FA-F61CA33F8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7EE757-03CB-49A1-BD43-AE902812A82B}" type="slidenum">
              <a:rPr lang="de-DE" smtClean="0"/>
              <a:pPr>
                <a:defRPr/>
              </a:pPr>
              <a:t>26</a:t>
            </a:fld>
            <a:endParaRPr lang="de-DE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6B9EE52-4D76-407D-A159-906EA4A1FEDE}"/>
              </a:ext>
            </a:extLst>
          </p:cNvPr>
          <p:cNvSpPr>
            <a:spLocks noGrp="1"/>
          </p:cNvSpPr>
          <p:nvPr/>
        </p:nvSpPr>
        <p:spPr>
          <a:xfrm>
            <a:off x="524296" y="1872815"/>
            <a:ext cx="11155680" cy="34163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Partial C blocks are summed across the j-axis using </a:t>
            </a:r>
            <a:r>
              <a:rPr lang="en-US" b="1" dirty="0" err="1"/>
              <a:t>MPI_Reduce</a:t>
            </a:r>
            <a:r>
              <a:rPr lang="en-US" dirty="0"/>
              <a:t> to get the final block for each (</a:t>
            </a:r>
            <a:r>
              <a:rPr lang="en-US" dirty="0" err="1"/>
              <a:t>i</a:t>
            </a:r>
            <a:r>
              <a:rPr lang="en-US" dirty="0"/>
              <a:t>, k).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CE5F759-A414-9C55-F4B0-3124274D68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7723" y="3117916"/>
            <a:ext cx="9648825" cy="200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698029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927C2-EF61-B4CB-6336-2C8264C8A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0" dirty="0">
                <a:ea typeface="+mj-lt"/>
                <a:cs typeface="+mj-lt"/>
              </a:rPr>
              <a:t>Step 8: Reducing blocks </a:t>
            </a:r>
            <a:endParaRPr lang="en-US" dirty="0">
              <a:ea typeface="+mj-lt"/>
              <a:cs typeface="+mj-lt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AB70D9-47F6-08FE-C66B-CE27DF2CB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05.02.2025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AC2654-48F7-B072-E4AA-7B5E75B32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7EE757-03CB-49A1-BD43-AE902812A82B}" type="slidenum">
              <a:rPr lang="de-DE" smtClean="0"/>
              <a:pPr>
                <a:defRPr/>
              </a:pPr>
              <a:t>27</a:t>
            </a:fld>
            <a:endParaRPr lang="de-DE"/>
          </a:p>
        </p:txBody>
      </p:sp>
      <p:sp>
        <p:nvSpPr>
          <p:cNvPr id="13" name="TextBox 5">
            <a:extLst>
              <a:ext uri="{FF2B5EF4-FFF2-40B4-BE49-F238E27FC236}">
                <a16:creationId xmlns:a16="http://schemas.microsoft.com/office/drawing/2014/main" id="{699FC123-EBFA-3044-D795-3DEA79A9A2A4}"/>
              </a:ext>
            </a:extLst>
          </p:cNvPr>
          <p:cNvSpPr txBox="1"/>
          <p:nvPr/>
        </p:nvSpPr>
        <p:spPr>
          <a:xfrm>
            <a:off x="1505541" y="1582785"/>
            <a:ext cx="25988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3D Visualization</a:t>
            </a:r>
          </a:p>
        </p:txBody>
      </p:sp>
      <p:sp>
        <p:nvSpPr>
          <p:cNvPr id="14" name="TextBox 6">
            <a:extLst>
              <a:ext uri="{FF2B5EF4-FFF2-40B4-BE49-F238E27FC236}">
                <a16:creationId xmlns:a16="http://schemas.microsoft.com/office/drawing/2014/main" id="{14D0E2E7-30DB-5408-E49E-5B7429DDA6F8}"/>
              </a:ext>
            </a:extLst>
          </p:cNvPr>
          <p:cNvSpPr txBox="1"/>
          <p:nvPr/>
        </p:nvSpPr>
        <p:spPr>
          <a:xfrm>
            <a:off x="7673730" y="1622890"/>
            <a:ext cx="25988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2D Visualization</a:t>
            </a:r>
          </a:p>
        </p:txBody>
      </p:sp>
      <p:sp>
        <p:nvSpPr>
          <p:cNvPr id="15" name="TextBox 7">
            <a:extLst>
              <a:ext uri="{FF2B5EF4-FFF2-40B4-BE49-F238E27FC236}">
                <a16:creationId xmlns:a16="http://schemas.microsoft.com/office/drawing/2014/main" id="{17C45551-B965-BDF0-F027-27A4802372A4}"/>
              </a:ext>
            </a:extLst>
          </p:cNvPr>
          <p:cNvSpPr txBox="1"/>
          <p:nvPr/>
        </p:nvSpPr>
        <p:spPr>
          <a:xfrm>
            <a:off x="224742" y="5603030"/>
            <a:ext cx="117269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dirty="0"/>
              <a:t>Node 0 is primarily receiving the data because of </a:t>
            </a:r>
            <a:r>
              <a:rPr lang="en-US" sz="1400" b="1" dirty="0" err="1"/>
              <a:t>MPI_Receive</a:t>
            </a:r>
            <a:r>
              <a:rPr lang="en-US" sz="1400" dirty="0"/>
              <a:t> and all other nodes are sending data to node 0 because of </a:t>
            </a:r>
            <a:r>
              <a:rPr lang="en-US" sz="1400" b="1" dirty="0" err="1"/>
              <a:t>MPI_Send</a:t>
            </a:r>
            <a:r>
              <a:rPr lang="en-US" sz="1400" b="1" dirty="0"/>
              <a:t>.</a:t>
            </a:r>
          </a:p>
          <a:p>
            <a:pPr algn="ctr"/>
            <a:r>
              <a:rPr lang="en-US" sz="1400" dirty="0"/>
              <a:t>We can see that some of nodes are still red this is because of </a:t>
            </a:r>
            <a:r>
              <a:rPr lang="en-US" sz="1400" b="1" dirty="0" err="1"/>
              <a:t>MPI_Reduce</a:t>
            </a:r>
            <a:r>
              <a:rPr lang="en-US" sz="1400" dirty="0"/>
              <a:t>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539F543-5DED-055C-BC95-624A8B357D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741" y="1980858"/>
            <a:ext cx="5726205" cy="35162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83DB5AC-C52D-2234-7EDB-A14799F7B8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5982" y="1996900"/>
            <a:ext cx="5704513" cy="350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50739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86CE7-7837-F390-F079-07EF35F22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067" y="275167"/>
            <a:ext cx="8056178" cy="753533"/>
          </a:xfrm>
        </p:spPr>
        <p:txBody>
          <a:bodyPr/>
          <a:lstStyle/>
          <a:p>
            <a:r>
              <a:rPr lang="en-GB" sz="3200" b="0" dirty="0">
                <a:ea typeface="+mj-lt"/>
                <a:cs typeface="+mj-lt"/>
              </a:rPr>
              <a:t>Steps 9 &amp; 10: Sending C blocks to root process </a:t>
            </a:r>
            <a:endParaRPr lang="en-US" sz="3200">
              <a:ea typeface="Calibri"/>
              <a:cs typeface="Calibri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34372B-E3A4-DE3B-6FB8-3CB59C3DCC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05.02.2025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F883AD-863D-181E-76D8-686637218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7EE757-03CB-49A1-BD43-AE902812A82B}" type="slidenum">
              <a:rPr lang="de-DE" smtClean="0"/>
              <a:pPr>
                <a:defRPr/>
              </a:pPr>
              <a:t>28</a:t>
            </a:fld>
            <a:endParaRPr lang="de-DE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AE391FB-0F53-5632-3757-7F40E2E3DD38}"/>
              </a:ext>
            </a:extLst>
          </p:cNvPr>
          <p:cNvSpPr>
            <a:spLocks noGrp="1"/>
          </p:cNvSpPr>
          <p:nvPr/>
        </p:nvSpPr>
        <p:spPr>
          <a:xfrm>
            <a:off x="424886" y="1814749"/>
            <a:ext cx="4556098" cy="41426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Each (</a:t>
            </a:r>
            <a:r>
              <a:rPr lang="en-US" dirty="0" err="1"/>
              <a:t>i</a:t>
            </a:r>
            <a:r>
              <a:rPr lang="en-US" dirty="0"/>
              <a:t>, k) leader sends its final C block to the root process for assembly.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The root process collects all C blocks and assembles them into the full result matrix, then prints it.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A15028F-6AF8-4EA7-6C9F-9C9AB095F9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3424" y="1932416"/>
            <a:ext cx="6670509" cy="37009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AFA61F6-C375-DEF7-F071-C4C8789031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3425" y="2438803"/>
            <a:ext cx="6670508" cy="3672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317090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01886-8F10-8FF7-1F58-F23D1F596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0" dirty="0">
                <a:ea typeface="+mj-lt"/>
                <a:cs typeface="+mj-lt"/>
              </a:rPr>
              <a:t>Step 11: Finalize 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117C6C-7FAE-EF27-0860-40DCD0026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05.02.2025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C22852-7F81-413C-A2FC-18B2474C6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7EE757-03CB-49A1-BD43-AE902812A82B}" type="slidenum">
              <a:rPr lang="de-DE" smtClean="0"/>
              <a:pPr>
                <a:defRPr/>
              </a:pPr>
              <a:t>29</a:t>
            </a:fld>
            <a:endParaRPr lang="de-DE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0D37249-58BD-EF60-CB39-F42088548CAB}"/>
              </a:ext>
            </a:extLst>
          </p:cNvPr>
          <p:cNvSpPr>
            <a:spLocks noGrp="1"/>
          </p:cNvSpPr>
          <p:nvPr/>
        </p:nvSpPr>
        <p:spPr>
          <a:xfrm>
            <a:off x="1238461" y="1632732"/>
            <a:ext cx="9980684" cy="47858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All processes free their allocated memory and communicators, then finalize the MPI environment.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Why ?</a:t>
            </a:r>
          </a:p>
          <a:p>
            <a:pPr marL="0" indent="0">
              <a:buNone/>
            </a:pPr>
            <a:r>
              <a:rPr lang="en-US" dirty="0"/>
              <a:t>       If we don’t use </a:t>
            </a:r>
            <a:r>
              <a:rPr lang="en-US" dirty="0" err="1"/>
              <a:t>MPI_Finalize</a:t>
            </a:r>
            <a:r>
              <a:rPr lang="en-US" dirty="0"/>
              <a:t>, the MPI program may not end properly, and it can lead </a:t>
            </a:r>
          </a:p>
          <a:p>
            <a:pPr marL="0" indent="0">
              <a:buNone/>
            </a:pPr>
            <a:r>
              <a:rPr lang="en-US" dirty="0"/>
              <a:t>       to memory leaks or unexpected behavior.</a:t>
            </a:r>
          </a:p>
          <a:p>
            <a:pPr marL="0" indent="0">
              <a:buNone/>
            </a:pPr>
            <a:r>
              <a:rPr lang="en-US" dirty="0"/>
              <a:t>     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EE01546-EEB8-B6B4-09FF-1A8C8955FE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9260" y="2526495"/>
            <a:ext cx="2867025" cy="1628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610741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70CD2-94FD-8695-5034-F0FCB22998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0" dirty="0">
                <a:ea typeface="+mj-lt"/>
                <a:cs typeface="+mj-lt"/>
              </a:rPr>
              <a:t>DNS VS Row Matrix 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A85874-FA89-DD8B-0EC5-E50171CA2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05.02.2025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106FE9-439F-1E6B-9625-BA247FA55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7EE757-03CB-49A1-BD43-AE902812A82B}" type="slidenum">
              <a:rPr lang="de-DE" smtClean="0"/>
              <a:pPr>
                <a:defRPr/>
              </a:pPr>
              <a:t>30</a:t>
            </a:fld>
            <a:endParaRPr lang="de-DE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59B03CB-AB1D-4927-ED1D-C6E723E4DDDB}"/>
              </a:ext>
            </a:extLst>
          </p:cNvPr>
          <p:cNvSpPr>
            <a:spLocks noGrp="1"/>
          </p:cNvSpPr>
          <p:nvPr/>
        </p:nvSpPr>
        <p:spPr>
          <a:xfrm>
            <a:off x="1033869" y="1408467"/>
            <a:ext cx="4431199" cy="3803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/>
              <a:t>Small Ranks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88A1D35E-A4B3-6492-6E5B-E436F3E9F256}"/>
              </a:ext>
            </a:extLst>
          </p:cNvPr>
          <p:cNvSpPr>
            <a:spLocks noGrp="1"/>
          </p:cNvSpPr>
          <p:nvPr/>
        </p:nvSpPr>
        <p:spPr>
          <a:xfrm>
            <a:off x="6663823" y="1446370"/>
            <a:ext cx="4825159" cy="3803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/>
              <a:t>Large Ranks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4890BD0-7777-D107-D303-CCA8B91DC7B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34" t="5448" r="6567"/>
          <a:stretch/>
        </p:blipFill>
        <p:spPr>
          <a:xfrm>
            <a:off x="124880" y="1858952"/>
            <a:ext cx="5791030" cy="340246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CD29165-2F87-A834-C82C-6A486E5FCBA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82" r="7193"/>
          <a:stretch/>
        </p:blipFill>
        <p:spPr>
          <a:xfrm>
            <a:off x="5915910" y="1825702"/>
            <a:ext cx="5963167" cy="3484406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63B88F2-5F1F-0544-A9C3-772E9CCE9D37}"/>
              </a:ext>
            </a:extLst>
          </p:cNvPr>
          <p:cNvSpPr txBox="1">
            <a:spLocks/>
          </p:cNvSpPr>
          <p:nvPr/>
        </p:nvSpPr>
        <p:spPr>
          <a:xfrm>
            <a:off x="417534" y="5282142"/>
            <a:ext cx="5398718" cy="87022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defPPr>
              <a:defRPr lang="en-US"/>
            </a:defPPr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/>
              <a:t>There is not much difference when taking small ranks for processing data but we can see the difference, when matrix size is 6000 after that there is a difference in time.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442B404F-3C85-F5A8-2C03-4352B9BDE4CA}"/>
              </a:ext>
            </a:extLst>
          </p:cNvPr>
          <p:cNvSpPr txBox="1">
            <a:spLocks/>
          </p:cNvSpPr>
          <p:nvPr/>
        </p:nvSpPr>
        <p:spPr>
          <a:xfrm>
            <a:off x="6250465" y="5310108"/>
            <a:ext cx="5628612" cy="8702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500" dirty="0"/>
              <a:t>For larger ranks there is no major difference between both algorithms, the processing time is almost same.</a:t>
            </a:r>
          </a:p>
        </p:txBody>
      </p:sp>
    </p:spTree>
    <p:extLst>
      <p:ext uri="{BB962C8B-B14F-4D97-AF65-F5344CB8AC3E}">
        <p14:creationId xmlns:p14="http://schemas.microsoft.com/office/powerpoint/2010/main" val="347830173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5FBFBFC-0D3E-8ABB-AFEB-7C421C05BF2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6183"/>
          </a:xfrm>
          <a:prstGeom prst="rect">
            <a:avLst/>
          </a:prstGeom>
        </p:spPr>
        <p:txBody>
          <a:bodyPr vert="horz" lIns="121920" tIns="60960" rIns="121920" bIns="60960" rtlCol="0" anchor="ctr"/>
          <a:lstStyle>
            <a:defPPr>
              <a:defRPr lang="de-DE"/>
            </a:defPPr>
            <a:lvl1pPr algn="l" rtl="0" fontAlgn="auto">
              <a:spcBef>
                <a:spcPts val="0"/>
              </a:spcBef>
              <a:spcAft>
                <a:spcPts val="0"/>
              </a:spcAft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5pPr>
            <a:lvl6pPr marL="3047924" algn="l" defTabSz="121917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6pPr>
            <a:lvl7pPr marL="3657509" algn="l" defTabSz="121917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7pPr>
            <a:lvl8pPr marL="4267093" algn="l" defTabSz="121917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8pPr>
            <a:lvl9pPr marL="4876678" algn="l" defTabSz="121917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9pPr>
          </a:lstStyle>
          <a:p>
            <a:pPr>
              <a:defRPr/>
            </a:pPr>
            <a:fld id="{124D5F09-0BA7-4AA3-ADBF-1890810E9EAF}" type="datetime1">
              <a:rPr lang="de-DE" smtClean="0"/>
              <a:pPr>
                <a:defRPr/>
              </a:pPr>
              <a:t>04.08.2025</a:t>
            </a:fld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E5D7F11-14FA-D9EC-B5F5-FBE737A21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6183"/>
          </a:xfrm>
          <a:prstGeom prst="rect">
            <a:avLst/>
          </a:prstGeom>
        </p:spPr>
        <p:txBody>
          <a:bodyPr vert="horz" lIns="121920" tIns="60960" rIns="121920" bIns="60960" rtlCol="0" anchor="ctr"/>
          <a:lstStyle>
            <a:defPPr>
              <a:defRPr lang="de-DE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5pPr>
            <a:lvl6pPr marL="3047924" algn="l" defTabSz="121917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6pPr>
            <a:lvl7pPr marL="3657509" algn="l" defTabSz="121917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7pPr>
            <a:lvl8pPr marL="4267093" algn="l" defTabSz="121917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8pPr>
            <a:lvl9pPr marL="4876678" algn="l" defTabSz="121917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9pPr>
          </a:lstStyle>
          <a:p>
            <a:pPr>
              <a:defRPr/>
            </a:pPr>
            <a:fld id="{4F7EE757-03CB-49A1-BD43-AE902812A82B}" type="slidenum">
              <a:rPr lang="de-DE" smtClean="0"/>
              <a:pPr>
                <a:defRPr/>
              </a:pPr>
              <a:t>31</a:t>
            </a:fld>
            <a:endParaRPr lang="de-D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FDE010-612E-0104-BF7D-3113930617EB}"/>
              </a:ext>
            </a:extLst>
          </p:cNvPr>
          <p:cNvSpPr txBox="1"/>
          <p:nvPr/>
        </p:nvSpPr>
        <p:spPr>
          <a:xfrm>
            <a:off x="3756975" y="3429001"/>
            <a:ext cx="9098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Implementation of Fox algorithm</a:t>
            </a:r>
            <a:endParaRPr lang="en-IN" sz="24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56D7F8-3BE1-3CAD-8DCC-A6C242BDEB8A}"/>
              </a:ext>
            </a:extLst>
          </p:cNvPr>
          <p:cNvSpPr txBox="1"/>
          <p:nvPr/>
        </p:nvSpPr>
        <p:spPr>
          <a:xfrm>
            <a:off x="9955918" y="5491427"/>
            <a:ext cx="215937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Presented By</a:t>
            </a:r>
          </a:p>
          <a:p>
            <a:r>
              <a:rPr lang="en-US" sz="2400" dirty="0"/>
              <a:t>Subham Gaurav</a:t>
            </a:r>
          </a:p>
          <a:p>
            <a:r>
              <a:rPr lang="en-IN" sz="2400" dirty="0"/>
              <a:t>1564925</a:t>
            </a:r>
          </a:p>
        </p:txBody>
      </p:sp>
    </p:spTree>
    <p:extLst>
      <p:ext uri="{BB962C8B-B14F-4D97-AF65-F5344CB8AC3E}">
        <p14:creationId xmlns:p14="http://schemas.microsoft.com/office/powerpoint/2010/main" val="103716168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0E3FC85-562C-B0C3-95F3-1A268FE82BB9}"/>
              </a:ext>
            </a:extLst>
          </p:cNvPr>
          <p:cNvSpPr txBox="1"/>
          <p:nvPr/>
        </p:nvSpPr>
        <p:spPr>
          <a:xfrm>
            <a:off x="330480" y="399777"/>
            <a:ext cx="8407121" cy="502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67" b="1" dirty="0"/>
              <a:t>Fox Algorithm</a:t>
            </a:r>
            <a:endParaRPr lang="en-IN" sz="2667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031BE1-027C-9EF9-285C-30C61D28D985}"/>
              </a:ext>
            </a:extLst>
          </p:cNvPr>
          <p:cNvSpPr txBox="1"/>
          <p:nvPr/>
        </p:nvSpPr>
        <p:spPr>
          <a:xfrm>
            <a:off x="904350" y="1285604"/>
            <a:ext cx="10992897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189" indent="-457189">
              <a:buFont typeface="+mj-lt"/>
              <a:buAutoNum type="arabicPeriod"/>
            </a:pPr>
            <a:endParaRPr lang="en-US" sz="2400" dirty="0">
              <a:latin typeface="Century Gothic" panose="020B0502020202020204" pitchFamily="34" charset="0"/>
            </a:endParaRPr>
          </a:p>
          <a:p>
            <a:pPr marL="457189" indent="-457189">
              <a:buFont typeface="+mj-lt"/>
              <a:buAutoNum type="arabicPeriod"/>
            </a:pPr>
            <a:r>
              <a:rPr lang="en-US" sz="2400" dirty="0"/>
              <a:t>Fox’s algorithm is a message-passing method for multiplying two </a:t>
            </a:r>
            <a:r>
              <a:rPr lang="en-US" sz="2400" i="1" dirty="0"/>
              <a:t>n × n</a:t>
            </a:r>
            <a:r>
              <a:rPr lang="en-US" sz="2400" dirty="0"/>
              <a:t> matrices on a distributed-memory machine.</a:t>
            </a:r>
          </a:p>
          <a:p>
            <a:pPr marL="457189" indent="-457189">
              <a:buFont typeface="+mj-lt"/>
              <a:buAutoNum type="arabicPeriod"/>
            </a:pPr>
            <a:endParaRPr lang="en-US" sz="2400" dirty="0"/>
          </a:p>
          <a:p>
            <a:pPr marL="457189" indent="-457189">
              <a:buFont typeface="+mj-lt"/>
              <a:buAutoNum type="arabicPeriod"/>
            </a:pPr>
            <a:r>
              <a:rPr lang="en-US" sz="2400" dirty="0"/>
              <a:t>It breaks the work and the data into </a:t>
            </a:r>
            <a:r>
              <a:rPr lang="en-US" sz="2400" b="1" dirty="0"/>
              <a:t>row-aligned stages</a:t>
            </a:r>
            <a:r>
              <a:rPr lang="en-US" sz="2400" dirty="0"/>
              <a:t> so that every process alternates between three simple actions</a:t>
            </a:r>
          </a:p>
          <a:p>
            <a:pPr marL="1066773" lvl="1" indent="-457189">
              <a:buFont typeface="+mj-lt"/>
              <a:buAutoNum type="arabicPeriod"/>
            </a:pPr>
            <a:r>
              <a:rPr lang="en-US" sz="2400" b="1" dirty="0"/>
              <a:t>Broadcast one A block along its row</a:t>
            </a:r>
          </a:p>
          <a:p>
            <a:pPr marL="1066773" lvl="1" indent="-457189">
              <a:buFont typeface="+mj-lt"/>
              <a:buAutoNum type="arabicPeriod"/>
            </a:pPr>
            <a:r>
              <a:rPr lang="en-US" sz="2400" b="1" dirty="0"/>
              <a:t>Multiply the received A with the local B</a:t>
            </a:r>
          </a:p>
          <a:p>
            <a:pPr marL="1066773" lvl="1" indent="-457189">
              <a:buFont typeface="+mj-lt"/>
              <a:buAutoNum type="arabicPeriod"/>
            </a:pPr>
            <a:r>
              <a:rPr lang="en-US" sz="2400" b="1" dirty="0"/>
              <a:t>Cyclically shift B one row up.</a:t>
            </a:r>
          </a:p>
          <a:p>
            <a:pPr marL="1066773" lvl="1" indent="-457189">
              <a:buFont typeface="+mj-lt"/>
              <a:buAutoNum type="arabicPeriod"/>
            </a:pPr>
            <a:endParaRPr lang="en-US" sz="2400" b="1" dirty="0"/>
          </a:p>
          <a:p>
            <a:pPr marL="457189" indent="-457189">
              <a:buFont typeface="+mj-lt"/>
              <a:buAutoNum type="arabicPeriod"/>
            </a:pPr>
            <a:r>
              <a:rPr lang="en-US" sz="2400" dirty="0"/>
              <a:t>After </a:t>
            </a:r>
            <a:r>
              <a:rPr lang="en-US" sz="2400" b="1" dirty="0"/>
              <a:t>n stages</a:t>
            </a:r>
            <a:r>
              <a:rPr lang="en-US" sz="2400" dirty="0"/>
              <a:t> every rank has seen every A block it needs and contributed exactly one partial product per stage, yielding its final element (or sub-matrix) of C. A final gather to rank 0 rebuilds the full result.</a:t>
            </a: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endParaRPr lang="en-US" sz="24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334655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5FBFBFC-0D3E-8ABB-AFEB-7C421C05BF2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19797" y="6445993"/>
            <a:ext cx="2844800" cy="366183"/>
          </a:xfrm>
          <a:prstGeom prst="rect">
            <a:avLst/>
          </a:prstGeom>
        </p:spPr>
        <p:txBody>
          <a:bodyPr vert="horz" lIns="121920" tIns="60960" rIns="121920" bIns="60960" rtlCol="0" anchor="ctr"/>
          <a:lstStyle>
            <a:defPPr>
              <a:defRPr lang="de-DE"/>
            </a:defPPr>
            <a:lvl1pPr algn="l" rtl="0" fontAlgn="auto">
              <a:spcBef>
                <a:spcPts val="0"/>
              </a:spcBef>
              <a:spcAft>
                <a:spcPts val="0"/>
              </a:spcAft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5pPr>
            <a:lvl6pPr marL="3047924" algn="l" defTabSz="121917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6pPr>
            <a:lvl7pPr marL="3657509" algn="l" defTabSz="121917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7pPr>
            <a:lvl8pPr marL="4267093" algn="l" defTabSz="121917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8pPr>
            <a:lvl9pPr marL="4876678" algn="l" defTabSz="121917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9pPr>
          </a:lstStyle>
          <a:p>
            <a:pPr>
              <a:defRPr/>
            </a:pPr>
            <a:fld id="{124D5F09-0BA7-4AA3-ADBF-1890810E9EAF}" type="datetime1">
              <a:rPr lang="de-DE" smtClean="0"/>
              <a:pPr>
                <a:defRPr/>
              </a:pPr>
              <a:t>04.08.2025</a:t>
            </a:fld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E5D7F11-14FA-D9EC-B5F5-FBE737A21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6183"/>
          </a:xfrm>
          <a:prstGeom prst="rect">
            <a:avLst/>
          </a:prstGeom>
        </p:spPr>
        <p:txBody>
          <a:bodyPr vert="horz" lIns="121920" tIns="60960" rIns="121920" bIns="60960" rtlCol="0" anchor="ctr"/>
          <a:lstStyle>
            <a:defPPr>
              <a:defRPr lang="de-DE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5pPr>
            <a:lvl6pPr marL="3047924" algn="l" defTabSz="121917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6pPr>
            <a:lvl7pPr marL="3657509" algn="l" defTabSz="121917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7pPr>
            <a:lvl8pPr marL="4267093" algn="l" defTabSz="121917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8pPr>
            <a:lvl9pPr marL="4876678" algn="l" defTabSz="121917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9pPr>
          </a:lstStyle>
          <a:p>
            <a:pPr>
              <a:defRPr/>
            </a:pPr>
            <a:fld id="{4F7EE757-03CB-49A1-BD43-AE902812A82B}" type="slidenum">
              <a:rPr lang="de-DE" smtClean="0"/>
              <a:pPr>
                <a:defRPr/>
              </a:pPr>
              <a:t>33</a:t>
            </a:fld>
            <a:endParaRPr lang="de-D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BC9BE6-EFE2-32A2-CFDB-64BACA3755D6}"/>
              </a:ext>
            </a:extLst>
          </p:cNvPr>
          <p:cNvSpPr txBox="1"/>
          <p:nvPr/>
        </p:nvSpPr>
        <p:spPr>
          <a:xfrm>
            <a:off x="330480" y="399777"/>
            <a:ext cx="8407121" cy="502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67" b="1" dirty="0"/>
              <a:t>Task A  Implementation of Fox algorithm </a:t>
            </a:r>
            <a:endParaRPr lang="en-IN" sz="2667" b="1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A50052A-07FF-E32D-9A4C-A4A4669021CF}"/>
              </a:ext>
            </a:extLst>
          </p:cNvPr>
          <p:cNvGraphicFramePr>
            <a:graphicFrameLocks noGrp="1"/>
          </p:cNvGraphicFramePr>
          <p:nvPr/>
        </p:nvGraphicFramePr>
        <p:xfrm>
          <a:off x="419797" y="1532044"/>
          <a:ext cx="10972800" cy="487680"/>
        </p:xfrm>
        <a:graphic>
          <a:graphicData uri="http://schemas.openxmlformats.org/drawingml/2006/table">
            <a:tbl>
              <a:tblPr/>
              <a:tblGrid>
                <a:gridCol w="10972800">
                  <a:extLst>
                    <a:ext uri="{9D8B030D-6E8A-4147-A177-3AD203B41FA5}">
                      <a16:colId xmlns:a16="http://schemas.microsoft.com/office/drawing/2014/main" val="3350983499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r>
                        <a:rPr lang="en-IN" sz="2400" b="1" dirty="0"/>
                        <a:t>Process layout</a:t>
                      </a:r>
                      <a:endParaRPr lang="en-IN" sz="2400" dirty="0"/>
                    </a:p>
                  </a:txBody>
                  <a:tcPr marL="121920" marR="121920" marT="60960" marB="60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1002969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BC18976-38D0-3C8E-9D8E-EB08CBB8182F}"/>
              </a:ext>
            </a:extLst>
          </p:cNvPr>
          <p:cNvGraphicFramePr>
            <a:graphicFrameLocks noGrp="1"/>
          </p:cNvGraphicFramePr>
          <p:nvPr/>
        </p:nvGraphicFramePr>
        <p:xfrm>
          <a:off x="1091921" y="2108201"/>
          <a:ext cx="10972800" cy="853440"/>
        </p:xfrm>
        <a:graphic>
          <a:graphicData uri="http://schemas.openxmlformats.org/drawingml/2006/table">
            <a:tbl>
              <a:tblPr/>
              <a:tblGrid>
                <a:gridCol w="10972800">
                  <a:extLst>
                    <a:ext uri="{9D8B030D-6E8A-4147-A177-3AD203B41FA5}">
                      <a16:colId xmlns:a16="http://schemas.microsoft.com/office/drawing/2014/main" val="2021763347"/>
                    </a:ext>
                  </a:extLst>
                </a:gridCol>
              </a:tblGrid>
              <a:tr h="853440">
                <a:tc>
                  <a:txBody>
                    <a:bodyPr/>
                    <a:lstStyle/>
                    <a:p>
                      <a:r>
                        <a:rPr lang="en-US" sz="2400" dirty="0"/>
                        <a:t>Arrange p = n² ranks in an n × n 2-D Cartesian grid; each rank owns </a:t>
                      </a:r>
                      <a:r>
                        <a:rPr lang="en-US" sz="2400" b="1" dirty="0"/>
                        <a:t>one element</a:t>
                      </a:r>
                      <a:r>
                        <a:rPr lang="en-US" sz="2400" dirty="0"/>
                        <a:t> of </a:t>
                      </a:r>
                      <a:r>
                        <a:rPr lang="en-US" sz="2400" i="1" dirty="0"/>
                        <a:t>A</a:t>
                      </a:r>
                      <a:r>
                        <a:rPr lang="en-US" sz="2400" dirty="0"/>
                        <a:t> and </a:t>
                      </a:r>
                      <a:r>
                        <a:rPr lang="en-US" sz="2400" i="1" dirty="0"/>
                        <a:t>B</a:t>
                      </a:r>
                      <a:r>
                        <a:rPr lang="en-US" sz="2400" dirty="0"/>
                        <a:t>.</a:t>
                      </a:r>
                    </a:p>
                  </a:txBody>
                  <a:tcPr marL="121920" marR="121920" marT="60960" marB="60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6819868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16397DA-A235-1F7B-A681-4DF8799331DF}"/>
              </a:ext>
            </a:extLst>
          </p:cNvPr>
          <p:cNvGraphicFramePr>
            <a:graphicFrameLocks noGrp="1"/>
          </p:cNvGraphicFramePr>
          <p:nvPr/>
        </p:nvGraphicFramePr>
        <p:xfrm>
          <a:off x="2188447" y="2758440"/>
          <a:ext cx="10972800" cy="2316480"/>
        </p:xfrm>
        <a:graphic>
          <a:graphicData uri="http://schemas.openxmlformats.org/drawingml/2006/table">
            <a:tbl>
              <a:tblPr/>
              <a:tblGrid>
                <a:gridCol w="10972800">
                  <a:extLst>
                    <a:ext uri="{9D8B030D-6E8A-4147-A177-3AD203B41FA5}">
                      <a16:colId xmlns:a16="http://schemas.microsoft.com/office/drawing/2014/main" val="2796792253"/>
                    </a:ext>
                  </a:extLst>
                </a:gridCol>
              </a:tblGrid>
              <a:tr h="2316480">
                <a:tc>
                  <a:txBody>
                    <a:bodyPr/>
                    <a:lstStyle/>
                    <a:p>
                      <a:r>
                        <a:rPr lang="en-US" sz="2400" b="0" kern="12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if (n * n != size) {</a:t>
                      </a:r>
                    </a:p>
                    <a:p>
                      <a:r>
                        <a:rPr lang="en-US" sz="2400" b="0" kern="12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    if (rank == 0)</a:t>
                      </a:r>
                    </a:p>
                    <a:p>
                      <a:r>
                        <a:rPr lang="en-US" sz="2400" b="0" kern="12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        printf("Error: number of processes must equal n * n.\n");</a:t>
                      </a:r>
                    </a:p>
                    <a:p>
                      <a:r>
                        <a:rPr lang="en-US" sz="2400" b="0" kern="12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    </a:t>
                      </a:r>
                      <a:r>
                        <a:rPr lang="en-US" sz="2400" b="0" kern="1200" dirty="0" err="1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MPI_Finalize</a:t>
                      </a:r>
                      <a:r>
                        <a:rPr lang="en-US" sz="2400" b="0" kern="12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();</a:t>
                      </a:r>
                    </a:p>
                    <a:p>
                      <a:r>
                        <a:rPr lang="en-US" sz="2400" b="0" kern="12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    return 1;</a:t>
                      </a:r>
                    </a:p>
                    <a:p>
                      <a:r>
                        <a:rPr lang="en-US" sz="2400" b="0" kern="12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}</a:t>
                      </a:r>
                    </a:p>
                  </a:txBody>
                  <a:tcPr marL="121920" marR="121920" marT="60960" marB="60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6383226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F8A174AA-EDE3-1E77-8FCB-6898FE47CFB3}"/>
              </a:ext>
            </a:extLst>
          </p:cNvPr>
          <p:cNvGraphicFramePr>
            <a:graphicFrameLocks noGrp="1"/>
          </p:cNvGraphicFramePr>
          <p:nvPr/>
        </p:nvGraphicFramePr>
        <p:xfrm>
          <a:off x="419797" y="4907495"/>
          <a:ext cx="8820219" cy="487680"/>
        </p:xfrm>
        <a:graphic>
          <a:graphicData uri="http://schemas.openxmlformats.org/drawingml/2006/table">
            <a:tbl>
              <a:tblPr/>
              <a:tblGrid>
                <a:gridCol w="8820219">
                  <a:extLst>
                    <a:ext uri="{9D8B030D-6E8A-4147-A177-3AD203B41FA5}">
                      <a16:colId xmlns:a16="http://schemas.microsoft.com/office/drawing/2014/main" val="65169597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r>
                        <a:rPr lang="en-IN" sz="2400" b="1" dirty="0"/>
                        <a:t>Data scatter</a:t>
                      </a:r>
                      <a:endParaRPr lang="en-IN" sz="2400" dirty="0"/>
                    </a:p>
                  </a:txBody>
                  <a:tcPr marL="121920" marR="121920" marT="60960" marB="60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8181492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A98C1313-0EC8-6B41-4F94-A01E1946055E}"/>
              </a:ext>
            </a:extLst>
          </p:cNvPr>
          <p:cNvGraphicFramePr>
            <a:graphicFrameLocks noGrp="1"/>
          </p:cNvGraphicFramePr>
          <p:nvPr/>
        </p:nvGraphicFramePr>
        <p:xfrm>
          <a:off x="1219200" y="5298439"/>
          <a:ext cx="10972800" cy="853440"/>
        </p:xfrm>
        <a:graphic>
          <a:graphicData uri="http://schemas.openxmlformats.org/drawingml/2006/table">
            <a:tbl>
              <a:tblPr/>
              <a:tblGrid>
                <a:gridCol w="10972800">
                  <a:extLst>
                    <a:ext uri="{9D8B030D-6E8A-4147-A177-3AD203B41FA5}">
                      <a16:colId xmlns:a16="http://schemas.microsoft.com/office/drawing/2014/main" val="3591282962"/>
                    </a:ext>
                  </a:extLst>
                </a:gridCol>
              </a:tblGrid>
              <a:tr h="853440">
                <a:tc>
                  <a:txBody>
                    <a:bodyPr/>
                    <a:lstStyle/>
                    <a:p>
                      <a:r>
                        <a:rPr lang="en-US" sz="2400" dirty="0"/>
                        <a:t>Rank 0 distributes </a:t>
                      </a:r>
                      <a:r>
                        <a:rPr lang="en-US" sz="2400" b="1" dirty="0"/>
                        <a:t>one element of A and one element of B</a:t>
                      </a:r>
                      <a:r>
                        <a:rPr lang="en-US" sz="2400" dirty="0"/>
                        <a:t> to every rank (including itself).</a:t>
                      </a:r>
                    </a:p>
                  </a:txBody>
                  <a:tcPr marL="121920" marR="121920" marT="60960" marB="60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1777546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3998D688-653A-E527-6CE8-3E797FFFB9A9}"/>
              </a:ext>
            </a:extLst>
          </p:cNvPr>
          <p:cNvGraphicFramePr>
            <a:graphicFrameLocks noGrp="1"/>
          </p:cNvGraphicFramePr>
          <p:nvPr/>
        </p:nvGraphicFramePr>
        <p:xfrm>
          <a:off x="2538260" y="6010275"/>
          <a:ext cx="10972800" cy="487680"/>
        </p:xfrm>
        <a:graphic>
          <a:graphicData uri="http://schemas.openxmlformats.org/drawingml/2006/table">
            <a:tbl>
              <a:tblPr/>
              <a:tblGrid>
                <a:gridCol w="10972800">
                  <a:extLst>
                    <a:ext uri="{9D8B030D-6E8A-4147-A177-3AD203B41FA5}">
                      <a16:colId xmlns:a16="http://schemas.microsoft.com/office/drawing/2014/main" val="1011308055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r>
                        <a:rPr lang="en-US" sz="2400" b="0" kern="12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</a:t>
                      </a:r>
                      <a:r>
                        <a:rPr lang="en-IN" sz="2400" b="0" kern="12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sing </a:t>
                      </a:r>
                      <a:r>
                        <a:rPr lang="en-IN" sz="2400" b="0" kern="1200" dirty="0" err="1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MPI_Send</a:t>
                      </a:r>
                      <a:r>
                        <a:rPr lang="en-IN" sz="2400" b="0" kern="12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AND </a:t>
                      </a:r>
                      <a:r>
                        <a:rPr lang="en-IN" sz="2400" b="0" kern="1200" dirty="0" err="1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MPI_Recv</a:t>
                      </a:r>
                      <a:r>
                        <a:rPr lang="en-IN" sz="2400" b="0" kern="12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( Blocking Communication)</a:t>
                      </a:r>
                    </a:p>
                  </a:txBody>
                  <a:tcPr marL="121920" marR="121920" marT="60960" marB="60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5721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843250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7318D9E-8120-A36C-1ABB-34239B166C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6183"/>
          </a:xfrm>
          <a:prstGeom prst="rect">
            <a:avLst/>
          </a:prstGeom>
        </p:spPr>
        <p:txBody>
          <a:bodyPr vert="horz" lIns="121920" tIns="60960" rIns="121920" bIns="60960" rtlCol="0" anchor="ctr"/>
          <a:lstStyle>
            <a:defPPr>
              <a:defRPr lang="de-DE"/>
            </a:defPPr>
            <a:lvl1pPr algn="l" rtl="0" fontAlgn="auto">
              <a:spcBef>
                <a:spcPts val="0"/>
              </a:spcBef>
              <a:spcAft>
                <a:spcPts val="0"/>
              </a:spcAft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5pPr>
            <a:lvl6pPr marL="3047924" algn="l" defTabSz="121917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6pPr>
            <a:lvl7pPr marL="3657509" algn="l" defTabSz="121917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7pPr>
            <a:lvl8pPr marL="4267093" algn="l" defTabSz="121917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8pPr>
            <a:lvl9pPr marL="4876678" algn="l" defTabSz="121917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9pPr>
          </a:lstStyle>
          <a:p>
            <a:pPr>
              <a:defRPr/>
            </a:pPr>
            <a:fld id="{124D5F09-0BA7-4AA3-ADBF-1890810E9EAF}" type="datetime1">
              <a:rPr lang="de-DE" smtClean="0"/>
              <a:pPr>
                <a:defRPr/>
              </a:pPr>
              <a:t>04.08.2025</a:t>
            </a:fld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B296DF3-E277-3CA6-7654-71C03FC1F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6183"/>
          </a:xfrm>
          <a:prstGeom prst="rect">
            <a:avLst/>
          </a:prstGeom>
        </p:spPr>
        <p:txBody>
          <a:bodyPr vert="horz" lIns="121920" tIns="60960" rIns="121920" bIns="60960" rtlCol="0" anchor="ctr"/>
          <a:lstStyle>
            <a:defPPr>
              <a:defRPr lang="de-DE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5pPr>
            <a:lvl6pPr marL="3047924" algn="l" defTabSz="121917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6pPr>
            <a:lvl7pPr marL="3657509" algn="l" defTabSz="121917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7pPr>
            <a:lvl8pPr marL="4267093" algn="l" defTabSz="121917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8pPr>
            <a:lvl9pPr marL="4876678" algn="l" defTabSz="121917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9pPr>
          </a:lstStyle>
          <a:p>
            <a:pPr>
              <a:defRPr/>
            </a:pPr>
            <a:fld id="{4F7EE757-03CB-49A1-BD43-AE902812A82B}" type="slidenum">
              <a:rPr lang="de-DE" smtClean="0"/>
              <a:pPr>
                <a:defRPr/>
              </a:pPr>
              <a:t>34</a:t>
            </a:fld>
            <a:endParaRPr lang="de-DE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F9CD643-3CB8-2C2A-1667-EC16F1C71556}"/>
              </a:ext>
            </a:extLst>
          </p:cNvPr>
          <p:cNvGraphicFramePr>
            <a:graphicFrameLocks noGrp="1"/>
          </p:cNvGraphicFramePr>
          <p:nvPr/>
        </p:nvGraphicFramePr>
        <p:xfrm>
          <a:off x="489020" y="1514580"/>
          <a:ext cx="10972800" cy="487680"/>
        </p:xfrm>
        <a:graphic>
          <a:graphicData uri="http://schemas.openxmlformats.org/drawingml/2006/table">
            <a:tbl>
              <a:tblPr/>
              <a:tblGrid>
                <a:gridCol w="10972800">
                  <a:extLst>
                    <a:ext uri="{9D8B030D-6E8A-4147-A177-3AD203B41FA5}">
                      <a16:colId xmlns:a16="http://schemas.microsoft.com/office/drawing/2014/main" val="2034109936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r>
                        <a:rPr lang="en-IN" sz="2400" b="1" dirty="0"/>
                        <a:t>Broadcast (A-blocks)</a:t>
                      </a:r>
                      <a:endParaRPr lang="en-IN" sz="2400" dirty="0"/>
                    </a:p>
                  </a:txBody>
                  <a:tcPr marL="121920" marR="121920" marT="60960" marB="60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7952719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65C7975-0A5D-B8A9-FB37-0CFD3DA40E14}"/>
              </a:ext>
            </a:extLst>
          </p:cNvPr>
          <p:cNvGraphicFramePr>
            <a:graphicFrameLocks noGrp="1"/>
          </p:cNvGraphicFramePr>
          <p:nvPr/>
        </p:nvGraphicFramePr>
        <p:xfrm>
          <a:off x="1219200" y="2062579"/>
          <a:ext cx="10972800" cy="853440"/>
        </p:xfrm>
        <a:graphic>
          <a:graphicData uri="http://schemas.openxmlformats.org/drawingml/2006/table">
            <a:tbl>
              <a:tblPr/>
              <a:tblGrid>
                <a:gridCol w="10972800">
                  <a:extLst>
                    <a:ext uri="{9D8B030D-6E8A-4147-A177-3AD203B41FA5}">
                      <a16:colId xmlns:a16="http://schemas.microsoft.com/office/drawing/2014/main" val="2849170739"/>
                    </a:ext>
                  </a:extLst>
                </a:gridCol>
              </a:tblGrid>
              <a:tr h="853440">
                <a:tc>
                  <a:txBody>
                    <a:bodyPr/>
                    <a:lstStyle/>
                    <a:p>
                      <a:r>
                        <a:rPr lang="en-US" sz="2400" dirty="0"/>
                        <a:t>Within each </a:t>
                      </a:r>
                      <a:r>
                        <a:rPr lang="en-US" sz="2400" b="1" dirty="0"/>
                        <a:t>process row</a:t>
                      </a:r>
                      <a:r>
                        <a:rPr lang="en-US" sz="2400" dirty="0"/>
                        <a:t> a different root broadcasts its A-element in every Fox iteration. Root is root = (row + k) % n</a:t>
                      </a:r>
                    </a:p>
                  </a:txBody>
                  <a:tcPr marL="121920" marR="121920" marT="60960" marB="60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8192253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F299A7E-9DC9-03CA-9DB2-62BFE9D74189}"/>
              </a:ext>
            </a:extLst>
          </p:cNvPr>
          <p:cNvGraphicFramePr>
            <a:graphicFrameLocks noGrp="1"/>
          </p:cNvGraphicFramePr>
          <p:nvPr/>
        </p:nvGraphicFramePr>
        <p:xfrm>
          <a:off x="1641231" y="2990905"/>
          <a:ext cx="10972800" cy="487680"/>
        </p:xfrm>
        <a:graphic>
          <a:graphicData uri="http://schemas.openxmlformats.org/drawingml/2006/table">
            <a:tbl>
              <a:tblPr/>
              <a:tblGrid>
                <a:gridCol w="10972800">
                  <a:extLst>
                    <a:ext uri="{9D8B030D-6E8A-4147-A177-3AD203B41FA5}">
                      <a16:colId xmlns:a16="http://schemas.microsoft.com/office/drawing/2014/main" val="2744342841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r>
                        <a:rPr lang="en-US" sz="2400" b="0" kern="12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</a:t>
                      </a:r>
                      <a:r>
                        <a:rPr lang="en-US" sz="2400" b="0" kern="1200" dirty="0" err="1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MPI_Bcast</a:t>
                      </a:r>
                      <a:r>
                        <a:rPr lang="en-US" sz="2400" b="0" kern="12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(&amp;</a:t>
                      </a:r>
                      <a:r>
                        <a:rPr lang="en-US" sz="2400" b="0" kern="1200" dirty="0" err="1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a_bcast</a:t>
                      </a:r>
                      <a:r>
                        <a:rPr lang="en-US" sz="2400" b="0" kern="12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1, MPI_INT, root, </a:t>
                      </a:r>
                      <a:r>
                        <a:rPr lang="en-US" sz="2400" b="0" kern="1200" dirty="0" err="1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row_comm</a:t>
                      </a:r>
                      <a:r>
                        <a:rPr lang="en-US" sz="2400" b="0" kern="12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);</a:t>
                      </a:r>
                    </a:p>
                  </a:txBody>
                  <a:tcPr marL="121920" marR="121920" marT="60960" marB="60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985861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E4CE258-1CD6-A76C-17FC-91173D9B060E}"/>
              </a:ext>
            </a:extLst>
          </p:cNvPr>
          <p:cNvGraphicFramePr>
            <a:graphicFrameLocks noGrp="1"/>
          </p:cNvGraphicFramePr>
          <p:nvPr/>
        </p:nvGraphicFramePr>
        <p:xfrm>
          <a:off x="609600" y="3619076"/>
          <a:ext cx="3798277" cy="487680"/>
        </p:xfrm>
        <a:graphic>
          <a:graphicData uri="http://schemas.openxmlformats.org/drawingml/2006/table">
            <a:tbl>
              <a:tblPr/>
              <a:tblGrid>
                <a:gridCol w="3798277">
                  <a:extLst>
                    <a:ext uri="{9D8B030D-6E8A-4147-A177-3AD203B41FA5}">
                      <a16:colId xmlns:a16="http://schemas.microsoft.com/office/drawing/2014/main" val="742267749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r>
                        <a:rPr lang="en-IN" sz="2400" b="1" dirty="0"/>
                        <a:t>Shifting (B-blocks)</a:t>
                      </a:r>
                      <a:endParaRPr lang="en-IN" sz="2400" dirty="0"/>
                    </a:p>
                  </a:txBody>
                  <a:tcPr marL="121920" marR="121920" marT="60960" marB="60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8942564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6D9BCC2B-1F6C-F461-C427-56A683D37548}"/>
              </a:ext>
            </a:extLst>
          </p:cNvPr>
          <p:cNvGraphicFramePr>
            <a:graphicFrameLocks noGrp="1"/>
          </p:cNvGraphicFramePr>
          <p:nvPr/>
        </p:nvGraphicFramePr>
        <p:xfrm>
          <a:off x="1219200" y="4147613"/>
          <a:ext cx="10972800" cy="1219200"/>
        </p:xfrm>
        <a:graphic>
          <a:graphicData uri="http://schemas.openxmlformats.org/drawingml/2006/table">
            <a:tbl>
              <a:tblPr/>
              <a:tblGrid>
                <a:gridCol w="10972800">
                  <a:extLst>
                    <a:ext uri="{9D8B030D-6E8A-4147-A177-3AD203B41FA5}">
                      <a16:colId xmlns:a16="http://schemas.microsoft.com/office/drawing/2014/main" val="3579807150"/>
                    </a:ext>
                  </a:extLst>
                </a:gridCol>
              </a:tblGrid>
              <a:tr h="1219200">
                <a:tc>
                  <a:txBody>
                    <a:bodyPr/>
                    <a:lstStyle/>
                    <a:p>
                      <a:r>
                        <a:rPr lang="en-US" sz="2400" dirty="0"/>
                        <a:t>After multiplying, every rank </a:t>
                      </a:r>
                      <a:r>
                        <a:rPr lang="en-US" sz="2400" b="1" dirty="0"/>
                        <a:t>rotates its B-element one row up</a:t>
                      </a:r>
                      <a:r>
                        <a:rPr lang="en-US" sz="2400" dirty="0"/>
                        <a:t> (last row wraps to first) so the next rank gets the needed B for the next iteration. Done in a single, symmetric call.</a:t>
                      </a:r>
                    </a:p>
                  </a:txBody>
                  <a:tcPr marL="121920" marR="121920" marT="60960" marB="60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8078494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80D5EF3A-2089-AB7B-9340-9BB358C5D62C}"/>
              </a:ext>
            </a:extLst>
          </p:cNvPr>
          <p:cNvSpPr txBox="1"/>
          <p:nvPr/>
        </p:nvSpPr>
        <p:spPr>
          <a:xfrm>
            <a:off x="1641231" y="5005875"/>
            <a:ext cx="11394831" cy="15802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      int </a:t>
            </a:r>
            <a:r>
              <a:rPr lang="en-US" sz="2400" dirty="0" err="1">
                <a:solidFill>
                  <a:schemeClr val="accent1"/>
                </a:solidFill>
              </a:rPr>
              <a:t>send_to</a:t>
            </a:r>
            <a:r>
              <a:rPr lang="en-US" sz="2400" dirty="0">
                <a:solidFill>
                  <a:schemeClr val="accent1"/>
                </a:solidFill>
              </a:rPr>
              <a:t> = ((row - 1 + n) % n) * n + col;</a:t>
            </a:r>
          </a:p>
          <a:p>
            <a:r>
              <a:rPr lang="en-US" sz="2400" dirty="0">
                <a:solidFill>
                  <a:schemeClr val="accent1"/>
                </a:solidFill>
              </a:rPr>
              <a:t>      int </a:t>
            </a:r>
            <a:r>
              <a:rPr lang="en-US" sz="2400" dirty="0" err="1">
                <a:solidFill>
                  <a:schemeClr val="accent1"/>
                </a:solidFill>
              </a:rPr>
              <a:t>recv_from</a:t>
            </a:r>
            <a:r>
              <a:rPr lang="en-US" sz="2400" dirty="0">
                <a:solidFill>
                  <a:schemeClr val="accent1"/>
                </a:solidFill>
              </a:rPr>
              <a:t> = ((row + 1) % n) * n + col;</a:t>
            </a:r>
          </a:p>
          <a:p>
            <a:pPr>
              <a:lnSpc>
                <a:spcPts val="1900"/>
              </a:lnSpc>
            </a:pPr>
            <a:r>
              <a:rPr lang="en-US" sz="2400" dirty="0">
                <a:solidFill>
                  <a:schemeClr val="accent1"/>
                </a:solidFill>
                <a:latin typeface="Consolas" panose="020B0609020204030204" pitchFamily="49" charset="0"/>
              </a:rPr>
              <a:t>        </a:t>
            </a:r>
            <a:br>
              <a:rPr lang="en-US" sz="2400" dirty="0">
                <a:solidFill>
                  <a:schemeClr val="accent1"/>
                </a:solidFill>
                <a:latin typeface="Consolas" panose="020B0609020204030204" pitchFamily="49" charset="0"/>
              </a:rPr>
            </a:br>
            <a:r>
              <a:rPr lang="en-US" sz="2400" dirty="0" err="1">
                <a:solidFill>
                  <a:schemeClr val="accent1"/>
                </a:solidFill>
                <a:latin typeface="Consolas" panose="020B0609020204030204" pitchFamily="49" charset="0"/>
              </a:rPr>
              <a:t>MPI_Sendrecv_replace</a:t>
            </a:r>
            <a:r>
              <a:rPr lang="en-US" sz="2400" dirty="0">
                <a:solidFill>
                  <a:schemeClr val="accent1"/>
                </a:solidFill>
                <a:latin typeface="Consolas" panose="020B0609020204030204" pitchFamily="49" charset="0"/>
              </a:rPr>
              <a:t>(&amp;b, 1, MPI_INT, </a:t>
            </a:r>
            <a:r>
              <a:rPr lang="en-US" sz="2400" dirty="0" err="1">
                <a:solidFill>
                  <a:schemeClr val="accent1"/>
                </a:solidFill>
                <a:latin typeface="Consolas" panose="020B0609020204030204" pitchFamily="49" charset="0"/>
              </a:rPr>
              <a:t>send_to</a:t>
            </a:r>
            <a:r>
              <a:rPr lang="en-US" sz="2400" dirty="0">
                <a:solidFill>
                  <a:schemeClr val="accent1"/>
                </a:solidFill>
                <a:latin typeface="Consolas" panose="020B0609020204030204" pitchFamily="49" charset="0"/>
              </a:rPr>
              <a:t>, 2, </a:t>
            </a:r>
            <a:r>
              <a:rPr lang="en-US" sz="2400" dirty="0" err="1">
                <a:solidFill>
                  <a:schemeClr val="accent1"/>
                </a:solidFill>
                <a:latin typeface="Consolas" panose="020B0609020204030204" pitchFamily="49" charset="0"/>
              </a:rPr>
              <a:t>recv_from</a:t>
            </a:r>
            <a:r>
              <a:rPr lang="en-US" sz="2400" dirty="0">
                <a:solidFill>
                  <a:schemeClr val="accent1"/>
                </a:solidFill>
                <a:latin typeface="Consolas" panose="020B0609020204030204" pitchFamily="49" charset="0"/>
              </a:rPr>
              <a:t>, 2, MPI_COMM_WORLD, &amp;status);</a:t>
            </a:r>
          </a:p>
        </p:txBody>
      </p:sp>
    </p:spTree>
    <p:extLst>
      <p:ext uri="{BB962C8B-B14F-4D97-AF65-F5344CB8AC3E}">
        <p14:creationId xmlns:p14="http://schemas.microsoft.com/office/powerpoint/2010/main" val="343932473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C179E06-A271-5DF4-5DDF-3248C0BCA755}"/>
              </a:ext>
            </a:extLst>
          </p:cNvPr>
          <p:cNvSpPr txBox="1"/>
          <p:nvPr/>
        </p:nvSpPr>
        <p:spPr>
          <a:xfrm>
            <a:off x="890955" y="1808147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Local multiply</a:t>
            </a:r>
            <a:br>
              <a:rPr lang="en-IN" sz="2400" dirty="0"/>
            </a:br>
            <a:endParaRPr lang="en-IN" sz="2400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FD4D38FE-EDDE-FD6E-77B0-42B8745641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11674" y="2340895"/>
            <a:ext cx="7126310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920" tIns="60960" rIns="121920" bIns="60960" numCol="1" anchor="ctr" anchorCtr="0" compatLnSpc="1">
            <a:prstTxWarp prst="textNoShape">
              <a:avLst/>
            </a:prstTxWarp>
            <a:spAutoFit/>
          </a:bodyPr>
          <a:lstStyle/>
          <a:p>
            <a:pPr defTabSz="121917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latin typeface="Arial" panose="020B0604020202020204" pitchFamily="34" charset="0"/>
              </a:rPr>
              <a:t>Each stage each process updates its private result</a:t>
            </a:r>
            <a:endParaRPr lang="en-US" altLang="en-US" sz="1333" dirty="0">
              <a:latin typeface="Arial Unicode M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6B66297-E66C-8147-FB02-1D51833ECAD0}"/>
              </a:ext>
            </a:extLst>
          </p:cNvPr>
          <p:cNvSpPr txBox="1"/>
          <p:nvPr/>
        </p:nvSpPr>
        <p:spPr>
          <a:xfrm>
            <a:off x="3686211" y="2895528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chemeClr val="accent1"/>
                </a:solidFill>
              </a:rPr>
              <a:t>c += </a:t>
            </a:r>
            <a:r>
              <a:rPr lang="en-IN" sz="2400" dirty="0" err="1">
                <a:solidFill>
                  <a:schemeClr val="accent1"/>
                </a:solidFill>
              </a:rPr>
              <a:t>a_bcast</a:t>
            </a:r>
            <a:r>
              <a:rPr lang="en-IN" sz="2400" dirty="0">
                <a:solidFill>
                  <a:schemeClr val="accent1"/>
                </a:solidFill>
              </a:rPr>
              <a:t> * b;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345A29E-1A28-4A90-C353-B2B9EA5CDD2D}"/>
              </a:ext>
            </a:extLst>
          </p:cNvPr>
          <p:cNvSpPr txBox="1"/>
          <p:nvPr/>
        </p:nvSpPr>
        <p:spPr>
          <a:xfrm>
            <a:off x="890955" y="3757193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Gather single result</a:t>
            </a:r>
            <a:br>
              <a:rPr lang="en-IN" sz="2400" dirty="0"/>
            </a:br>
            <a:endParaRPr lang="en-IN" sz="2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55EBA46-ED14-CB8D-2A71-215CB50040AA}"/>
              </a:ext>
            </a:extLst>
          </p:cNvPr>
          <p:cNvSpPr txBox="1"/>
          <p:nvPr/>
        </p:nvSpPr>
        <p:spPr>
          <a:xfrm>
            <a:off x="2211674" y="4311826"/>
            <a:ext cx="1039669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Once the stage loop finishes, every rank owns exactly </a:t>
            </a:r>
            <a:r>
              <a:rPr lang="en-US" sz="2400" b="1" dirty="0"/>
              <a:t>one</a:t>
            </a:r>
            <a:r>
              <a:rPr lang="en-US" sz="2400" dirty="0"/>
              <a:t> finished result value.</a:t>
            </a:r>
            <a:br>
              <a:rPr lang="en-US" sz="2400" dirty="0"/>
            </a:br>
            <a:r>
              <a:rPr lang="en-US" sz="2400" dirty="0"/>
              <a:t>Ranks &gt; 0 send that scalar to rank 0:</a:t>
            </a:r>
            <a:endParaRPr lang="en-IN" sz="2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3965338-CEAF-DD12-A5CA-C827497226A5}"/>
              </a:ext>
            </a:extLst>
          </p:cNvPr>
          <p:cNvSpPr txBox="1"/>
          <p:nvPr/>
        </p:nvSpPr>
        <p:spPr>
          <a:xfrm>
            <a:off x="3510784" y="5296602"/>
            <a:ext cx="758985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 err="1">
                <a:solidFill>
                  <a:schemeClr val="accent1"/>
                </a:solidFill>
              </a:rPr>
              <a:t>MPI_Send</a:t>
            </a:r>
            <a:r>
              <a:rPr lang="en-IN" sz="2400" dirty="0">
                <a:solidFill>
                  <a:schemeClr val="accent1"/>
                </a:solidFill>
              </a:rPr>
              <a:t>(&amp;c, 1, MPI_INT, 0, TAG, MPI_COMM_WORLD);</a:t>
            </a:r>
          </a:p>
        </p:txBody>
      </p:sp>
    </p:spTree>
    <p:extLst>
      <p:ext uri="{BB962C8B-B14F-4D97-AF65-F5344CB8AC3E}">
        <p14:creationId xmlns:p14="http://schemas.microsoft.com/office/powerpoint/2010/main" val="78062519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5568EA69-D8FA-D2AA-A215-3542DAE900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30304" y="1608439"/>
            <a:ext cx="6985000" cy="4406900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8E6A8E5-341D-3647-906D-6ED3CEC82A4D}"/>
              </a:ext>
            </a:extLst>
          </p:cNvPr>
          <p:cNvGraphicFramePr>
            <a:graphicFrameLocks noGrp="1"/>
          </p:cNvGraphicFramePr>
          <p:nvPr/>
        </p:nvGraphicFramePr>
        <p:xfrm>
          <a:off x="494241" y="1873092"/>
          <a:ext cx="3386666" cy="101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51311">
                  <a:extLst>
                    <a:ext uri="{9D8B030D-6E8A-4147-A177-3AD203B41FA5}">
                      <a16:colId xmlns:a16="http://schemas.microsoft.com/office/drawing/2014/main" val="3205209907"/>
                    </a:ext>
                  </a:extLst>
                </a:gridCol>
                <a:gridCol w="811785">
                  <a:extLst>
                    <a:ext uri="{9D8B030D-6E8A-4147-A177-3AD203B41FA5}">
                      <a16:colId xmlns:a16="http://schemas.microsoft.com/office/drawing/2014/main" val="881406185"/>
                    </a:ext>
                  </a:extLst>
                </a:gridCol>
                <a:gridCol w="811785">
                  <a:extLst>
                    <a:ext uri="{9D8B030D-6E8A-4147-A177-3AD203B41FA5}">
                      <a16:colId xmlns:a16="http://schemas.microsoft.com/office/drawing/2014/main" val="2081609701"/>
                    </a:ext>
                  </a:extLst>
                </a:gridCol>
                <a:gridCol w="811785">
                  <a:extLst>
                    <a:ext uri="{9D8B030D-6E8A-4147-A177-3AD203B41FA5}">
                      <a16:colId xmlns:a16="http://schemas.microsoft.com/office/drawing/2014/main" val="3315595807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pPr algn="l" fontAlgn="b"/>
                      <a:r>
                        <a:rPr lang="en-IN" sz="1500" u="none" strike="noStrike">
                          <a:effectLst/>
                        </a:rPr>
                        <a:t>Matrix Size</a:t>
                      </a:r>
                      <a:endParaRPr lang="en-IN" sz="1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500" u="none" strike="noStrike">
                          <a:effectLst/>
                        </a:rPr>
                        <a:t>FOX</a:t>
                      </a:r>
                      <a:endParaRPr lang="en-IN" sz="1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500" u="none" strike="noStrike">
                          <a:effectLst/>
                        </a:rPr>
                        <a:t>Cannon</a:t>
                      </a:r>
                      <a:endParaRPr lang="en-IN" sz="1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500" u="none" strike="noStrike">
                          <a:effectLst/>
                        </a:rPr>
                        <a:t>DNS</a:t>
                      </a:r>
                      <a:endParaRPr lang="en-IN" sz="1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700" marR="12700" marT="12700" marB="0" anchor="ctr"/>
                </a:tc>
                <a:extLst>
                  <a:ext uri="{0D108BD9-81ED-4DB2-BD59-A6C34878D82A}">
                    <a16:rowId xmlns:a16="http://schemas.microsoft.com/office/drawing/2014/main" val="2450828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r" fontAlgn="b"/>
                      <a:r>
                        <a:rPr lang="en-IN" sz="1500" u="none" strike="noStrike">
                          <a:effectLst/>
                        </a:rPr>
                        <a:t>2</a:t>
                      </a:r>
                      <a:endParaRPr lang="en-IN" sz="1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500" u="none" strike="noStrike">
                          <a:effectLst/>
                        </a:rPr>
                        <a:t>5.16</a:t>
                      </a:r>
                      <a:endParaRPr lang="en-IN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500" u="none" strike="noStrike">
                          <a:effectLst/>
                        </a:rPr>
                        <a:t>5.28</a:t>
                      </a:r>
                      <a:endParaRPr lang="en-IN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500" u="none" strike="noStrike">
                          <a:effectLst/>
                        </a:rPr>
                        <a:t>10.76</a:t>
                      </a:r>
                      <a:endParaRPr lang="en-IN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700" marR="12700" marT="12700" marB="0" anchor="ctr"/>
                </a:tc>
                <a:extLst>
                  <a:ext uri="{0D108BD9-81ED-4DB2-BD59-A6C34878D82A}">
                    <a16:rowId xmlns:a16="http://schemas.microsoft.com/office/drawing/2014/main" val="4005971897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r" fontAlgn="b"/>
                      <a:r>
                        <a:rPr lang="en-IN" sz="1500" u="none" strike="noStrike">
                          <a:effectLst/>
                        </a:rPr>
                        <a:t>3</a:t>
                      </a:r>
                      <a:endParaRPr lang="en-IN" sz="1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500" u="none" strike="noStrike" dirty="0">
                          <a:effectLst/>
                        </a:rPr>
                        <a:t>11.83</a:t>
                      </a:r>
                      <a:endParaRPr lang="en-IN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500" u="none" strike="noStrike" dirty="0">
                          <a:effectLst/>
                        </a:rPr>
                        <a:t>11.9</a:t>
                      </a:r>
                      <a:endParaRPr lang="en-IN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500" u="none" strike="noStrike">
                          <a:effectLst/>
                        </a:rPr>
                        <a:t>40.86</a:t>
                      </a:r>
                      <a:endParaRPr lang="en-IN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700" marR="12700" marT="12700" marB="0" anchor="ctr"/>
                </a:tc>
                <a:extLst>
                  <a:ext uri="{0D108BD9-81ED-4DB2-BD59-A6C34878D82A}">
                    <a16:rowId xmlns:a16="http://schemas.microsoft.com/office/drawing/2014/main" val="176738176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r" fontAlgn="b"/>
                      <a:r>
                        <a:rPr lang="en-IN" sz="1500" u="none" strike="noStrike">
                          <a:effectLst/>
                        </a:rPr>
                        <a:t>4</a:t>
                      </a:r>
                      <a:endParaRPr lang="en-IN" sz="1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500" u="none" strike="noStrike">
                          <a:effectLst/>
                        </a:rPr>
                        <a:t>22.27</a:t>
                      </a:r>
                      <a:endParaRPr lang="en-IN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500" u="none" strike="noStrike">
                          <a:effectLst/>
                        </a:rPr>
                        <a:t>22.37</a:t>
                      </a:r>
                      <a:endParaRPr lang="en-IN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500" u="none" strike="noStrike" dirty="0">
                          <a:effectLst/>
                        </a:rPr>
                        <a:t>129.66</a:t>
                      </a:r>
                      <a:endParaRPr lang="en-IN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700" marR="12700" marT="12700" marB="0" anchor="ctr"/>
                </a:tc>
                <a:extLst>
                  <a:ext uri="{0D108BD9-81ED-4DB2-BD59-A6C34878D82A}">
                    <a16:rowId xmlns:a16="http://schemas.microsoft.com/office/drawing/2014/main" val="14563010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F4A7204A-CE0F-4C38-3E24-B56F8B7BDEC4}"/>
              </a:ext>
            </a:extLst>
          </p:cNvPr>
          <p:cNvSpPr txBox="1"/>
          <p:nvPr/>
        </p:nvSpPr>
        <p:spPr>
          <a:xfrm>
            <a:off x="111760" y="3168692"/>
            <a:ext cx="4718544" cy="7696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67" b="1" dirty="0"/>
              <a:t>FOX ≈ Cannon, DNS far slower</a:t>
            </a:r>
            <a:endParaRPr lang="en-US" sz="1467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67" dirty="0"/>
              <a:t>For every size, FOX and Cannon finish within </a:t>
            </a:r>
            <a:r>
              <a:rPr lang="en-US" sz="1467" b="1" dirty="0"/>
              <a:t>2 %</a:t>
            </a:r>
            <a:r>
              <a:rPr lang="en-US" sz="1467" dirty="0"/>
              <a:t> of each other, while DNS is </a:t>
            </a:r>
            <a:r>
              <a:rPr lang="en-US" sz="1467" b="1" dirty="0"/>
              <a:t>2×–6× slower</a:t>
            </a:r>
            <a:r>
              <a:rPr lang="en-US" sz="1467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0898798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E0A35AD-C06D-E8D7-F580-D4022F079DE9}"/>
              </a:ext>
            </a:extLst>
          </p:cNvPr>
          <p:cNvSpPr txBox="1"/>
          <p:nvPr/>
        </p:nvSpPr>
        <p:spPr>
          <a:xfrm>
            <a:off x="76200" y="2878668"/>
            <a:ext cx="7416800" cy="3702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2133" b="1" dirty="0"/>
              <a:t>In the row-wise version</a:t>
            </a:r>
            <a:r>
              <a:rPr lang="en-US" altLang="en-US" sz="2133" dirty="0"/>
              <a:t>, the master must push a whole row of B to every worker and also ship each worker its own row of A, turning rank 0 into a bottleneck.</a:t>
            </a:r>
            <a:br>
              <a:rPr lang="en-US" altLang="en-US" sz="2133" dirty="0"/>
            </a:br>
            <a:r>
              <a:rPr lang="en-US" altLang="en-US" sz="2133" b="1" dirty="0"/>
              <a:t>In the Fox version</a:t>
            </a:r>
            <a:r>
              <a:rPr lang="en-US" altLang="en-US" sz="2133" dirty="0"/>
              <a:t>, each rank begins with just one element of A and B. </a:t>
            </a:r>
            <a:br>
              <a:rPr lang="en-US" altLang="en-US" sz="2133" dirty="0"/>
            </a:br>
            <a:r>
              <a:rPr lang="en-US" altLang="en-US" sz="2133" dirty="0"/>
              <a:t>At every step, the ranks in the same grid row broadcast that one A element among themselves, while each B element is passed up one row with a single </a:t>
            </a:r>
            <a:r>
              <a:rPr lang="en-US" altLang="en-US" sz="2133" b="1" dirty="0" err="1"/>
              <a:t>MPI_Sendrecv_replace</a:t>
            </a:r>
            <a:r>
              <a:rPr lang="en-US" altLang="en-US" sz="2133" dirty="0"/>
              <a:t>. Because every message is only one integer, no process is overloaded; each rank multiplies its local pair immediately and, when all steps finish, sends its single result value back to the master for assembly.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0570100-3648-B71B-912F-2B16ACC816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33269"/>
            <a:ext cx="12192000" cy="1056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9143D17-68B8-1499-9469-C4BD2341BF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2201" y="2189270"/>
            <a:ext cx="4175035" cy="412661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E237AEA-0E93-4EBC-F82C-3709153356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24683" y="6048421"/>
            <a:ext cx="1891117" cy="79733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69CAB2A-07EF-E118-8EF8-EAC20505917C}"/>
              </a:ext>
            </a:extLst>
          </p:cNvPr>
          <p:cNvSpPr txBox="1"/>
          <p:nvPr/>
        </p:nvSpPr>
        <p:spPr>
          <a:xfrm>
            <a:off x="8596672" y="1696828"/>
            <a:ext cx="29277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4 * 4 Matrix (16 Rank)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66879706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BA44942-4DCA-B6B2-68E5-528FACD3B6E7}"/>
              </a:ext>
            </a:extLst>
          </p:cNvPr>
          <p:cNvSpPr txBox="1"/>
          <p:nvPr/>
        </p:nvSpPr>
        <p:spPr>
          <a:xfrm>
            <a:off x="422031" y="396874"/>
            <a:ext cx="6096000" cy="502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67" b="1" dirty="0"/>
              <a:t>Task B  Implementation of Fox algorithm </a:t>
            </a:r>
            <a:endParaRPr lang="en-IN" sz="2667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3B3209-2A67-405F-F5BA-47A5A6757364}"/>
              </a:ext>
            </a:extLst>
          </p:cNvPr>
          <p:cNvSpPr txBox="1"/>
          <p:nvPr/>
        </p:nvSpPr>
        <p:spPr>
          <a:xfrm>
            <a:off x="282288" y="1454222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Process grid &amp; prerequisites</a:t>
            </a:r>
            <a:endParaRPr lang="en-IN" sz="2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D53E1A-884D-C612-DD24-AD14096CE58D}"/>
              </a:ext>
            </a:extLst>
          </p:cNvPr>
          <p:cNvSpPr txBox="1"/>
          <p:nvPr/>
        </p:nvSpPr>
        <p:spPr>
          <a:xfrm>
            <a:off x="1446963" y="2038997"/>
            <a:ext cx="1031630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/>
              <a:t>Require </a:t>
            </a:r>
            <a:r>
              <a:rPr lang="en-US" altLang="en-US" sz="2400" b="1" dirty="0">
                <a:solidFill>
                  <a:schemeClr val="accent1"/>
                </a:solidFill>
              </a:rPr>
              <a:t>process = grid² </a:t>
            </a:r>
            <a:r>
              <a:rPr lang="en-US" altLang="en-US" sz="2400" dirty="0"/>
              <a:t>ranks and  </a:t>
            </a:r>
            <a:r>
              <a:rPr lang="en-US" altLang="en-US" sz="2400" b="1" dirty="0" err="1">
                <a:solidFill>
                  <a:schemeClr val="accent1"/>
                </a:solidFill>
              </a:rPr>
              <a:t>Matrix_size</a:t>
            </a:r>
            <a:r>
              <a:rPr lang="en-US" altLang="en-US" sz="2400" b="1" dirty="0">
                <a:solidFill>
                  <a:schemeClr val="accent1"/>
                </a:solidFill>
              </a:rPr>
              <a:t> % </a:t>
            </a:r>
            <a:r>
              <a:rPr lang="en-US" altLang="en-US" sz="2400" b="1" dirty="0" err="1">
                <a:solidFill>
                  <a:schemeClr val="accent1"/>
                </a:solidFill>
              </a:rPr>
              <a:t>Grid_size</a:t>
            </a:r>
            <a:r>
              <a:rPr lang="en-US" altLang="en-US" sz="2400" b="1" dirty="0">
                <a:solidFill>
                  <a:schemeClr val="accent1"/>
                </a:solidFill>
              </a:rPr>
              <a:t> == 0</a:t>
            </a:r>
            <a:r>
              <a:rPr lang="en-US" altLang="en-US" sz="2400" b="1" dirty="0"/>
              <a:t>.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400" dirty="0"/>
          </a:p>
          <a:p>
            <a:pPr lvl="0" fontAlgn="base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/>
              <a:t>Create a </a:t>
            </a:r>
            <a:r>
              <a:rPr lang="en-US" altLang="en-US" sz="2400" b="1" dirty="0"/>
              <a:t>2-D Cartesian topology </a:t>
            </a:r>
            <a:r>
              <a:rPr lang="en-US" altLang="en-US" sz="2400" dirty="0"/>
              <a:t>with wrap-around (</a:t>
            </a:r>
            <a:r>
              <a:rPr lang="en-US" altLang="en-US" sz="2400" dirty="0" err="1">
                <a:solidFill>
                  <a:schemeClr val="accent1"/>
                </a:solidFill>
              </a:rPr>
              <a:t>MPI_Cart_create</a:t>
            </a:r>
            <a:r>
              <a:rPr lang="en-US" altLang="en-US" sz="2400" dirty="0"/>
              <a:t>,</a:t>
            </a:r>
            <a:r>
              <a:rPr lang="en-US" altLang="en-US" sz="2400" dirty="0">
                <a:solidFill>
                  <a:schemeClr val="accent1"/>
                </a:solidFill>
              </a:rPr>
              <a:t> </a:t>
            </a:r>
            <a:r>
              <a:rPr lang="en-US" altLang="en-US" sz="2400" dirty="0"/>
              <a:t>dims={</a:t>
            </a:r>
            <a:r>
              <a:rPr lang="en-US" altLang="en-US" sz="2400" dirty="0" err="1"/>
              <a:t>Grid,Grid</a:t>
            </a:r>
            <a:r>
              <a:rPr lang="en-US" altLang="en-US" sz="2400" dirty="0"/>
              <a:t>}, periods={1,1}) so every rank knows its (</a:t>
            </a:r>
            <a:r>
              <a:rPr lang="en-US" altLang="en-US" sz="2400" dirty="0" err="1"/>
              <a:t>row,col</a:t>
            </a:r>
            <a:r>
              <a:rPr lang="en-US" altLang="en-US" sz="2400" dirty="0"/>
              <a:t>) coordinates by.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 err="1">
                <a:solidFill>
                  <a:schemeClr val="accent1"/>
                </a:solidFill>
              </a:rPr>
              <a:t>MPI_Cart_Coords</a:t>
            </a:r>
            <a:endParaRPr lang="en-US" altLang="en-US" sz="2400" dirty="0">
              <a:solidFill>
                <a:schemeClr val="accent1"/>
              </a:solidFill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400" dirty="0"/>
          </a:p>
          <a:p>
            <a:pPr lvl="0" fontAlgn="base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/>
              <a:t>Derive an extra row communicator (</a:t>
            </a:r>
            <a:r>
              <a:rPr lang="en-US" altLang="en-US" sz="2400" dirty="0" err="1">
                <a:solidFill>
                  <a:schemeClr val="accent1"/>
                </a:solidFill>
              </a:rPr>
              <a:t>MPI_Comm_split</a:t>
            </a:r>
            <a:r>
              <a:rPr lang="en-US" altLang="en-US" sz="2400" dirty="0"/>
              <a:t>) that groups ranks with the same row for fast broadcasts within rows.</a:t>
            </a:r>
          </a:p>
          <a:p>
            <a:endParaRPr lang="en-IN" sz="2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88EC60B-650D-CD8C-9E30-12A04D0BC981}"/>
              </a:ext>
            </a:extLst>
          </p:cNvPr>
          <p:cNvSpPr txBox="1"/>
          <p:nvPr/>
        </p:nvSpPr>
        <p:spPr>
          <a:xfrm>
            <a:off x="282288" y="5157558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Local storage</a:t>
            </a:r>
            <a:endParaRPr lang="en-IN" sz="2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ABF99CA-3EC4-4F5C-A58E-0EF7599A7D8C}"/>
              </a:ext>
            </a:extLst>
          </p:cNvPr>
          <p:cNvSpPr txBox="1"/>
          <p:nvPr/>
        </p:nvSpPr>
        <p:spPr>
          <a:xfrm>
            <a:off x="1446963" y="5660907"/>
            <a:ext cx="1045028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380990" fontAlgn="base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/>
              <a:t>Each rank allocates only one “</a:t>
            </a:r>
            <a:r>
              <a:rPr lang="en-US" altLang="en-US" sz="2400" dirty="0" err="1">
                <a:solidFill>
                  <a:schemeClr val="accent1"/>
                </a:solidFill>
              </a:rPr>
              <a:t>block_size</a:t>
            </a:r>
            <a:r>
              <a:rPr lang="en-US" altLang="en-US" sz="2400" dirty="0">
                <a:solidFill>
                  <a:schemeClr val="accent1"/>
                </a:solidFill>
              </a:rPr>
              <a:t> = </a:t>
            </a:r>
            <a:r>
              <a:rPr lang="en-US" altLang="en-US" sz="2400" dirty="0" err="1">
                <a:solidFill>
                  <a:schemeClr val="accent1"/>
                </a:solidFill>
              </a:rPr>
              <a:t>Matrix_size</a:t>
            </a:r>
            <a:r>
              <a:rPr lang="en-US" altLang="en-US" sz="2400" dirty="0">
                <a:solidFill>
                  <a:schemeClr val="accent1"/>
                </a:solidFill>
              </a:rPr>
              <a:t>/Grid</a:t>
            </a:r>
            <a:r>
              <a:rPr lang="en-US" altLang="en-US" sz="2400" dirty="0"/>
              <a:t>” square sub-matrix of A, B, C plus a temporary tempA buffer.</a:t>
            </a:r>
          </a:p>
          <a:p>
            <a:pPr indent="-380990" fontAlgn="base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400" dirty="0"/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34704480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8C74A3F-D1AA-7138-C94C-4DA6076E4935}"/>
              </a:ext>
            </a:extLst>
          </p:cNvPr>
          <p:cNvSpPr txBox="1"/>
          <p:nvPr/>
        </p:nvSpPr>
        <p:spPr>
          <a:xfrm>
            <a:off x="522513" y="1368958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Data distribution at Master Node</a:t>
            </a:r>
            <a:endParaRPr lang="en-IN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84AAD4-B24F-0CD8-DFDF-E99BAA302BDB}"/>
              </a:ext>
            </a:extLst>
          </p:cNvPr>
          <p:cNvSpPr txBox="1"/>
          <p:nvPr/>
        </p:nvSpPr>
        <p:spPr>
          <a:xfrm>
            <a:off x="1728318" y="1974545"/>
            <a:ext cx="998190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400" dirty="0"/>
              <a:t>Rank 0 fills full </a:t>
            </a:r>
            <a:r>
              <a:rPr lang="en-US" sz="2400" dirty="0" err="1"/>
              <a:t>matA</a:t>
            </a:r>
            <a:r>
              <a:rPr lang="en-US" sz="2400" dirty="0"/>
              <a:t>, matB with random </a:t>
            </a:r>
            <a:r>
              <a:rPr lang="en-US" sz="2400" dirty="0" err="1"/>
              <a:t>ints</a:t>
            </a:r>
            <a:r>
              <a:rPr lang="en-US" sz="2400" dirty="0"/>
              <a:t>.</a:t>
            </a:r>
          </a:p>
          <a:p>
            <a:endParaRPr lang="en-US" sz="2400" dirty="0"/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400" dirty="0"/>
              <a:t>It slices both matrices into </a:t>
            </a:r>
            <a:r>
              <a:rPr lang="en-US" sz="2400" dirty="0" err="1"/>
              <a:t>block_size</a:t>
            </a:r>
            <a:r>
              <a:rPr lang="en-US" sz="2400" dirty="0"/>
              <a:t> blocks and sends one block of A and B to every rank via two </a:t>
            </a:r>
            <a:r>
              <a:rPr lang="en-US" sz="2400" dirty="0" err="1">
                <a:solidFill>
                  <a:schemeClr val="accent1"/>
                </a:solidFill>
              </a:rPr>
              <a:t>MPI_Send</a:t>
            </a:r>
            <a:r>
              <a:rPr lang="en-US" sz="2400" dirty="0">
                <a:solidFill>
                  <a:schemeClr val="accent1"/>
                </a:solidFill>
              </a:rPr>
              <a:t> calls</a:t>
            </a:r>
            <a:r>
              <a:rPr lang="en-US" sz="2400" dirty="0"/>
              <a:t>.(Sending one element at a time)</a:t>
            </a:r>
          </a:p>
          <a:p>
            <a:endParaRPr lang="en-US" sz="2400" dirty="0"/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400" dirty="0"/>
              <a:t>Non-root ranks receive the blocks with matching </a:t>
            </a:r>
            <a:r>
              <a:rPr lang="en-US" sz="2400" dirty="0" err="1">
                <a:solidFill>
                  <a:schemeClr val="accent1"/>
                </a:solidFill>
              </a:rPr>
              <a:t>MPI_Recv</a:t>
            </a:r>
            <a:r>
              <a:rPr lang="en-US" sz="2400" dirty="0"/>
              <a:t>.</a:t>
            </a:r>
            <a:endParaRPr lang="en-IN" sz="2400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6A0CD700-A529-59FB-419B-A4C8FD6AC2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2514" y="4452205"/>
            <a:ext cx="6255367" cy="861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920" tIns="60960" rIns="121920" bIns="60960" numCol="1" anchor="ctr" anchorCtr="0" compatLnSpc="1">
            <a:prstTxWarp prst="textNoShape">
              <a:avLst/>
            </a:prstTxWarp>
            <a:spAutoFit/>
          </a:bodyPr>
          <a:lstStyle/>
          <a:p>
            <a:pPr defTabSz="121917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 dirty="0"/>
              <a:t>Main Fox loop — for (step = 0; step &lt; q; ++step)</a:t>
            </a:r>
            <a:endParaRPr lang="en-US" altLang="en-US" sz="800" b="1" dirty="0"/>
          </a:p>
          <a:p>
            <a:pPr defTabSz="121917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latin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3592678-3551-926D-5014-6624D8397DAE}"/>
              </a:ext>
            </a:extLst>
          </p:cNvPr>
          <p:cNvSpPr txBox="1"/>
          <p:nvPr/>
        </p:nvSpPr>
        <p:spPr>
          <a:xfrm>
            <a:off x="1896220" y="5076817"/>
            <a:ext cx="65783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189" indent="-457189">
              <a:buFont typeface="+mj-lt"/>
              <a:buAutoNum type="arabicPeriod"/>
            </a:pPr>
            <a:r>
              <a:rPr lang="en-US" sz="2400" dirty="0"/>
              <a:t>Select broadcast root in the current row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C02E08A-719F-8015-3E68-D86DBE8B3B4C}"/>
              </a:ext>
            </a:extLst>
          </p:cNvPr>
          <p:cNvSpPr txBox="1"/>
          <p:nvPr/>
        </p:nvSpPr>
        <p:spPr>
          <a:xfrm>
            <a:off x="3358851" y="5646261"/>
            <a:ext cx="811539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 err="1">
                <a:solidFill>
                  <a:schemeClr val="accent1"/>
                </a:solidFill>
              </a:rPr>
              <a:t>bcast_root</a:t>
            </a:r>
            <a:r>
              <a:rPr lang="en-US" sz="2400" dirty="0">
                <a:solidFill>
                  <a:schemeClr val="accent1"/>
                </a:solidFill>
              </a:rPr>
              <a:t> = (</a:t>
            </a:r>
            <a:r>
              <a:rPr lang="en-US" sz="2400" dirty="0" err="1">
                <a:solidFill>
                  <a:schemeClr val="accent1"/>
                </a:solidFill>
              </a:rPr>
              <a:t>my_row</a:t>
            </a:r>
            <a:r>
              <a:rPr lang="en-US" sz="2400" dirty="0">
                <a:solidFill>
                  <a:schemeClr val="accent1"/>
                </a:solidFill>
              </a:rPr>
              <a:t> + step) % grid </a:t>
            </a:r>
            <a:r>
              <a:rPr lang="en-US" sz="2400" dirty="0"/>
              <a:t>– pivots move one column to the right each iteration.</a:t>
            </a:r>
          </a:p>
        </p:txBody>
      </p:sp>
    </p:spTree>
    <p:extLst>
      <p:ext uri="{BB962C8B-B14F-4D97-AF65-F5344CB8AC3E}">
        <p14:creationId xmlns:p14="http://schemas.microsoft.com/office/powerpoint/2010/main" val="253726964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F797FAF-F534-57D5-C882-463BCCC25BA9}"/>
              </a:ext>
            </a:extLst>
          </p:cNvPr>
          <p:cNvSpPr txBox="1"/>
          <p:nvPr/>
        </p:nvSpPr>
        <p:spPr>
          <a:xfrm>
            <a:off x="1195755" y="1510836"/>
            <a:ext cx="68931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2.   Broadcast A-block inside the row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915B12F-662F-0648-0D48-5A850C0F2FBC}"/>
              </a:ext>
            </a:extLst>
          </p:cNvPr>
          <p:cNvSpPr txBox="1"/>
          <p:nvPr/>
        </p:nvSpPr>
        <p:spPr>
          <a:xfrm>
            <a:off x="1997390" y="2024105"/>
            <a:ext cx="897540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400" dirty="0"/>
              <a:t>If this rank is the root column, copy its local localA into tempA;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A915E99-7C69-944E-07CC-F9C155AD1B68}"/>
              </a:ext>
            </a:extLst>
          </p:cNvPr>
          <p:cNvSpPr txBox="1"/>
          <p:nvPr/>
        </p:nvSpPr>
        <p:spPr>
          <a:xfrm>
            <a:off x="1997390" y="2537374"/>
            <a:ext cx="93883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400" dirty="0"/>
              <a:t>Broadcast every row of tempA with </a:t>
            </a:r>
            <a:r>
              <a:rPr lang="en-US" sz="2400" dirty="0" err="1">
                <a:solidFill>
                  <a:schemeClr val="accent1"/>
                </a:solidFill>
              </a:rPr>
              <a:t>MPI_Bcast</a:t>
            </a:r>
            <a:r>
              <a:rPr lang="en-US" sz="2400" dirty="0">
                <a:solidFill>
                  <a:schemeClr val="accent1"/>
                </a:solidFill>
              </a:rPr>
              <a:t> </a:t>
            </a:r>
            <a:r>
              <a:rPr lang="en-US" sz="2400" dirty="0"/>
              <a:t>on </a:t>
            </a:r>
            <a:r>
              <a:rPr lang="en-US" sz="2400" dirty="0" err="1">
                <a:solidFill>
                  <a:schemeClr val="accent1"/>
                </a:solidFill>
              </a:rPr>
              <a:t>row_comm</a:t>
            </a:r>
            <a:r>
              <a:rPr lang="en-US" sz="2400" dirty="0"/>
              <a:t>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7D136A7-9B40-9EE2-9CB3-57BA20202466}"/>
              </a:ext>
            </a:extLst>
          </p:cNvPr>
          <p:cNvSpPr txBox="1"/>
          <p:nvPr/>
        </p:nvSpPr>
        <p:spPr>
          <a:xfrm>
            <a:off x="1195755" y="3429001"/>
            <a:ext cx="68931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3.   Local multiply-accumulate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17AC993-F11A-91DB-93D7-4F6BC2787B39}"/>
              </a:ext>
            </a:extLst>
          </p:cNvPr>
          <p:cNvSpPr txBox="1"/>
          <p:nvPr/>
        </p:nvSpPr>
        <p:spPr>
          <a:xfrm>
            <a:off x="2492161" y="4074406"/>
            <a:ext cx="68931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localC += tempA × localB</a:t>
            </a:r>
          </a:p>
        </p:txBody>
      </p:sp>
    </p:spTree>
    <p:extLst>
      <p:ext uri="{BB962C8B-B14F-4D97-AF65-F5344CB8AC3E}">
        <p14:creationId xmlns:p14="http://schemas.microsoft.com/office/powerpoint/2010/main" val="253834083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F559AFD-426F-E176-BA31-0E8FA28B2656}"/>
              </a:ext>
            </a:extLst>
          </p:cNvPr>
          <p:cNvSpPr txBox="1"/>
          <p:nvPr/>
        </p:nvSpPr>
        <p:spPr>
          <a:xfrm>
            <a:off x="1433563" y="4158101"/>
            <a:ext cx="1027611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400" dirty="0"/>
              <a:t>After the shift, each rank holds the B-block needed for the next iteration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7832AC-D3B9-EF45-D392-4F831F7FA125}"/>
              </a:ext>
            </a:extLst>
          </p:cNvPr>
          <p:cNvSpPr txBox="1"/>
          <p:nvPr/>
        </p:nvSpPr>
        <p:spPr>
          <a:xfrm>
            <a:off x="691239" y="1394962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4.    Cyclic vertical shift of B-blocks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4D049A-2F54-5A35-B72A-6A0C312C7217}"/>
              </a:ext>
            </a:extLst>
          </p:cNvPr>
          <p:cNvSpPr txBox="1"/>
          <p:nvPr/>
        </p:nvSpPr>
        <p:spPr>
          <a:xfrm>
            <a:off x="1433564" y="2036930"/>
            <a:ext cx="1050914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400" dirty="0"/>
              <a:t>Use </a:t>
            </a:r>
            <a:r>
              <a:rPr lang="en-US" sz="2400" dirty="0" err="1">
                <a:solidFill>
                  <a:schemeClr val="accent1"/>
                </a:solidFill>
              </a:rPr>
              <a:t>MPI_Cart_shift</a:t>
            </a:r>
            <a:r>
              <a:rPr lang="en-US" sz="2400" dirty="0"/>
              <a:t>(</a:t>
            </a:r>
            <a:r>
              <a:rPr lang="en-US" sz="2400" dirty="0" err="1"/>
              <a:t>cart_comm</a:t>
            </a:r>
            <a:r>
              <a:rPr lang="en-US" sz="2400" dirty="0"/>
              <a:t>, /*direction=*/0, /*</a:t>
            </a:r>
            <a:r>
              <a:rPr lang="en-US" sz="2400" dirty="0" err="1"/>
              <a:t>disp</a:t>
            </a:r>
            <a:r>
              <a:rPr lang="en-US" sz="2400" dirty="0"/>
              <a:t>=*/-1, &amp;</a:t>
            </a:r>
            <a:r>
              <a:rPr lang="en-US" sz="2400" dirty="0" err="1"/>
              <a:t>src</a:t>
            </a:r>
            <a:r>
              <a:rPr lang="en-US" sz="2400" dirty="0"/>
              <a:t>, &amp;</a:t>
            </a:r>
            <a:r>
              <a:rPr lang="en-US" sz="2400" dirty="0" err="1"/>
              <a:t>dst</a:t>
            </a:r>
            <a:r>
              <a:rPr lang="en-US" sz="2400" dirty="0"/>
              <a:t>) to find up/down </a:t>
            </a:r>
            <a:r>
              <a:rPr lang="en-US" sz="2400" dirty="0" err="1"/>
              <a:t>neighbours</a:t>
            </a:r>
            <a:r>
              <a:rPr lang="en-US" sz="2400" dirty="0"/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683C18A-A5A5-F1F9-88CC-2532C67BC28C}"/>
              </a:ext>
            </a:extLst>
          </p:cNvPr>
          <p:cNvSpPr txBox="1"/>
          <p:nvPr/>
        </p:nvSpPr>
        <p:spPr>
          <a:xfrm>
            <a:off x="1433564" y="2898705"/>
            <a:ext cx="1042142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accent1"/>
                </a:solidFill>
              </a:rPr>
              <a:t>MPI_Sendrecv_replace</a:t>
            </a:r>
            <a:r>
              <a:rPr lang="en-US" sz="2400" dirty="0"/>
              <a:t>(localB[i], </a:t>
            </a:r>
            <a:r>
              <a:rPr lang="en-US" sz="2400" dirty="0" err="1"/>
              <a:t>block_size</a:t>
            </a:r>
            <a:r>
              <a:rPr lang="en-US" sz="2400" dirty="0"/>
              <a:t>, MPI_INT, </a:t>
            </a:r>
            <a:r>
              <a:rPr lang="en-US" sz="2400" dirty="0" err="1"/>
              <a:t>dst</a:t>
            </a:r>
            <a:r>
              <a:rPr lang="en-US" sz="2400" dirty="0"/>
              <a:t>, tag, </a:t>
            </a:r>
            <a:r>
              <a:rPr lang="en-US" sz="2400" dirty="0" err="1"/>
              <a:t>src</a:t>
            </a:r>
            <a:r>
              <a:rPr lang="en-US" sz="2400" dirty="0"/>
              <a:t>, tag, </a:t>
            </a:r>
            <a:r>
              <a:rPr lang="en-US" sz="2400" dirty="0" err="1"/>
              <a:t>cart_comm</a:t>
            </a:r>
            <a:r>
              <a:rPr lang="en-US" sz="2400" dirty="0"/>
              <a:t>, …) shifts one row up (last row wraps to first) in-place for all rows i of the block.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A5ECCBC-A054-8BB2-3529-8977C38B1C99}"/>
              </a:ext>
            </a:extLst>
          </p:cNvPr>
          <p:cNvSpPr txBox="1"/>
          <p:nvPr/>
        </p:nvSpPr>
        <p:spPr>
          <a:xfrm>
            <a:off x="1200534" y="5472220"/>
            <a:ext cx="10652596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/>
              <a:t>When the loop ends every rank owns its final localC block.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endParaRPr lang="en-US" altLang="en-US" sz="2400" dirty="0"/>
          </a:p>
          <a:p>
            <a:pPr lvl="0" fontAlgn="base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/>
              <a:t>Rank 0 gathers blocks back into the global result matrix with </a:t>
            </a:r>
            <a:r>
              <a:rPr lang="en-US" altLang="en-US" sz="2400" dirty="0" err="1">
                <a:solidFill>
                  <a:schemeClr val="accent1"/>
                </a:solidFill>
              </a:rPr>
              <a:t>MPI_Recv</a:t>
            </a:r>
            <a:r>
              <a:rPr lang="en-US" altLang="en-US" sz="2400" dirty="0">
                <a:solidFill>
                  <a:schemeClr val="accent1"/>
                </a:solidFill>
              </a:rPr>
              <a:t> / </a:t>
            </a:r>
            <a:r>
              <a:rPr lang="en-US" altLang="en-US" sz="2400" dirty="0" err="1">
                <a:solidFill>
                  <a:schemeClr val="accent1"/>
                </a:solidFill>
              </a:rPr>
              <a:t>MPI_Send</a:t>
            </a:r>
            <a:endParaRPr lang="en-US" altLang="en-US" sz="2400" dirty="0">
              <a:solidFill>
                <a:schemeClr val="accent1"/>
              </a:solidFill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endParaRPr lang="en-US" altLang="en-US" sz="2400" dirty="0"/>
          </a:p>
          <a:p>
            <a:endParaRPr lang="en-IN" sz="2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9515F1D-DCC2-AE13-60EB-053F55A9ABAE}"/>
              </a:ext>
            </a:extLst>
          </p:cNvPr>
          <p:cNvSpPr txBox="1"/>
          <p:nvPr/>
        </p:nvSpPr>
        <p:spPr>
          <a:xfrm>
            <a:off x="267956" y="4936861"/>
            <a:ext cx="614958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189" indent="-457189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400" b="1" dirty="0">
                <a:latin typeface="Arial" panose="020B0604020202020204" pitchFamily="34" charset="0"/>
              </a:rPr>
              <a:t>Result collection</a:t>
            </a:r>
            <a:endParaRPr lang="en-US" altLang="en-US" sz="2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181947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30BA0CB-E675-25EA-9BAB-D7D13E13C5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72435"/>
            <a:ext cx="12192000" cy="14701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C6F0AA8-FFA7-C0BB-42ED-FF4C27E37A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0220" y="2745201"/>
            <a:ext cx="3894737" cy="380285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6EA05D2-BA84-9D77-F22A-9183587203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30216" y="6238117"/>
            <a:ext cx="1561785" cy="61988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B54E62D-F308-AA4A-E559-35609DA8DA74}"/>
              </a:ext>
            </a:extLst>
          </p:cNvPr>
          <p:cNvSpPr txBox="1"/>
          <p:nvPr/>
        </p:nvSpPr>
        <p:spPr>
          <a:xfrm>
            <a:off x="8526139" y="2058912"/>
            <a:ext cx="35496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800 * 800 Matrix (25 Rank)</a:t>
            </a:r>
            <a:endParaRPr lang="en-IN" sz="2400" dirty="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6CB9F627-454B-9380-7AB3-CAE354014E62}"/>
              </a:ext>
            </a:extLst>
          </p:cNvPr>
          <p:cNvGraphicFramePr>
            <a:graphicFrameLocks noGrp="1"/>
          </p:cNvGraphicFramePr>
          <p:nvPr/>
        </p:nvGraphicFramePr>
        <p:xfrm>
          <a:off x="-23791" y="2430631"/>
          <a:ext cx="8222080" cy="4431996"/>
        </p:xfrm>
        <a:graphic>
          <a:graphicData uri="http://schemas.openxmlformats.org/drawingml/2006/table">
            <a:tbl>
              <a:tblPr/>
              <a:tblGrid>
                <a:gridCol w="2055520">
                  <a:extLst>
                    <a:ext uri="{9D8B030D-6E8A-4147-A177-3AD203B41FA5}">
                      <a16:colId xmlns:a16="http://schemas.microsoft.com/office/drawing/2014/main" val="2833560291"/>
                    </a:ext>
                  </a:extLst>
                </a:gridCol>
                <a:gridCol w="2055520">
                  <a:extLst>
                    <a:ext uri="{9D8B030D-6E8A-4147-A177-3AD203B41FA5}">
                      <a16:colId xmlns:a16="http://schemas.microsoft.com/office/drawing/2014/main" val="486570031"/>
                    </a:ext>
                  </a:extLst>
                </a:gridCol>
                <a:gridCol w="2055520">
                  <a:extLst>
                    <a:ext uri="{9D8B030D-6E8A-4147-A177-3AD203B41FA5}">
                      <a16:colId xmlns:a16="http://schemas.microsoft.com/office/drawing/2014/main" val="3213231023"/>
                    </a:ext>
                  </a:extLst>
                </a:gridCol>
                <a:gridCol w="2055520">
                  <a:extLst>
                    <a:ext uri="{9D8B030D-6E8A-4147-A177-3AD203B41FA5}">
                      <a16:colId xmlns:a16="http://schemas.microsoft.com/office/drawing/2014/main" val="3679760879"/>
                    </a:ext>
                  </a:extLst>
                </a:gridCol>
              </a:tblGrid>
              <a:tr h="615316">
                <a:tc>
                  <a:txBody>
                    <a:bodyPr/>
                    <a:lstStyle/>
                    <a:p>
                      <a:r>
                        <a:rPr lang="en-IN" sz="1900"/>
                        <a:t>Metric</a:t>
                      </a:r>
                    </a:p>
                  </a:txBody>
                  <a:tcPr marL="94280" marR="94280" marT="47140" marB="471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900" dirty="0"/>
                        <a:t>Row-wise</a:t>
                      </a:r>
                    </a:p>
                  </a:txBody>
                  <a:tcPr marL="94280" marR="94280" marT="47140" marB="471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900" dirty="0"/>
                        <a:t>Fox</a:t>
                      </a:r>
                    </a:p>
                  </a:txBody>
                  <a:tcPr marL="94280" marR="94280" marT="47140" marB="471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dirty="0"/>
                        <a:t>Key difference</a:t>
                      </a:r>
                    </a:p>
                  </a:txBody>
                  <a:tcPr marL="94280" marR="94280" marT="47140" marB="471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997310"/>
                  </a:ext>
                </a:extLst>
              </a:tr>
              <a:tr h="879240">
                <a:tc>
                  <a:txBody>
                    <a:bodyPr/>
                    <a:lstStyle/>
                    <a:p>
                      <a:r>
                        <a:rPr lang="en-IN" sz="1900" b="1" dirty="0"/>
                        <a:t>send/</a:t>
                      </a:r>
                      <a:r>
                        <a:rPr lang="en-IN" sz="1900" b="1" dirty="0" err="1"/>
                        <a:t>recv</a:t>
                      </a:r>
                      <a:r>
                        <a:rPr lang="en-IN" sz="1900" b="1" dirty="0"/>
                        <a:t> ratio</a:t>
                      </a:r>
                      <a:endParaRPr lang="en-IN" sz="1900" dirty="0"/>
                    </a:p>
                  </a:txBody>
                  <a:tcPr marL="94280" marR="94280" marT="47140" marB="471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dirty="0"/>
                        <a:t>Root network (≈ 31 MB sent)</a:t>
                      </a:r>
                    </a:p>
                  </a:txBody>
                  <a:tcPr marL="94280" marR="94280" marT="47140" marB="471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dirty="0"/>
                        <a:t>All ranks within 1–6 MB</a:t>
                      </a:r>
                    </a:p>
                  </a:txBody>
                  <a:tcPr marL="94280" marR="94280" marT="47140" marB="471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900" dirty="0"/>
                        <a:t>Even load across node</a:t>
                      </a:r>
                    </a:p>
                  </a:txBody>
                  <a:tcPr marL="94280" marR="94280" marT="47140" marB="471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1463337"/>
                  </a:ext>
                </a:extLst>
              </a:tr>
              <a:tr h="947720">
                <a:tc>
                  <a:txBody>
                    <a:bodyPr/>
                    <a:lstStyle/>
                    <a:p>
                      <a:r>
                        <a:rPr lang="en-IN" sz="1900" b="1" dirty="0"/>
                        <a:t>max send ratio</a:t>
                      </a:r>
                      <a:endParaRPr lang="en-IN" sz="1900" dirty="0"/>
                    </a:p>
                  </a:txBody>
                  <a:tcPr marL="94280" marR="94280" marT="47140" marB="471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dirty="0"/>
                        <a:t>A step ladder cause of </a:t>
                      </a:r>
                      <a:r>
                        <a:rPr lang="en-US" sz="1900" dirty="0" err="1"/>
                        <a:t>MPI_Bcast</a:t>
                      </a:r>
                      <a:r>
                        <a:rPr lang="en-US" sz="1900" dirty="0"/>
                        <a:t>()</a:t>
                      </a:r>
                    </a:p>
                  </a:txBody>
                  <a:tcPr marL="94280" marR="94280" marT="47140" marB="471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900"/>
                        <a:t>Only root’s scatter visible</a:t>
                      </a:r>
                    </a:p>
                  </a:txBody>
                  <a:tcPr marL="94280" marR="94280" marT="47140" marB="471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dirty="0"/>
                        <a:t>Fox removes cascade of re-sends.</a:t>
                      </a:r>
                    </a:p>
                  </a:txBody>
                  <a:tcPr marL="94280" marR="94280" marT="47140" marB="471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2701831"/>
                  </a:ext>
                </a:extLst>
              </a:tr>
              <a:tr h="663240">
                <a:tc>
                  <a:txBody>
                    <a:bodyPr/>
                    <a:lstStyle/>
                    <a:p>
                      <a:r>
                        <a:rPr lang="en-IN" sz="1900" b="1"/>
                        <a:t>max recv ratio</a:t>
                      </a:r>
                      <a:endParaRPr lang="en-IN" sz="1900"/>
                    </a:p>
                  </a:txBody>
                  <a:tcPr marL="94280" marR="94280" marT="47140" marB="471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dirty="0"/>
                        <a:t>Everyone pulls full </a:t>
                      </a:r>
                      <a:r>
                        <a:rPr lang="en-US" sz="1900" b="1" dirty="0"/>
                        <a:t>B</a:t>
                      </a:r>
                      <a:r>
                        <a:rPr lang="en-US" sz="1900" dirty="0"/>
                        <a:t> + extras</a:t>
                      </a:r>
                    </a:p>
                  </a:txBody>
                  <a:tcPr marL="94280" marR="94280" marT="47140" marB="471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dirty="0"/>
                        <a:t>Root pulls less, workers same</a:t>
                      </a:r>
                    </a:p>
                  </a:txBody>
                  <a:tcPr marL="94280" marR="94280" marT="47140" marB="471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900" dirty="0"/>
                        <a:t>Row-wise needs extra A-rows.</a:t>
                      </a:r>
                    </a:p>
                  </a:txBody>
                  <a:tcPr marL="94280" marR="94280" marT="47140" marB="471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8605634"/>
                  </a:ext>
                </a:extLst>
              </a:tr>
              <a:tr h="663240">
                <a:tc>
                  <a:txBody>
                    <a:bodyPr/>
                    <a:lstStyle/>
                    <a:p>
                      <a:r>
                        <a:rPr lang="en-IN" sz="1900" b="1" dirty="0"/>
                        <a:t>wait late sender</a:t>
                      </a:r>
                      <a:endParaRPr lang="en-IN" sz="1900" dirty="0"/>
                    </a:p>
                  </a:txBody>
                  <a:tcPr marL="94280" marR="94280" marT="47140" marB="471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900"/>
                        <a:t>Workers idle ~1 %</a:t>
                      </a:r>
                    </a:p>
                  </a:txBody>
                  <a:tcPr marL="94280" marR="94280" marT="47140" marB="471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900" dirty="0"/>
                        <a:t>Same ~1 %</a:t>
                      </a:r>
                    </a:p>
                  </a:txBody>
                  <a:tcPr marL="94280" marR="94280" marT="47140" marB="471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900"/>
                        <a:t>Data-arrival stall similar.</a:t>
                      </a:r>
                    </a:p>
                  </a:txBody>
                  <a:tcPr marL="94280" marR="94280" marT="47140" marB="471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8663302"/>
                  </a:ext>
                </a:extLst>
              </a:tr>
              <a:tr h="663240">
                <a:tc>
                  <a:txBody>
                    <a:bodyPr/>
                    <a:lstStyle/>
                    <a:p>
                      <a:r>
                        <a:rPr lang="en-IN" sz="1900" b="1"/>
                        <a:t>wait late receiver</a:t>
                      </a:r>
                      <a:endParaRPr lang="en-IN" sz="1900"/>
                    </a:p>
                  </a:txBody>
                  <a:tcPr marL="94280" marR="94280" marT="47140" marB="471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900"/>
                        <a:t>Root waits &gt;40 %</a:t>
                      </a:r>
                    </a:p>
                  </a:txBody>
                  <a:tcPr marL="94280" marR="94280" marT="47140" marB="471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900"/>
                        <a:t>Root waits only during setup</a:t>
                      </a:r>
                    </a:p>
                  </a:txBody>
                  <a:tcPr marL="94280" marR="94280" marT="47140" marB="471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900" dirty="0"/>
                        <a:t>Fox clears runtime bottleneck.</a:t>
                      </a:r>
                    </a:p>
                  </a:txBody>
                  <a:tcPr marL="94280" marR="94280" marT="47140" marB="471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37914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840558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AB1AB0A-7186-ADD8-C895-4CC1BAA2D4F5}"/>
              </a:ext>
            </a:extLst>
          </p:cNvPr>
          <p:cNvGraphicFramePr>
            <a:graphicFrameLocks noGrp="1"/>
          </p:cNvGraphicFramePr>
          <p:nvPr/>
        </p:nvGraphicFramePr>
        <p:xfrm>
          <a:off x="157056" y="2033271"/>
          <a:ext cx="3420533" cy="3302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56893">
                  <a:extLst>
                    <a:ext uri="{9D8B030D-6E8A-4147-A177-3AD203B41FA5}">
                      <a16:colId xmlns:a16="http://schemas.microsoft.com/office/drawing/2014/main" val="1075287955"/>
                    </a:ext>
                  </a:extLst>
                </a:gridCol>
                <a:gridCol w="1152847">
                  <a:extLst>
                    <a:ext uri="{9D8B030D-6E8A-4147-A177-3AD203B41FA5}">
                      <a16:colId xmlns:a16="http://schemas.microsoft.com/office/drawing/2014/main" val="1383105474"/>
                    </a:ext>
                  </a:extLst>
                </a:gridCol>
                <a:gridCol w="810793">
                  <a:extLst>
                    <a:ext uri="{9D8B030D-6E8A-4147-A177-3AD203B41FA5}">
                      <a16:colId xmlns:a16="http://schemas.microsoft.com/office/drawing/2014/main" val="2910117825"/>
                    </a:ext>
                  </a:extLst>
                </a:gridCol>
              </a:tblGrid>
              <a:tr h="101600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u="none" strike="noStrike" dirty="0">
                          <a:effectLst/>
                        </a:rPr>
                        <a:t>Matrix Size (N) / Processes (P)</a:t>
                      </a:r>
                      <a:endParaRPr lang="en-IN" sz="15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u="none" strike="noStrike">
                          <a:effectLst/>
                        </a:rPr>
                        <a:t>Fox Algo</a:t>
                      </a:r>
                      <a:endParaRPr lang="en-IN" sz="15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u="none" strike="noStrike">
                          <a:effectLst/>
                        </a:rPr>
                        <a:t>Row Wise Multiplication</a:t>
                      </a:r>
                      <a:endParaRPr lang="en-IN" sz="15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700" marR="12700" marT="12700" marB="0" anchor="ctr"/>
                </a:tc>
                <a:extLst>
                  <a:ext uri="{0D108BD9-81ED-4DB2-BD59-A6C34878D82A}">
                    <a16:rowId xmlns:a16="http://schemas.microsoft.com/office/drawing/2014/main" val="1502349954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l" fontAlgn="ctr"/>
                      <a:r>
                        <a:rPr lang="en-IN" sz="1500" u="none" strike="noStrike">
                          <a:effectLst/>
                        </a:rPr>
                        <a:t>800 / 25</a:t>
                      </a:r>
                      <a:endParaRPr lang="en-IN" sz="15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500" u="none" strike="noStrike">
                          <a:effectLst/>
                        </a:rPr>
                        <a:t>81.01</a:t>
                      </a:r>
                      <a:endParaRPr lang="en-IN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500" u="none" strike="noStrike">
                          <a:effectLst/>
                        </a:rPr>
                        <a:t>49.55</a:t>
                      </a:r>
                      <a:endParaRPr lang="en-IN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700" marR="12700" marT="12700" marB="0" anchor="ctr"/>
                </a:tc>
                <a:extLst>
                  <a:ext uri="{0D108BD9-81ED-4DB2-BD59-A6C34878D82A}">
                    <a16:rowId xmlns:a16="http://schemas.microsoft.com/office/drawing/2014/main" val="1279543667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l" fontAlgn="ctr"/>
                      <a:r>
                        <a:rPr lang="en-IN" sz="1500" u="none" strike="noStrike">
                          <a:effectLst/>
                        </a:rPr>
                        <a:t>800 / 64</a:t>
                      </a:r>
                      <a:endParaRPr lang="en-IN" sz="15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500" u="none" strike="noStrike">
                          <a:effectLst/>
                        </a:rPr>
                        <a:t>244</a:t>
                      </a:r>
                      <a:endParaRPr lang="en-IN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500" u="none" strike="noStrike">
                          <a:effectLst/>
                        </a:rPr>
                        <a:t>142.93</a:t>
                      </a:r>
                      <a:endParaRPr lang="en-IN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700" marR="12700" marT="12700" marB="0" anchor="ctr"/>
                </a:tc>
                <a:extLst>
                  <a:ext uri="{0D108BD9-81ED-4DB2-BD59-A6C34878D82A}">
                    <a16:rowId xmlns:a16="http://schemas.microsoft.com/office/drawing/2014/main" val="2521738157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l" fontAlgn="ctr"/>
                      <a:r>
                        <a:rPr lang="en-IN" sz="1500" u="none" strike="noStrike">
                          <a:effectLst/>
                        </a:rPr>
                        <a:t>800 / 100</a:t>
                      </a:r>
                      <a:endParaRPr lang="en-IN" sz="15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500" u="none" strike="noStrike">
                          <a:effectLst/>
                        </a:rPr>
                        <a:t>466.1</a:t>
                      </a:r>
                      <a:endParaRPr lang="en-IN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500" u="none" strike="noStrike">
                          <a:effectLst/>
                        </a:rPr>
                        <a:t>285.79</a:t>
                      </a:r>
                      <a:endParaRPr lang="en-IN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700" marR="12700" marT="12700" marB="0" anchor="ctr"/>
                </a:tc>
                <a:extLst>
                  <a:ext uri="{0D108BD9-81ED-4DB2-BD59-A6C34878D82A}">
                    <a16:rowId xmlns:a16="http://schemas.microsoft.com/office/drawing/2014/main" val="72398238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l" fontAlgn="ctr"/>
                      <a:r>
                        <a:rPr lang="en-IN" sz="1500" u="none" strike="noStrike">
                          <a:effectLst/>
                        </a:rPr>
                        <a:t>2000 / 100</a:t>
                      </a:r>
                      <a:endParaRPr lang="en-IN" sz="15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500" u="none" strike="noStrike">
                          <a:effectLst/>
                        </a:rPr>
                        <a:t>1715.6</a:t>
                      </a:r>
                      <a:endParaRPr lang="en-IN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500" u="none" strike="noStrike">
                          <a:effectLst/>
                        </a:rPr>
                        <a:t>574.75</a:t>
                      </a:r>
                      <a:endParaRPr lang="en-IN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700" marR="12700" marT="12700" marB="0" anchor="ctr"/>
                </a:tc>
                <a:extLst>
                  <a:ext uri="{0D108BD9-81ED-4DB2-BD59-A6C34878D82A}">
                    <a16:rowId xmlns:a16="http://schemas.microsoft.com/office/drawing/2014/main" val="56770023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l" fontAlgn="ctr"/>
                      <a:r>
                        <a:rPr lang="en-IN" sz="1500" u="none" strike="noStrike">
                          <a:effectLst/>
                        </a:rPr>
                        <a:t>4000 / 64</a:t>
                      </a:r>
                      <a:endParaRPr lang="en-IN" sz="15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IN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500" u="none" strike="noStrike">
                          <a:effectLst/>
                        </a:rPr>
                        <a:t>1876.46</a:t>
                      </a:r>
                      <a:endParaRPr lang="en-IN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700" marR="12700" marT="12700" marB="0" anchor="ctr"/>
                </a:tc>
                <a:extLst>
                  <a:ext uri="{0D108BD9-81ED-4DB2-BD59-A6C34878D82A}">
                    <a16:rowId xmlns:a16="http://schemas.microsoft.com/office/drawing/2014/main" val="2495567905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l" fontAlgn="ctr"/>
                      <a:r>
                        <a:rPr lang="en-IN" sz="1500" u="none" strike="noStrike">
                          <a:effectLst/>
                        </a:rPr>
                        <a:t>4000 / 100</a:t>
                      </a:r>
                      <a:endParaRPr lang="en-IN" sz="15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IN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500" u="none" strike="noStrike">
                          <a:effectLst/>
                        </a:rPr>
                        <a:t>2251.97</a:t>
                      </a:r>
                      <a:endParaRPr lang="en-IN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700" marR="12700" marT="12700" marB="0" anchor="ctr"/>
                </a:tc>
                <a:extLst>
                  <a:ext uri="{0D108BD9-81ED-4DB2-BD59-A6C34878D82A}">
                    <a16:rowId xmlns:a16="http://schemas.microsoft.com/office/drawing/2014/main" val="403717607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l" fontAlgn="ctr"/>
                      <a:r>
                        <a:rPr lang="en-IN" sz="1500" u="none" strike="noStrike">
                          <a:effectLst/>
                        </a:rPr>
                        <a:t>6000 / 100</a:t>
                      </a:r>
                      <a:endParaRPr lang="en-IN" sz="15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IN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500" u="none" strike="noStrike">
                          <a:effectLst/>
                        </a:rPr>
                        <a:t>6412.9</a:t>
                      </a:r>
                      <a:endParaRPr lang="en-IN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700" marR="12700" marT="12700" marB="0" anchor="ctr"/>
                </a:tc>
                <a:extLst>
                  <a:ext uri="{0D108BD9-81ED-4DB2-BD59-A6C34878D82A}">
                    <a16:rowId xmlns:a16="http://schemas.microsoft.com/office/drawing/2014/main" val="2273251566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l" fontAlgn="ctr"/>
                      <a:r>
                        <a:rPr lang="en-IN" sz="1500" u="none" strike="noStrike">
                          <a:effectLst/>
                        </a:rPr>
                        <a:t>7995 / 225</a:t>
                      </a:r>
                      <a:endParaRPr lang="en-IN" sz="15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IN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500" u="none" strike="noStrike">
                          <a:effectLst/>
                        </a:rPr>
                        <a:t>20100</a:t>
                      </a:r>
                      <a:endParaRPr lang="en-IN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700" marR="12700" marT="12700" marB="0" anchor="ctr"/>
                </a:tc>
                <a:extLst>
                  <a:ext uri="{0D108BD9-81ED-4DB2-BD59-A6C34878D82A}">
                    <a16:rowId xmlns:a16="http://schemas.microsoft.com/office/drawing/2014/main" val="1243717467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l" fontAlgn="ctr"/>
                      <a:r>
                        <a:rPr lang="en-IN" sz="1500" u="none" strike="noStrike">
                          <a:effectLst/>
                        </a:rPr>
                        <a:t>8000 / 100</a:t>
                      </a:r>
                      <a:endParaRPr lang="en-IN" sz="15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IN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500" u="none" strike="noStrike" dirty="0">
                          <a:effectLst/>
                        </a:rPr>
                        <a:t>20600</a:t>
                      </a:r>
                      <a:endParaRPr lang="en-IN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700" marR="12700" marT="12700" marB="0" anchor="ctr"/>
                </a:tc>
                <a:extLst>
                  <a:ext uri="{0D108BD9-81ED-4DB2-BD59-A6C34878D82A}">
                    <a16:rowId xmlns:a16="http://schemas.microsoft.com/office/drawing/2014/main" val="792227460"/>
                  </a:ext>
                </a:extLst>
              </a:tr>
            </a:tbl>
          </a:graphicData>
        </a:graphic>
      </p:graphicFrame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4E350E58-9468-E912-7AAC-02B581DD7F52}"/>
              </a:ext>
              <a:ext uri="{147F2762-F138-4A5C-976F-8EAC2B608ADB}">
                <a16:predDERef xmlns:a16="http://schemas.microsoft.com/office/drawing/2014/main" pred="{ADABFDC9-0A39-DF22-4D66-FD419D945193}"/>
              </a:ext>
            </a:extLst>
          </p:cNvPr>
          <p:cNvGraphicFramePr>
            <a:graphicFrameLocks/>
          </p:cNvGraphicFramePr>
          <p:nvPr/>
        </p:nvGraphicFramePr>
        <p:xfrm>
          <a:off x="3506470" y="1544321"/>
          <a:ext cx="8775700" cy="42799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76043597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7286DA3-AD00-562D-8C5D-4522148414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3839" y="1196165"/>
            <a:ext cx="8131359" cy="5661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58628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0D674-4C9F-E2D5-43C0-FDA849AF8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275160"/>
            <a:ext cx="8075940" cy="753539"/>
          </a:xfrm>
        </p:spPr>
        <p:txBody>
          <a:bodyPr/>
          <a:lstStyle/>
          <a:p>
            <a:r>
              <a:rPr lang="en-US" sz="2667" dirty="0"/>
              <a:t>Why this code is not Scalable</a:t>
            </a:r>
            <a:endParaRPr lang="en-IN" sz="2667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B4BAE5-55D6-0F2B-5FD7-8AEF14DB44B9}"/>
              </a:ext>
            </a:extLst>
          </p:cNvPr>
          <p:cNvSpPr txBox="1"/>
          <p:nvPr/>
        </p:nvSpPr>
        <p:spPr>
          <a:xfrm>
            <a:off x="352660" y="1430798"/>
            <a:ext cx="96011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Based on previous performance review:  (2000 X 2000) Matrix , 100 process</a:t>
            </a:r>
            <a:endParaRPr lang="en-IN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9478D4-ADBD-F3F2-2C66-B459835F136D}"/>
              </a:ext>
            </a:extLst>
          </p:cNvPr>
          <p:cNvSpPr txBox="1"/>
          <p:nvPr/>
        </p:nvSpPr>
        <p:spPr>
          <a:xfrm>
            <a:off x="352661" y="2079118"/>
            <a:ext cx="39752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400" dirty="0"/>
              <a:t>Too many blocking request </a:t>
            </a:r>
            <a:endParaRPr lang="en-IN" sz="2400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7AFC86AA-94EA-4A96-9417-816C9A3C4E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7869" y="2571561"/>
            <a:ext cx="9395136" cy="861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920" tIns="60960" rIns="121920" bIns="6096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/>
              <a:t>Every row of A is broadcast separately</a:t>
            </a:r>
            <a:br>
              <a:rPr lang="en-US" altLang="en-US" sz="2400" dirty="0"/>
            </a:br>
            <a:r>
              <a:rPr lang="en-US" altLang="en-US" sz="2400" dirty="0"/>
              <a:t>Every row of B is shifted separately Result: ≈ 8 million point-to-point calls.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FCA2D1F-A6DC-A8F9-886E-74B4981D7575}"/>
              </a:ext>
            </a:extLst>
          </p:cNvPr>
          <p:cNvSpPr txBox="1"/>
          <p:nvPr/>
        </p:nvSpPr>
        <p:spPr>
          <a:xfrm>
            <a:off x="2388021" y="3679557"/>
            <a:ext cx="876772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Solution</a:t>
            </a:r>
            <a:r>
              <a:rPr lang="en-US" sz="2400" dirty="0"/>
              <a:t>: Change Array Matrix Structure to have 1D flatten structure </a:t>
            </a:r>
          </a:p>
          <a:p>
            <a:r>
              <a:rPr lang="en-US" sz="2400" dirty="0"/>
              <a:t>	and send with </a:t>
            </a:r>
            <a:r>
              <a:rPr lang="en-US" sz="2400" dirty="0" err="1"/>
              <a:t>MPI_send</a:t>
            </a:r>
            <a:r>
              <a:rPr lang="en-US" sz="2400" dirty="0"/>
              <a:t>/</a:t>
            </a:r>
            <a:r>
              <a:rPr lang="en-US" sz="2400" dirty="0" err="1"/>
              <a:t>MPI_bcast</a:t>
            </a:r>
            <a:r>
              <a:rPr lang="en-US" sz="2400" dirty="0"/>
              <a:t>. </a:t>
            </a:r>
            <a:endParaRPr lang="en-IN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DB08AE-85DE-E757-5473-234BA3FE24DC}"/>
              </a:ext>
            </a:extLst>
          </p:cNvPr>
          <p:cNvSpPr txBox="1"/>
          <p:nvPr/>
        </p:nvSpPr>
        <p:spPr>
          <a:xfrm>
            <a:off x="553113" y="5131553"/>
            <a:ext cx="45387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400" dirty="0"/>
              <a:t>Sending one element in a block </a:t>
            </a:r>
            <a:endParaRPr lang="en-IN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A35A2C-0BA5-A3E4-1C1A-952C511D7B7B}"/>
              </a:ext>
            </a:extLst>
          </p:cNvPr>
          <p:cNvSpPr txBox="1"/>
          <p:nvPr/>
        </p:nvSpPr>
        <p:spPr>
          <a:xfrm>
            <a:off x="2493819" y="5724103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Solution: </a:t>
            </a:r>
            <a:r>
              <a:rPr lang="en-US" sz="2400" dirty="0"/>
              <a:t>Send whole block data in one </a:t>
            </a:r>
            <a:r>
              <a:rPr lang="en-US" sz="2400" dirty="0" err="1"/>
              <a:t>MPI_send</a:t>
            </a:r>
            <a:endParaRPr lang="en-IN" sz="24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343E125-A1E8-8515-402A-40B896258A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1739" y="4641439"/>
            <a:ext cx="3826916" cy="115894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F70CE18-E2D1-0651-611F-215794372A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2441" y="1923241"/>
            <a:ext cx="2286900" cy="1114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38213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598B4E1-C0E2-55AD-BE66-8D5AF73FABE8}"/>
              </a:ext>
            </a:extLst>
          </p:cNvPr>
          <p:cNvGraphicFramePr>
            <a:graphicFrameLocks noGrp="1"/>
          </p:cNvGraphicFramePr>
          <p:nvPr/>
        </p:nvGraphicFramePr>
        <p:xfrm>
          <a:off x="538480" y="1807632"/>
          <a:ext cx="11054080" cy="42274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0816">
                  <a:extLst>
                    <a:ext uri="{9D8B030D-6E8A-4147-A177-3AD203B41FA5}">
                      <a16:colId xmlns:a16="http://schemas.microsoft.com/office/drawing/2014/main" val="883420495"/>
                    </a:ext>
                  </a:extLst>
                </a:gridCol>
                <a:gridCol w="2210816">
                  <a:extLst>
                    <a:ext uri="{9D8B030D-6E8A-4147-A177-3AD203B41FA5}">
                      <a16:colId xmlns:a16="http://schemas.microsoft.com/office/drawing/2014/main" val="3497233519"/>
                    </a:ext>
                  </a:extLst>
                </a:gridCol>
                <a:gridCol w="2210816">
                  <a:extLst>
                    <a:ext uri="{9D8B030D-6E8A-4147-A177-3AD203B41FA5}">
                      <a16:colId xmlns:a16="http://schemas.microsoft.com/office/drawing/2014/main" val="3245585294"/>
                    </a:ext>
                  </a:extLst>
                </a:gridCol>
                <a:gridCol w="2210816">
                  <a:extLst>
                    <a:ext uri="{9D8B030D-6E8A-4147-A177-3AD203B41FA5}">
                      <a16:colId xmlns:a16="http://schemas.microsoft.com/office/drawing/2014/main" val="3981969762"/>
                    </a:ext>
                  </a:extLst>
                </a:gridCol>
                <a:gridCol w="2210816">
                  <a:extLst>
                    <a:ext uri="{9D8B030D-6E8A-4147-A177-3AD203B41FA5}">
                      <a16:colId xmlns:a16="http://schemas.microsoft.com/office/drawing/2014/main" val="3446300088"/>
                    </a:ext>
                  </a:extLst>
                </a:gridCol>
              </a:tblGrid>
              <a:tr h="704568">
                <a:tc>
                  <a:txBody>
                    <a:bodyPr/>
                    <a:lstStyle/>
                    <a:p>
                      <a:pPr algn="l" fontAlgn="ctr"/>
                      <a:r>
                        <a:rPr lang="en-IN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Metric</a:t>
                      </a: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nl-NL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800×800 @ 25 ranks</a:t>
                      </a: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nl-NL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800×800 @ 64 ranks</a:t>
                      </a: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nl-NL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800×800 @ 100 ranks</a:t>
                      </a: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nl-NL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2000×2000 @ 100 ranks</a:t>
                      </a:r>
                    </a:p>
                  </a:txBody>
                  <a:tcPr marL="12700" marR="12700" marT="12700" marB="0" anchor="ctr"/>
                </a:tc>
                <a:extLst>
                  <a:ext uri="{0D108BD9-81ED-4DB2-BD59-A6C34878D82A}">
                    <a16:rowId xmlns:a16="http://schemas.microsoft.com/office/drawing/2014/main" val="2584730028"/>
                  </a:ext>
                </a:extLst>
              </a:tr>
              <a:tr h="704568">
                <a:tc>
                  <a:txBody>
                    <a:bodyPr/>
                    <a:lstStyle/>
                    <a:p>
                      <a:pPr algn="l" fontAlgn="ctr"/>
                      <a:r>
                        <a:rPr lang="en-IN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Wall-clock time</a:t>
                      </a: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81.01 s</a:t>
                      </a: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244.01 s</a:t>
                      </a: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466.10 s</a:t>
                      </a: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1 715.60 s</a:t>
                      </a:r>
                    </a:p>
                  </a:txBody>
                  <a:tcPr marL="12700" marR="12700" marT="12700" marB="0" anchor="ctr"/>
                </a:tc>
                <a:extLst>
                  <a:ext uri="{0D108BD9-81ED-4DB2-BD59-A6C34878D82A}">
                    <a16:rowId xmlns:a16="http://schemas.microsoft.com/office/drawing/2014/main" val="3273261897"/>
                  </a:ext>
                </a:extLst>
              </a:tr>
              <a:tr h="704568">
                <a:tc>
                  <a:txBody>
                    <a:bodyPr/>
                    <a:lstStyle/>
                    <a:p>
                      <a:pPr algn="l" fontAlgn="ctr"/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Computational imbalance</a:t>
                      </a: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0.87 s (~1.1%)</a:t>
                      </a: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0.92 s (~0.38%)</a:t>
                      </a: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1.13 s (~0.24%)</a:t>
                      </a: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7.04 s (~0.41%)</a:t>
                      </a:r>
                    </a:p>
                  </a:txBody>
                  <a:tcPr marL="12700" marR="12700" marT="12700" marB="0" anchor="ctr"/>
                </a:tc>
                <a:extLst>
                  <a:ext uri="{0D108BD9-81ED-4DB2-BD59-A6C34878D82A}">
                    <a16:rowId xmlns:a16="http://schemas.microsoft.com/office/drawing/2014/main" val="3213044431"/>
                  </a:ext>
                </a:extLst>
              </a:tr>
              <a:tr h="7045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Min / Max inclusive task time</a:t>
                      </a: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 s / 3.25 s</a:t>
                      </a: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 s / 3.86 s</a:t>
                      </a: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 s / 4.76 s</a:t>
                      </a: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 s / 17.27 s</a:t>
                      </a:r>
                    </a:p>
                  </a:txBody>
                  <a:tcPr marL="12700" marR="12700" marT="12700" marB="0" anchor="ctr"/>
                </a:tc>
                <a:extLst>
                  <a:ext uri="{0D108BD9-81ED-4DB2-BD59-A6C34878D82A}">
                    <a16:rowId xmlns:a16="http://schemas.microsoft.com/office/drawing/2014/main" val="2057476323"/>
                  </a:ext>
                </a:extLst>
              </a:tr>
              <a:tr h="704568">
                <a:tc>
                  <a:txBody>
                    <a:bodyPr/>
                    <a:lstStyle/>
                    <a:p>
                      <a:pPr algn="l" fontAlgn="ctr"/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 bytes moved</a:t>
                      </a: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65.9 MB</a:t>
                      </a: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97.0 MB</a:t>
                      </a: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118 MB</a:t>
                      </a: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735 MB</a:t>
                      </a:r>
                    </a:p>
                  </a:txBody>
                  <a:tcPr marL="12700" marR="12700" marT="12700" marB="0" anchor="ctr"/>
                </a:tc>
                <a:extLst>
                  <a:ext uri="{0D108BD9-81ED-4DB2-BD59-A6C34878D82A}">
                    <a16:rowId xmlns:a16="http://schemas.microsoft.com/office/drawing/2014/main" val="3744631678"/>
                  </a:ext>
                </a:extLst>
              </a:tr>
              <a:tr h="704568">
                <a:tc>
                  <a:txBody>
                    <a:bodyPr/>
                    <a:lstStyle/>
                    <a:p>
                      <a:pPr algn="l" fontAlgn="ctr"/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 MPI calls (occurrences)</a:t>
                      </a: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2.51 million</a:t>
                      </a: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2.64 million</a:t>
                      </a: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2.71 million</a:t>
                      </a: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16.3 million</a:t>
                      </a:r>
                    </a:p>
                  </a:txBody>
                  <a:tcPr marL="12700" marR="12700" marT="12700" marB="0" anchor="ctr"/>
                </a:tc>
                <a:extLst>
                  <a:ext uri="{0D108BD9-81ED-4DB2-BD59-A6C34878D82A}">
                    <a16:rowId xmlns:a16="http://schemas.microsoft.com/office/drawing/2014/main" val="1762688955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D67C2F5E-907B-B387-F5A1-7E87B9E6BBE0}"/>
              </a:ext>
            </a:extLst>
          </p:cNvPr>
          <p:cNvSpPr txBox="1"/>
          <p:nvPr/>
        </p:nvSpPr>
        <p:spPr>
          <a:xfrm>
            <a:off x="701040" y="327819"/>
            <a:ext cx="6096000" cy="502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67" b="1" dirty="0"/>
              <a:t>Overall Execution Summary</a:t>
            </a:r>
            <a:endParaRPr lang="en-IN" sz="2667" b="1" dirty="0"/>
          </a:p>
        </p:txBody>
      </p:sp>
    </p:spTree>
    <p:extLst>
      <p:ext uri="{BB962C8B-B14F-4D97-AF65-F5344CB8AC3E}">
        <p14:creationId xmlns:p14="http://schemas.microsoft.com/office/powerpoint/2010/main" val="380036567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4AF9F-D655-450C-0F23-D522DBD0F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667" dirty="0"/>
              <a:t>Time in major MPI routines </a:t>
            </a:r>
            <a:endParaRPr lang="en-IN" sz="2667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869391C-5510-4918-443E-B879C09E2C20}"/>
              </a:ext>
            </a:extLst>
          </p:cNvPr>
          <p:cNvGraphicFramePr>
            <a:graphicFrameLocks noGrp="1"/>
          </p:cNvGraphicFramePr>
          <p:nvPr/>
        </p:nvGraphicFramePr>
        <p:xfrm>
          <a:off x="609600" y="1991360"/>
          <a:ext cx="11135360" cy="44399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7072">
                  <a:extLst>
                    <a:ext uri="{9D8B030D-6E8A-4147-A177-3AD203B41FA5}">
                      <a16:colId xmlns:a16="http://schemas.microsoft.com/office/drawing/2014/main" val="1356987954"/>
                    </a:ext>
                  </a:extLst>
                </a:gridCol>
                <a:gridCol w="2227072">
                  <a:extLst>
                    <a:ext uri="{9D8B030D-6E8A-4147-A177-3AD203B41FA5}">
                      <a16:colId xmlns:a16="http://schemas.microsoft.com/office/drawing/2014/main" val="2379691617"/>
                    </a:ext>
                  </a:extLst>
                </a:gridCol>
                <a:gridCol w="2227072">
                  <a:extLst>
                    <a:ext uri="{9D8B030D-6E8A-4147-A177-3AD203B41FA5}">
                      <a16:colId xmlns:a16="http://schemas.microsoft.com/office/drawing/2014/main" val="230110681"/>
                    </a:ext>
                  </a:extLst>
                </a:gridCol>
                <a:gridCol w="2227072">
                  <a:extLst>
                    <a:ext uri="{9D8B030D-6E8A-4147-A177-3AD203B41FA5}">
                      <a16:colId xmlns:a16="http://schemas.microsoft.com/office/drawing/2014/main" val="1048652098"/>
                    </a:ext>
                  </a:extLst>
                </a:gridCol>
                <a:gridCol w="2227072">
                  <a:extLst>
                    <a:ext uri="{9D8B030D-6E8A-4147-A177-3AD203B41FA5}">
                      <a16:colId xmlns:a16="http://schemas.microsoft.com/office/drawing/2014/main" val="1261674793"/>
                    </a:ext>
                  </a:extLst>
                </a:gridCol>
              </a:tblGrid>
              <a:tr h="554989">
                <a:tc>
                  <a:txBody>
                    <a:bodyPr/>
                    <a:lstStyle/>
                    <a:p>
                      <a:pPr algn="l" fontAlgn="ctr"/>
                      <a:r>
                        <a:rPr lang="en-IN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Metric</a:t>
                      </a: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nl-NL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800×800 @ 25 ranks</a:t>
                      </a: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nl-NL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800×800 @ 64 ranks</a:t>
                      </a: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nl-NL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800×800 @ 100 ranks</a:t>
                      </a: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nl-NL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2000×2000 @ 100 ranks</a:t>
                      </a:r>
                    </a:p>
                  </a:txBody>
                  <a:tcPr marL="12700" marR="12700" marT="12700" marB="0" anchor="ctr"/>
                </a:tc>
                <a:extLst>
                  <a:ext uri="{0D108BD9-81ED-4DB2-BD59-A6C34878D82A}">
                    <a16:rowId xmlns:a16="http://schemas.microsoft.com/office/drawing/2014/main" val="1692587678"/>
                  </a:ext>
                </a:extLst>
              </a:tr>
              <a:tr h="554989">
                <a:tc>
                  <a:txBody>
                    <a:bodyPr/>
                    <a:lstStyle/>
                    <a:p>
                      <a:pPr algn="l" fontAlgn="ctr"/>
                      <a:r>
                        <a:rPr lang="en-IN" sz="15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MPI_Init</a:t>
                      </a:r>
                      <a:endParaRPr lang="en-IN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34.94 s (43%)</a:t>
                      </a: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125.00 s (51%)</a:t>
                      </a: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237.00 s (51%)</a:t>
                      </a: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238.59 s (13.9%)</a:t>
                      </a:r>
                    </a:p>
                  </a:txBody>
                  <a:tcPr marL="12700" marR="12700" marT="12700" marB="0" anchor="ctr"/>
                </a:tc>
                <a:extLst>
                  <a:ext uri="{0D108BD9-81ED-4DB2-BD59-A6C34878D82A}">
                    <a16:rowId xmlns:a16="http://schemas.microsoft.com/office/drawing/2014/main" val="2178937850"/>
                  </a:ext>
                </a:extLst>
              </a:tr>
              <a:tr h="554989">
                <a:tc>
                  <a:txBody>
                    <a:bodyPr/>
                    <a:lstStyle/>
                    <a:p>
                      <a:pPr algn="l" fontAlgn="ctr"/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MPI_Recv</a:t>
                      </a: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21.81 s (27%)</a:t>
                      </a: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57.85 s (24%)</a:t>
                      </a: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103.47 s (22%)</a:t>
                      </a: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666.38 s (38.8%)</a:t>
                      </a:r>
                    </a:p>
                  </a:txBody>
                  <a:tcPr marL="12700" marR="12700" marT="12700" marB="0" anchor="ctr"/>
                </a:tc>
                <a:extLst>
                  <a:ext uri="{0D108BD9-81ED-4DB2-BD59-A6C34878D82A}">
                    <a16:rowId xmlns:a16="http://schemas.microsoft.com/office/drawing/2014/main" val="1434337082"/>
                  </a:ext>
                </a:extLst>
              </a:tr>
              <a:tr h="554989">
                <a:tc>
                  <a:txBody>
                    <a:bodyPr/>
                    <a:lstStyle/>
                    <a:p>
                      <a:pPr algn="l" fontAlgn="ctr"/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MPI_Sendrecv_replace</a:t>
                      </a: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11.66 s (14%)</a:t>
                      </a: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38.92 s (16%)</a:t>
                      </a: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90.22 s (19%)</a:t>
                      </a: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589.80 s (34.4%)</a:t>
                      </a:r>
                    </a:p>
                  </a:txBody>
                  <a:tcPr marL="12700" marR="12700" marT="12700" marB="0" anchor="ctr"/>
                </a:tc>
                <a:extLst>
                  <a:ext uri="{0D108BD9-81ED-4DB2-BD59-A6C34878D82A}">
                    <a16:rowId xmlns:a16="http://schemas.microsoft.com/office/drawing/2014/main" val="2382320951"/>
                  </a:ext>
                </a:extLst>
              </a:tr>
              <a:tr h="554989">
                <a:tc>
                  <a:txBody>
                    <a:bodyPr/>
                    <a:lstStyle/>
                    <a:p>
                      <a:pPr algn="l" fontAlgn="ctr"/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MPI_Bcast</a:t>
                      </a: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7.83 s (10%)</a:t>
                      </a: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14.50 s (6%)</a:t>
                      </a: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24.30 s (5%)</a:t>
                      </a: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152.32 s (8.9%)</a:t>
                      </a:r>
                    </a:p>
                  </a:txBody>
                  <a:tcPr marL="12700" marR="12700" marT="12700" marB="0" anchor="ctr"/>
                </a:tc>
                <a:extLst>
                  <a:ext uri="{0D108BD9-81ED-4DB2-BD59-A6C34878D82A}">
                    <a16:rowId xmlns:a16="http://schemas.microsoft.com/office/drawing/2014/main" val="3290355695"/>
                  </a:ext>
                </a:extLst>
              </a:tr>
              <a:tr h="554989">
                <a:tc>
                  <a:txBody>
                    <a:bodyPr/>
                    <a:lstStyle/>
                    <a:p>
                      <a:pPr algn="l" fontAlgn="ctr"/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MPI_Send</a:t>
                      </a: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1.60 s (2%)</a:t>
                      </a: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3.77 s (2%)</a:t>
                      </a: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4.66 s (1%)</a:t>
                      </a: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19.69 s (1.1%)</a:t>
                      </a:r>
                    </a:p>
                  </a:txBody>
                  <a:tcPr marL="12700" marR="12700" marT="12700" marB="0" anchor="ctr"/>
                </a:tc>
                <a:extLst>
                  <a:ext uri="{0D108BD9-81ED-4DB2-BD59-A6C34878D82A}">
                    <a16:rowId xmlns:a16="http://schemas.microsoft.com/office/drawing/2014/main" val="3351642834"/>
                  </a:ext>
                </a:extLst>
              </a:tr>
              <a:tr h="554989">
                <a:tc>
                  <a:txBody>
                    <a:bodyPr/>
                    <a:lstStyle/>
                    <a:p>
                      <a:pPr algn="l" fontAlgn="ctr"/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MPI_Finalize</a:t>
                      </a: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5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&lt; 0.3 s</a:t>
                      </a: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5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&lt; 0.2 s</a:t>
                      </a: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5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&lt; 0.4 s</a:t>
                      </a: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7.19 s (0.4%)</a:t>
                      </a:r>
                    </a:p>
                  </a:txBody>
                  <a:tcPr marL="12700" marR="12700" marT="12700" marB="0" anchor="ctr"/>
                </a:tc>
                <a:extLst>
                  <a:ext uri="{0D108BD9-81ED-4DB2-BD59-A6C34878D82A}">
                    <a16:rowId xmlns:a16="http://schemas.microsoft.com/office/drawing/2014/main" val="1349520940"/>
                  </a:ext>
                </a:extLst>
              </a:tr>
              <a:tr h="554989">
                <a:tc>
                  <a:txBody>
                    <a:bodyPr/>
                    <a:lstStyle/>
                    <a:p>
                      <a:pPr algn="l" fontAlgn="ctr"/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Other MPI calls†</a:t>
                      </a: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5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&lt; 0.3 s each</a:t>
                      </a: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5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&lt; 0.2 s each</a:t>
                      </a: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5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&lt; 0.4 s each</a:t>
                      </a: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5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&lt; 0.4 s each</a:t>
                      </a:r>
                    </a:p>
                  </a:txBody>
                  <a:tcPr marL="12700" marR="12700" marT="12700" marB="0" anchor="ctr"/>
                </a:tc>
                <a:extLst>
                  <a:ext uri="{0D108BD9-81ED-4DB2-BD59-A6C34878D82A}">
                    <a16:rowId xmlns:a16="http://schemas.microsoft.com/office/drawing/2014/main" val="39942012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371954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525EAE-FB01-AED0-4CBF-27C237BF2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A6F30-280C-F7C9-87B0-654F81A16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667" dirty="0"/>
              <a:t>MPI call counts 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2050D5A-ECAC-B96B-4616-DE27BA5076D4}"/>
              </a:ext>
            </a:extLst>
          </p:cNvPr>
          <p:cNvGraphicFramePr>
            <a:graphicFrameLocks noGrp="1"/>
          </p:cNvGraphicFramePr>
          <p:nvPr/>
        </p:nvGraphicFramePr>
        <p:xfrm>
          <a:off x="609600" y="1945641"/>
          <a:ext cx="10058400" cy="33274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1356987954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379691617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3011068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1048652098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1261674793"/>
                    </a:ext>
                  </a:extLst>
                </a:gridCol>
              </a:tblGrid>
              <a:tr h="759360">
                <a:tc>
                  <a:txBody>
                    <a:bodyPr/>
                    <a:lstStyle/>
                    <a:p>
                      <a:pPr algn="l" fontAlgn="ctr"/>
                      <a:r>
                        <a:rPr lang="en-IN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Metric</a:t>
                      </a: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nl-NL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800×800 @ 25 ranks</a:t>
                      </a: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nl-NL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800×800 @ 64 ranks</a:t>
                      </a: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nl-NL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800×800 @ 100 ranks</a:t>
                      </a: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nl-NL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2000×2000 @ 100 ranks</a:t>
                      </a:r>
                    </a:p>
                  </a:txBody>
                  <a:tcPr marL="12700" marR="12700" marT="12700" marB="0" anchor="ctr"/>
                </a:tc>
                <a:extLst>
                  <a:ext uri="{0D108BD9-81ED-4DB2-BD59-A6C34878D82A}">
                    <a16:rowId xmlns:a16="http://schemas.microsoft.com/office/drawing/2014/main" val="1692587678"/>
                  </a:ext>
                </a:extLst>
              </a:tr>
              <a:tr h="759360">
                <a:tc>
                  <a:txBody>
                    <a:bodyPr/>
                    <a:lstStyle/>
                    <a:p>
                      <a:pPr algn="l" fontAlgn="ctr"/>
                      <a:r>
                        <a:rPr lang="en-IN" sz="15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MPI_Send</a:t>
                      </a:r>
                      <a:r>
                        <a:rPr lang="en-IN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/ </a:t>
                      </a:r>
                      <a:r>
                        <a:rPr lang="en-IN" sz="15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MPI_Recv</a:t>
                      </a:r>
                      <a:r>
                        <a:rPr lang="en-IN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(each)</a:t>
                      </a: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1.23 M</a:t>
                      </a: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1.27 M</a:t>
                      </a: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1.28 M</a:t>
                      </a: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7.94 M</a:t>
                      </a:r>
                    </a:p>
                  </a:txBody>
                  <a:tcPr marL="12700" marR="12700" marT="12700" marB="0" anchor="ctr"/>
                </a:tc>
                <a:extLst>
                  <a:ext uri="{0D108BD9-81ED-4DB2-BD59-A6C34878D82A}">
                    <a16:rowId xmlns:a16="http://schemas.microsoft.com/office/drawing/2014/main" val="2178937850"/>
                  </a:ext>
                </a:extLst>
              </a:tr>
              <a:tr h="104932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MPI_Bcast / MPI_Sendrecv_replace (each)</a:t>
                      </a: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 k</a:t>
                      </a: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51 k</a:t>
                      </a: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 k</a:t>
                      </a: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200 k</a:t>
                      </a:r>
                    </a:p>
                  </a:txBody>
                  <a:tcPr marL="12700" marR="12700" marT="12700" marB="0" anchor="ctr"/>
                </a:tc>
                <a:extLst>
                  <a:ext uri="{0D108BD9-81ED-4DB2-BD59-A6C34878D82A}">
                    <a16:rowId xmlns:a16="http://schemas.microsoft.com/office/drawing/2014/main" val="1434337082"/>
                  </a:ext>
                </a:extLst>
              </a:tr>
              <a:tr h="75936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Topology helper calls (total </a:t>
                      </a:r>
                      <a:r>
                        <a:rPr lang="en-US" sz="15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MPI_Cart</a:t>
                      </a:r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_*)</a:t>
                      </a: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224</a:t>
                      </a: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767</a:t>
                      </a: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1 399</a:t>
                      </a: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1 499</a:t>
                      </a:r>
                    </a:p>
                  </a:txBody>
                  <a:tcPr marL="12700" marR="12700" marT="12700" marB="0" anchor="ctr"/>
                </a:tc>
                <a:extLst>
                  <a:ext uri="{0D108BD9-81ED-4DB2-BD59-A6C34878D82A}">
                    <a16:rowId xmlns:a16="http://schemas.microsoft.com/office/drawing/2014/main" val="23823209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938111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C9DDC-B3EE-BFA9-492D-29F223A78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667" dirty="0"/>
              <a:t>Observation</a:t>
            </a:r>
            <a:endParaRPr lang="en-IN" sz="2667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09430BB-E70A-CD7C-62AF-831778065D18}"/>
              </a:ext>
            </a:extLst>
          </p:cNvPr>
          <p:cNvGraphicFramePr>
            <a:graphicFrameLocks noGrp="1"/>
          </p:cNvGraphicFramePr>
          <p:nvPr/>
        </p:nvGraphicFramePr>
        <p:xfrm>
          <a:off x="609600" y="1292436"/>
          <a:ext cx="10972800" cy="487680"/>
        </p:xfrm>
        <a:graphic>
          <a:graphicData uri="http://schemas.openxmlformats.org/drawingml/2006/table">
            <a:tbl>
              <a:tblPr/>
              <a:tblGrid>
                <a:gridCol w="10972800">
                  <a:extLst>
                    <a:ext uri="{9D8B030D-6E8A-4147-A177-3AD203B41FA5}">
                      <a16:colId xmlns:a16="http://schemas.microsoft.com/office/drawing/2014/main" val="4206735395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2400" b="1" dirty="0"/>
                        <a:t>Memory efficiency</a:t>
                      </a:r>
                      <a:endParaRPr lang="en-IN" sz="2400" dirty="0"/>
                    </a:p>
                  </a:txBody>
                  <a:tcPr marL="121920" marR="121920" marT="60960" marB="60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654778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3ACB293-AF4A-49FF-E8B4-1642A0FADD0E}"/>
              </a:ext>
            </a:extLst>
          </p:cNvPr>
          <p:cNvSpPr txBox="1"/>
          <p:nvPr/>
        </p:nvSpPr>
        <p:spPr>
          <a:xfrm>
            <a:off x="1158240" y="1797633"/>
            <a:ext cx="107391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Message sent per matrix element is modest </a:t>
            </a:r>
            <a:r>
              <a:rPr lang="en-IN" sz="2400" dirty="0"/>
              <a:t>≈ 0.10 byte per element at 800², 0.18 byte at 2000²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A01E86A-B865-D36B-7897-927D31EE1403}"/>
              </a:ext>
            </a:extLst>
          </p:cNvPr>
          <p:cNvGraphicFramePr>
            <a:graphicFrameLocks noGrp="1"/>
          </p:cNvGraphicFramePr>
          <p:nvPr/>
        </p:nvGraphicFramePr>
        <p:xfrm>
          <a:off x="2214880" y="2659407"/>
          <a:ext cx="10972800" cy="487680"/>
        </p:xfrm>
        <a:graphic>
          <a:graphicData uri="http://schemas.openxmlformats.org/drawingml/2006/table">
            <a:tbl>
              <a:tblPr/>
              <a:tblGrid>
                <a:gridCol w="10972800">
                  <a:extLst>
                    <a:ext uri="{9D8B030D-6E8A-4147-A177-3AD203B41FA5}">
                      <a16:colId xmlns:a16="http://schemas.microsoft.com/office/drawing/2014/main" val="2959084163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r>
                        <a:rPr lang="en-US" sz="2400" dirty="0"/>
                        <a:t>• Trouble is </a:t>
                      </a:r>
                      <a:r>
                        <a:rPr lang="en-US" sz="2400" b="1" dirty="0"/>
                        <a:t>too many tiny messages</a:t>
                      </a:r>
                      <a:r>
                        <a:rPr lang="en-US" sz="2400" dirty="0"/>
                        <a:t> (millions of them).</a:t>
                      </a:r>
                    </a:p>
                  </a:txBody>
                  <a:tcPr marL="121920" marR="121920" marT="60960" marB="60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8607092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40EFE53A-43DC-1E14-D274-C83E876F8140}"/>
              </a:ext>
            </a:extLst>
          </p:cNvPr>
          <p:cNvGraphicFramePr>
            <a:graphicFrameLocks noGrp="1"/>
          </p:cNvGraphicFramePr>
          <p:nvPr/>
        </p:nvGraphicFramePr>
        <p:xfrm>
          <a:off x="609600" y="3157380"/>
          <a:ext cx="10972800" cy="487680"/>
        </p:xfrm>
        <a:graphic>
          <a:graphicData uri="http://schemas.openxmlformats.org/drawingml/2006/table">
            <a:tbl>
              <a:tblPr/>
              <a:tblGrid>
                <a:gridCol w="10972800">
                  <a:extLst>
                    <a:ext uri="{9D8B030D-6E8A-4147-A177-3AD203B41FA5}">
                      <a16:colId xmlns:a16="http://schemas.microsoft.com/office/drawing/2014/main" val="307417214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2400" b="1" dirty="0"/>
                        <a:t>Main bottlenecks</a:t>
                      </a:r>
                      <a:endParaRPr lang="en-IN" sz="2400" dirty="0"/>
                    </a:p>
                  </a:txBody>
                  <a:tcPr marL="121920" marR="121920" marT="60960" marB="60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8616018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DD231040-6AEC-9B68-F8F9-BC055A40A470}"/>
              </a:ext>
            </a:extLst>
          </p:cNvPr>
          <p:cNvSpPr txBox="1"/>
          <p:nvPr/>
        </p:nvSpPr>
        <p:spPr>
          <a:xfrm>
            <a:off x="1158240" y="3712146"/>
            <a:ext cx="1042416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121917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/>
              <a:t>Blocking receives (</a:t>
            </a:r>
            <a:r>
              <a:rPr lang="en-US" altLang="en-US" sz="2400" dirty="0" err="1"/>
              <a:t>MPI_Recv</a:t>
            </a:r>
            <a:r>
              <a:rPr lang="en-US" altLang="en-US" sz="2400" dirty="0"/>
              <a:t>) and the swap call (</a:t>
            </a:r>
            <a:r>
              <a:rPr lang="en-US" altLang="en-US" sz="2400" dirty="0" err="1"/>
              <a:t>MPI_Sendrecv_replace</a:t>
            </a:r>
            <a:r>
              <a:rPr lang="en-US" altLang="en-US" sz="2400" dirty="0"/>
              <a:t>) consume &gt;60 % of the time at large scales.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F60A62C-53FD-CFB3-21A0-2D8E82B0B005}"/>
              </a:ext>
            </a:extLst>
          </p:cNvPr>
          <p:cNvSpPr txBox="1"/>
          <p:nvPr/>
        </p:nvSpPr>
        <p:spPr>
          <a:xfrm>
            <a:off x="609600" y="4573921"/>
            <a:ext cx="65938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80990" indent="-380990">
              <a:buFont typeface="Arial" panose="020B0604020202020204" pitchFamily="34" charset="0"/>
              <a:buChar char="•"/>
            </a:pPr>
            <a:r>
              <a:rPr lang="en-IN" sz="2400" b="1" dirty="0"/>
              <a:t>Latency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21D9A-B999-FCE7-9F51-265C067FB383}"/>
              </a:ext>
            </a:extLst>
          </p:cNvPr>
          <p:cNvSpPr txBox="1"/>
          <p:nvPr/>
        </p:nvSpPr>
        <p:spPr>
          <a:xfrm>
            <a:off x="1158240" y="5134677"/>
            <a:ext cx="86512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Millions of very small messages ⇒ </a:t>
            </a:r>
            <a:r>
              <a:rPr lang="en-US" sz="2400" b="1" dirty="0"/>
              <a:t>per-message latency</a:t>
            </a:r>
            <a:r>
              <a:rPr lang="en-US" sz="2400" dirty="0"/>
              <a:t> piles up.</a:t>
            </a:r>
            <a:br>
              <a:rPr lang="en-US" sz="2400" dirty="0"/>
            </a:b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87860764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7F95A-BA39-7DCA-BD7C-BAB2BAE45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361637"/>
            <a:ext cx="8361680" cy="753539"/>
          </a:xfrm>
        </p:spPr>
        <p:txBody>
          <a:bodyPr/>
          <a:lstStyle/>
          <a:p>
            <a:r>
              <a:rPr lang="en-US" sz="2667" dirty="0"/>
              <a:t>Issue with 4000 * 4000 Matrix 64 rank</a:t>
            </a:r>
            <a:endParaRPr lang="en-IN" sz="2667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A656FC-B52E-7C23-ACB9-C29B62CCE735}"/>
              </a:ext>
            </a:extLst>
          </p:cNvPr>
          <p:cNvSpPr txBox="1"/>
          <p:nvPr/>
        </p:nvSpPr>
        <p:spPr>
          <a:xfrm>
            <a:off x="7660640" y="5469585"/>
            <a:ext cx="49276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</a:rPr>
              <a:t>[Score-P] Increase SCOREP_TOTAL_MEMORY and try again.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4DA68C0-7433-5C32-CFF7-2CAB9487C9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366871"/>
            <a:ext cx="9805768" cy="85101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E805203-2F31-B762-E49C-CF8C16C76FE9}"/>
              </a:ext>
            </a:extLst>
          </p:cNvPr>
          <p:cNvSpPr txBox="1"/>
          <p:nvPr/>
        </p:nvSpPr>
        <p:spPr>
          <a:xfrm>
            <a:off x="457200" y="1237060"/>
            <a:ext cx="65938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80990" indent="-380990">
              <a:buFont typeface="Arial" panose="020B0604020202020204" pitchFamily="34" charset="0"/>
              <a:buChar char="•"/>
            </a:pPr>
            <a:r>
              <a:rPr lang="en-IN" sz="2400" b="1" dirty="0"/>
              <a:t>Scalability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5C3951-D3DA-59D7-17E8-208629A6C3E3}"/>
              </a:ext>
            </a:extLst>
          </p:cNvPr>
          <p:cNvSpPr txBox="1"/>
          <p:nvPr/>
        </p:nvSpPr>
        <p:spPr>
          <a:xfrm>
            <a:off x="1031240" y="1729501"/>
            <a:ext cx="1083564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For the 800×800 matrix, adding more than ~25 ranks </a:t>
            </a:r>
            <a:r>
              <a:rPr lang="en-US" sz="2400" b="1" dirty="0"/>
              <a:t>slows you down</a:t>
            </a:r>
            <a:r>
              <a:rPr lang="en-US" sz="2400" dirty="0"/>
              <a:t> (81 s → 244 s → 466 s).</a:t>
            </a:r>
            <a:br>
              <a:rPr lang="en-US" sz="2400" dirty="0"/>
            </a:br>
            <a:r>
              <a:rPr lang="en-US" sz="2400" dirty="0"/>
              <a:t> Start-up cost and message latency grow faster than the work shrinks.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70974767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BF29F-FBE3-4FFE-2675-077C6FB18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Calibri"/>
                <a:cs typeface="Calibri"/>
              </a:rPr>
              <a:t>Comparing All Algos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15C6B0-1AD7-5E19-DCD6-E86DB4DC1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05.02.2025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81923E-F9E4-3BEF-4BC7-61DE30AF9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7EE757-03CB-49A1-BD43-AE902812A82B}" type="slidenum">
              <a:rPr lang="de-DE" smtClean="0"/>
              <a:pPr>
                <a:defRPr/>
              </a:pPr>
              <a:t>51</a:t>
            </a:fld>
            <a:endParaRPr lang="de-DE"/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F608058A-41E4-6BC8-62C9-E19639065A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16870570"/>
              </p:ext>
            </p:extLst>
          </p:nvPr>
        </p:nvGraphicFramePr>
        <p:xfrm>
          <a:off x="1184623" y="1201324"/>
          <a:ext cx="9448800" cy="533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57606647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F0EA9-90C0-4BFA-1D86-83C62CE88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+mj-lt"/>
                <a:cs typeface="+mj-lt"/>
              </a:rPr>
              <a:t>Runtime Results Overview</a:t>
            </a:r>
            <a:endParaRPr lang="en-GB">
              <a:ea typeface="+mj-lt"/>
              <a:cs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9A5CD0-BA21-8065-AB40-0700330D74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sz="2000" b="1" dirty="0"/>
              <a:t> Runtime Results</a:t>
            </a:r>
            <a:endParaRPr lang="en-GB" sz="2000" dirty="0">
              <a:ea typeface="Calibri"/>
              <a:cs typeface="Calibri"/>
            </a:endParaRPr>
          </a:p>
          <a:p>
            <a:r>
              <a:rPr lang="en-GB" sz="2000" b="1" dirty="0">
                <a:ea typeface="+mn-lt"/>
                <a:cs typeface="+mn-lt"/>
              </a:rPr>
              <a:t>Row-wise Multiplication</a:t>
            </a:r>
            <a:r>
              <a:rPr lang="en-GB" sz="2000" dirty="0">
                <a:ea typeface="+mn-lt"/>
                <a:cs typeface="+mn-lt"/>
              </a:rPr>
              <a:t> → performs moderately well at small matrix sizes but becomes extremely slow for larger matrices (e.g., 7632s for 6000×6000).</a:t>
            </a:r>
            <a:endParaRPr lang="en-GB" sz="2000" dirty="0">
              <a:ea typeface="Calibri"/>
              <a:cs typeface="Calibri"/>
            </a:endParaRPr>
          </a:p>
          <a:p>
            <a:r>
              <a:rPr lang="en-GB" sz="2000" b="1" dirty="0">
                <a:ea typeface="+mn-lt"/>
                <a:cs typeface="+mn-lt"/>
              </a:rPr>
              <a:t>Cannon’s Algorithm</a:t>
            </a:r>
            <a:r>
              <a:rPr lang="en-GB" sz="2000" dirty="0">
                <a:ea typeface="+mn-lt"/>
                <a:cs typeface="+mn-lt"/>
              </a:rPr>
              <a:t> → good for smaller matrices and certain process counts (e.g., 41s for 800×800 with 100–125 processes) but scales poorly for huge matrices.</a:t>
            </a:r>
            <a:endParaRPr lang="en-GB" sz="2000" dirty="0">
              <a:ea typeface="Calibri"/>
              <a:cs typeface="Calibri"/>
            </a:endParaRPr>
          </a:p>
          <a:p>
            <a:r>
              <a:rPr lang="en-GB" sz="2000" b="1" dirty="0">
                <a:ea typeface="+mn-lt"/>
                <a:cs typeface="+mn-lt"/>
              </a:rPr>
              <a:t>DNS Algorithm</a:t>
            </a:r>
            <a:r>
              <a:rPr lang="en-GB" sz="2000" dirty="0">
                <a:ea typeface="+mn-lt"/>
                <a:cs typeface="+mn-lt"/>
              </a:rPr>
              <a:t> → efficient for small/medium sizes (e.g., 46s for 800×800) but suffers heavy overhead for very large sizes (e.g., 14800s for 8000×8000).</a:t>
            </a:r>
            <a:br>
              <a:rPr lang="en-US" dirty="0"/>
            </a:br>
            <a:endParaRPr lang="en-US" sz="2000">
              <a:ea typeface="Calibri"/>
              <a:cs typeface="Calibri"/>
            </a:endParaRPr>
          </a:p>
          <a:p>
            <a:pPr marL="0" indent="0">
              <a:buNone/>
            </a:pPr>
            <a:br>
              <a:rPr lang="en-US" dirty="0"/>
            </a:br>
            <a:endParaRPr lang="en-US" sz="2000">
              <a:ea typeface="Calibri"/>
              <a:cs typeface="Calibri"/>
            </a:endParaRPr>
          </a:p>
          <a:p>
            <a:endParaRPr lang="en-GB" sz="2000" dirty="0">
              <a:ea typeface="Calibri"/>
              <a:cs typeface="Calibri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8584C8-49D9-F1C8-1C9C-03D472EE06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05.02.2025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727D56-058C-3694-ED31-D95120F85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7EE757-03CB-49A1-BD43-AE902812A82B}" type="slidenum">
              <a:rPr lang="de-DE" smtClean="0"/>
              <a:pPr>
                <a:defRPr/>
              </a:pPr>
              <a:t>52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2181109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51904-780F-478D-6535-AE4EF7D6E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Calibri"/>
                <a:cs typeface="Calibri"/>
              </a:rPr>
              <a:t>Technical Analysis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8E67CA-D35E-0E23-385E-8EDC0E7E34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95817"/>
            <a:ext cx="10972800" cy="4525433"/>
          </a:xfrm>
        </p:spPr>
        <p:txBody>
          <a:bodyPr/>
          <a:lstStyle/>
          <a:p>
            <a:pPr marL="228600" indent="-228600">
              <a:buFont typeface=""/>
              <a:buChar char="•"/>
            </a:pPr>
            <a:r>
              <a:rPr lang="en-GB" b="1" dirty="0"/>
              <a:t>Overhead &amp; Communication</a:t>
            </a:r>
            <a:endParaRPr lang="en-GB" b="1" dirty="0">
              <a:ea typeface="Calibri"/>
              <a:cs typeface="Calibri"/>
            </a:endParaRPr>
          </a:p>
          <a:p>
            <a:pPr marL="628650" lvl="2" indent="-228600">
              <a:buFont typeface="Wingdings"/>
              <a:buChar char="§"/>
            </a:pPr>
            <a:r>
              <a:rPr lang="en-GB" b="1" dirty="0"/>
              <a:t>Row-wise:</a:t>
            </a:r>
            <a:r>
              <a:rPr lang="en-GB" dirty="0"/>
              <a:t> Simple but high communication overhead &amp; waiting states (</a:t>
            </a:r>
            <a:r>
              <a:rPr lang="en-GB" err="1"/>
              <a:t>LateReceiver</a:t>
            </a:r>
            <a:r>
              <a:rPr lang="en-GB" dirty="0"/>
              <a:t>).</a:t>
            </a:r>
            <a:endParaRPr lang="en-GB" dirty="0">
              <a:ea typeface="Calibri"/>
              <a:cs typeface="Calibri"/>
            </a:endParaRPr>
          </a:p>
          <a:p>
            <a:pPr marL="628650" lvl="2">
              <a:buFont typeface="Wingdings"/>
              <a:buChar char="§"/>
            </a:pPr>
            <a:r>
              <a:rPr lang="en-GB" b="1" dirty="0">
                <a:ea typeface="Calibri"/>
                <a:cs typeface="Calibri"/>
              </a:rPr>
              <a:t>Fox:</a:t>
            </a:r>
            <a:r>
              <a:rPr lang="en-GB" dirty="0">
                <a:ea typeface="Calibri"/>
                <a:cs typeface="Calibri"/>
              </a:rPr>
              <a:t> Balanced block communication, fewer waiting states.</a:t>
            </a:r>
            <a:endParaRPr lang="en-GB">
              <a:ea typeface="Calibri"/>
              <a:cs typeface="Calibri"/>
            </a:endParaRPr>
          </a:p>
          <a:p>
            <a:pPr marL="628650" lvl="2" indent="-228600">
              <a:buFont typeface="Wingdings"/>
              <a:buChar char="§"/>
            </a:pPr>
            <a:r>
              <a:rPr lang="en-GB" b="1" dirty="0"/>
              <a:t>Cannon:</a:t>
            </a:r>
            <a:r>
              <a:rPr lang="en-GB" dirty="0"/>
              <a:t> Needs initial skewing → setup overhead; best with square grids.</a:t>
            </a:r>
            <a:endParaRPr lang="en-GB">
              <a:ea typeface="Calibri"/>
              <a:cs typeface="Calibri"/>
            </a:endParaRPr>
          </a:p>
          <a:p>
            <a:pPr marL="628650" lvl="2" indent="-228600">
              <a:buFont typeface="Wingdings"/>
              <a:buChar char="§"/>
            </a:pPr>
            <a:r>
              <a:rPr lang="en-GB" b="1" dirty="0"/>
              <a:t>DNS:</a:t>
            </a:r>
            <a:r>
              <a:rPr lang="en-GB" dirty="0"/>
              <a:t> Uses 3D grid → parallel but high latency &amp; memory overhead.</a:t>
            </a:r>
            <a:endParaRPr lang="en-GB">
              <a:ea typeface="Calibri"/>
              <a:cs typeface="Calibri"/>
            </a:endParaRPr>
          </a:p>
          <a:p>
            <a:pPr marL="228600" indent="-228600">
              <a:buFont typeface=""/>
              <a:buChar char="•"/>
            </a:pPr>
            <a:r>
              <a:rPr lang="en-GB" b="1" dirty="0"/>
              <a:t>Scalability &amp; Memory Efficiency</a:t>
            </a:r>
            <a:endParaRPr lang="en-GB" b="1" dirty="0">
              <a:ea typeface="Calibri"/>
              <a:cs typeface="Calibri"/>
            </a:endParaRPr>
          </a:p>
          <a:p>
            <a:pPr marL="628650" lvl="2" indent="-228600">
              <a:buFont typeface="Wingdings"/>
              <a:buChar char="§"/>
            </a:pPr>
            <a:r>
              <a:rPr lang="en-GB" b="1" dirty="0"/>
              <a:t>Row-wise:</a:t>
            </a:r>
            <a:r>
              <a:rPr lang="en-GB" dirty="0"/>
              <a:t> Poor scalability, best memory use.</a:t>
            </a:r>
            <a:endParaRPr lang="en-GB">
              <a:ea typeface="Calibri"/>
              <a:cs typeface="Calibri"/>
            </a:endParaRPr>
          </a:p>
          <a:p>
            <a:pPr marL="628650" lvl="2" indent="-228600">
              <a:buFont typeface="Wingdings"/>
              <a:buChar char="§"/>
            </a:pPr>
            <a:r>
              <a:rPr lang="en-GB" b="1" dirty="0"/>
              <a:t>Fox:</a:t>
            </a:r>
            <a:r>
              <a:rPr lang="en-GB" dirty="0"/>
              <a:t> Scales well, memory efficient.</a:t>
            </a:r>
            <a:endParaRPr lang="en-GB">
              <a:ea typeface="Calibri"/>
              <a:cs typeface="Calibri"/>
            </a:endParaRPr>
          </a:p>
          <a:p>
            <a:pPr marL="628650" lvl="2" indent="-228600">
              <a:buFont typeface="Wingdings"/>
              <a:buChar char="§"/>
            </a:pPr>
            <a:r>
              <a:rPr lang="en-GB" b="1" dirty="0"/>
              <a:t>Cannon:</a:t>
            </a:r>
            <a:r>
              <a:rPr lang="en-GB" dirty="0"/>
              <a:t> Decent scaling for perfect grids, slight extra memory for skewing buffers.</a:t>
            </a:r>
            <a:endParaRPr lang="en-GB">
              <a:ea typeface="Calibri"/>
              <a:cs typeface="Calibri"/>
            </a:endParaRPr>
          </a:p>
          <a:p>
            <a:pPr marL="628650" lvl="2" indent="-228600">
              <a:buFont typeface="Wingdings"/>
              <a:buChar char="§"/>
            </a:pPr>
            <a:r>
              <a:rPr lang="en-GB" b="1" dirty="0"/>
              <a:t>DNS:</a:t>
            </a:r>
            <a:r>
              <a:rPr lang="en-GB" dirty="0"/>
              <a:t> High parallelism but worst memory efficiency.</a:t>
            </a:r>
            <a:endParaRPr lang="en-GB">
              <a:ea typeface="Calibri"/>
              <a:cs typeface="Calibri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39782E-FD66-C0E7-D824-51CF6CD9A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05.02.2025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CA87F6-E690-257A-5575-CBFD65359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7EE757-03CB-49A1-BD43-AE902812A82B}" type="slidenum">
              <a:rPr lang="de-DE" smtClean="0"/>
              <a:pPr>
                <a:defRPr/>
              </a:pPr>
              <a:t>53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9910351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6571F-4C29-CA93-813E-03EACDB257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Calibri"/>
                <a:cs typeface="Calibri"/>
              </a:rPr>
              <a:t>Conclusions &amp; Recommendations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115935-9509-13E4-1797-E3F08273E8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1" y="1495817"/>
            <a:ext cx="10972800" cy="4525433"/>
          </a:xfrm>
        </p:spPr>
        <p:txBody>
          <a:bodyPr/>
          <a:lstStyle/>
          <a:p>
            <a:r>
              <a:rPr lang="en-GB" sz="2400" b="1" dirty="0">
                <a:ea typeface="+mn-lt"/>
                <a:cs typeface="+mn-lt"/>
              </a:rPr>
              <a:t>Algorithm Suitability</a:t>
            </a:r>
            <a:endParaRPr lang="en-GB" sz="2400" dirty="0"/>
          </a:p>
          <a:p>
            <a:pPr lvl="1"/>
            <a:r>
              <a:rPr lang="en-GB" sz="2000" dirty="0">
                <a:ea typeface="+mn-lt"/>
                <a:cs typeface="+mn-lt"/>
              </a:rPr>
              <a:t>Small-medium matrices &amp; few processes → Cannon or Row-wise.</a:t>
            </a:r>
            <a:endParaRPr lang="en-GB" sz="2000">
              <a:ea typeface="Calibri"/>
              <a:cs typeface="Calibri"/>
            </a:endParaRPr>
          </a:p>
          <a:p>
            <a:pPr lvl="1"/>
            <a:r>
              <a:rPr lang="en-GB" sz="2000" dirty="0">
                <a:ea typeface="+mn-lt"/>
                <a:cs typeface="+mn-lt"/>
              </a:rPr>
              <a:t>Medium-large matrices &amp; square grids → Fox (best choice).</a:t>
            </a:r>
            <a:endParaRPr lang="en-GB" sz="2000">
              <a:ea typeface="Calibri"/>
              <a:cs typeface="Calibri"/>
            </a:endParaRPr>
          </a:p>
          <a:p>
            <a:pPr lvl="1"/>
            <a:r>
              <a:rPr lang="en-GB" sz="2000" dirty="0">
                <a:ea typeface="+mn-lt"/>
                <a:cs typeface="+mn-lt"/>
              </a:rPr>
              <a:t>Extremely large matrices → DNS (only on high-end HPC).</a:t>
            </a:r>
            <a:endParaRPr lang="en-GB" sz="2000" dirty="0"/>
          </a:p>
          <a:p>
            <a:r>
              <a:rPr lang="en-GB" b="1" dirty="0">
                <a:ea typeface="+mn-lt"/>
                <a:cs typeface="+mn-lt"/>
              </a:rPr>
              <a:t>General Observations</a:t>
            </a:r>
            <a:endParaRPr lang="en-GB" dirty="0"/>
          </a:p>
          <a:p>
            <a:pPr lvl="1"/>
            <a:r>
              <a:rPr lang="en-GB" sz="2000" dirty="0">
                <a:ea typeface="+mn-lt"/>
                <a:cs typeface="+mn-lt"/>
              </a:rPr>
              <a:t>Row-wise → good for teaching, not scalable.</a:t>
            </a:r>
            <a:endParaRPr lang="en-GB" sz="2000">
              <a:ea typeface="Calibri"/>
              <a:cs typeface="Calibri"/>
            </a:endParaRPr>
          </a:p>
          <a:p>
            <a:pPr lvl="1"/>
            <a:r>
              <a:rPr lang="en-GB" sz="2000" dirty="0">
                <a:ea typeface="+mn-lt"/>
                <a:cs typeface="+mn-lt"/>
              </a:rPr>
              <a:t>Fox → best practical choice overall.</a:t>
            </a:r>
            <a:endParaRPr lang="en-GB" sz="2000">
              <a:ea typeface="Calibri"/>
              <a:cs typeface="Calibri"/>
            </a:endParaRPr>
          </a:p>
          <a:p>
            <a:pPr lvl="1"/>
            <a:r>
              <a:rPr lang="en-GB" sz="2000" dirty="0">
                <a:ea typeface="+mn-lt"/>
                <a:cs typeface="+mn-lt"/>
              </a:rPr>
              <a:t>Cannon → good for perfect grids but limited flexibility.</a:t>
            </a:r>
            <a:endParaRPr lang="en-GB" sz="2000">
              <a:ea typeface="Calibri"/>
              <a:cs typeface="Calibri"/>
            </a:endParaRPr>
          </a:p>
          <a:p>
            <a:pPr lvl="1"/>
            <a:r>
              <a:rPr lang="en-GB" sz="2000" dirty="0">
                <a:ea typeface="+mn-lt"/>
                <a:cs typeface="+mn-lt"/>
              </a:rPr>
              <a:t>DNS → heavy memory &amp; latency overhead.</a:t>
            </a:r>
            <a:endParaRPr lang="en-GB" sz="2000">
              <a:ea typeface="Calibri"/>
              <a:cs typeface="Calibri"/>
            </a:endParaRPr>
          </a:p>
          <a:p>
            <a:r>
              <a:rPr lang="en-GB" sz="2400" b="1" dirty="0">
                <a:ea typeface="+mn-lt"/>
                <a:cs typeface="+mn-lt"/>
              </a:rPr>
              <a:t>Cluster Dependency</a:t>
            </a:r>
            <a:endParaRPr lang="en-GB" sz="2400" dirty="0"/>
          </a:p>
          <a:p>
            <a:pPr lvl="1"/>
            <a:r>
              <a:rPr lang="en-GB" sz="2000" dirty="0">
                <a:ea typeface="+mn-lt"/>
                <a:cs typeface="+mn-lt"/>
              </a:rPr>
              <a:t>Performance depends on hardware topology, interconnect, MPI library.</a:t>
            </a:r>
            <a:endParaRPr lang="en-GB" sz="2000">
              <a:ea typeface="Calibri"/>
              <a:cs typeface="Calibri"/>
            </a:endParaRPr>
          </a:p>
          <a:p>
            <a:pPr lvl="1"/>
            <a:r>
              <a:rPr lang="en-GB" sz="2000" dirty="0">
                <a:ea typeface="+mn-lt"/>
                <a:cs typeface="+mn-lt"/>
              </a:rPr>
              <a:t>Always benchmark before choosing.</a:t>
            </a:r>
            <a:endParaRPr lang="en-GB" sz="2000" dirty="0"/>
          </a:p>
          <a:p>
            <a:endParaRPr lang="en-GB" dirty="0">
              <a:ea typeface="Calibri"/>
              <a:cs typeface="Calibri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41FC5-6D88-5EE6-0BD5-52401220F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05.02.2025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4001A4-8501-9092-7078-B06486B3A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7EE757-03CB-49A1-BD43-AE902812A82B}" type="slidenum">
              <a:rPr lang="de-DE" smtClean="0"/>
              <a:pPr>
                <a:defRPr/>
              </a:pPr>
              <a:t>54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96781661"/>
      </p:ext>
    </p:extLst>
  </p:cSld>
  <p:clrMapOvr>
    <a:masterClrMapping/>
  </p:clrMapOvr>
</p:sld>
</file>

<file path=ppt/theme/theme1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4103</Words>
  <Application>Microsoft Office PowerPoint</Application>
  <PresentationFormat>Widescreen</PresentationFormat>
  <Paragraphs>602</Paragraphs>
  <Slides>54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54</vt:i4>
      </vt:variant>
    </vt:vector>
  </HeadingPairs>
  <TitlesOfParts>
    <vt:vector size="68" baseType="lpstr">
      <vt:lpstr>Aptos</vt:lpstr>
      <vt:lpstr>Aptos Narrow</vt:lpstr>
      <vt:lpstr>Arial</vt:lpstr>
      <vt:lpstr>Arial Unicode MS</vt:lpstr>
      <vt:lpstr>Arial,Sans-Serif</vt:lpstr>
      <vt:lpstr>Calibri</vt:lpstr>
      <vt:lpstr>Century Gothic</vt:lpstr>
      <vt:lpstr>Consolas</vt:lpstr>
      <vt:lpstr>Courier New</vt:lpstr>
      <vt:lpstr>Segoe Sans</vt:lpstr>
      <vt:lpstr>Wingdings</vt:lpstr>
      <vt:lpstr>Wingdings 3</vt:lpstr>
      <vt:lpstr>Larissa</vt:lpstr>
      <vt:lpstr>1_Larissa</vt:lpstr>
      <vt:lpstr>Presentation of Matrix Multiplication Algorithms</vt:lpstr>
      <vt:lpstr>Implementation of Cannon´s Algorithm</vt:lpstr>
      <vt:lpstr>Cannon’s Algorithm – Task A</vt:lpstr>
      <vt:lpstr>Task B - Process Topology &amp; Data Distribution</vt:lpstr>
      <vt:lpstr>Computation, Result Collection &amp; Communication</vt:lpstr>
      <vt:lpstr>PowerPoint Presentation</vt:lpstr>
      <vt:lpstr>Communications displayed in EDU-MPI</vt:lpstr>
      <vt:lpstr>2D Visualization in EduMPI</vt:lpstr>
      <vt:lpstr>Rank to Rank Communication Matrix</vt:lpstr>
      <vt:lpstr>Performance Analysis </vt:lpstr>
      <vt:lpstr>Performance Observations</vt:lpstr>
      <vt:lpstr>Scalability &amp; Bottlenecks</vt:lpstr>
      <vt:lpstr>Total Runtime Comparison</vt:lpstr>
      <vt:lpstr>Matrix-Multiplication with DNS (Deckel, Nassimi, Sahni) Algorithm </vt:lpstr>
      <vt:lpstr>Step-by-Step Overview </vt:lpstr>
      <vt:lpstr>Steps 1 &amp; 2: Initialization &amp; Matrix Creation</vt:lpstr>
      <vt:lpstr>Step 3 : Matrices into Sub-matrices/blocks </vt:lpstr>
      <vt:lpstr>Difference between Task A and Task B </vt:lpstr>
      <vt:lpstr>Step 4: Sending blocks to processes </vt:lpstr>
      <vt:lpstr>Step 4: Sending blocks to processes </vt:lpstr>
      <vt:lpstr>Step 4: Sending blocks to processes </vt:lpstr>
      <vt:lpstr>Step 5: Creating Sub-communicators </vt:lpstr>
      <vt:lpstr>Step 6: Broadcasting blocks </vt:lpstr>
      <vt:lpstr>Step 6: Broadcasting blocks </vt:lpstr>
      <vt:lpstr>Step 7: Multiplying local blocks </vt:lpstr>
      <vt:lpstr>Step 8: Reducing blocks </vt:lpstr>
      <vt:lpstr>Step 8: Reducing blocks </vt:lpstr>
      <vt:lpstr>Steps 9 &amp; 10: Sending C blocks to root process </vt:lpstr>
      <vt:lpstr>Step 11: Finalize </vt:lpstr>
      <vt:lpstr>DNS VS Row Matrix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Why this code is not Scalable</vt:lpstr>
      <vt:lpstr>PowerPoint Presentation</vt:lpstr>
      <vt:lpstr>Time in major MPI routines </vt:lpstr>
      <vt:lpstr>MPI call counts </vt:lpstr>
      <vt:lpstr>Observation</vt:lpstr>
      <vt:lpstr>Issue with 4000 * 4000 Matrix 64 rank</vt:lpstr>
      <vt:lpstr>Comparing All Algos</vt:lpstr>
      <vt:lpstr>Runtime Results Overview</vt:lpstr>
      <vt:lpstr>Technical Analysis</vt:lpstr>
      <vt:lpstr>Conclusions &amp; Recommendations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Team 8 - ResQ-Com</dc:title>
  <dc:creator>user</dc:creator>
  <cp:lastModifiedBy>Subham Gaurav</cp:lastModifiedBy>
  <cp:revision>621</cp:revision>
  <dcterms:created xsi:type="dcterms:W3CDTF">2025-07-08T20:41:42Z</dcterms:created>
  <dcterms:modified xsi:type="dcterms:W3CDTF">2025-08-04T05:19:43Z</dcterms:modified>
</cp:coreProperties>
</file>